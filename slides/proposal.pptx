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Open with the framing. Do not read the slide.</a:t>
            </a:r>
          </a:p>
          <a:p/>
          <a:p>
            <a:r>
              <a:rPr sz="1200"/>
              <a:t>"Voice cloning is now good enough that a stranger can phone you in your daughter's voice. The</a:t>
            </a:r>
          </a:p>
          <a:p>
            <a:r>
              <a:rPr sz="1200"/>
              <a:t>detection research looks solved on paper. It is not. A published detector scores 1.23% error on</a:t>
            </a:r>
          </a:p>
          <a:p>
            <a:r>
              <a:rPr sz="1200"/>
              <a:t>its own benchmark and 37% on a different dataset, same model, same weights. We are building one</a:t>
            </a:r>
          </a:p>
          <a:p>
            <a:r>
              <a:rPr sz="1200"/>
              <a:t>that closes that gap, and we will prove it with cross-corpus evaluation rather than a single</a:t>
            </a:r>
          </a:p>
          <a:p>
            <a:r>
              <a:rPr sz="1200"/>
              <a:t>headline number."</a:t>
            </a:r>
          </a:p>
          <a:p/>
          <a:p>
            <a:r>
              <a:rPr sz="1200"/>
              <a:t>Deployment: an app on the callee's phone, listening during the call.</a:t>
            </a:r>
          </a:p>
          <a:p>
            <a:r>
              <a:rPr sz="1200"/>
              <a:t>Corpora: ASVspoof 2019 LA to train, 2021 LA for the channel, In-the-Wild for the corpus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Tell it as a story. Thirty seconds, no statistics. Pick one example and stay in it.</a:t>
            </a:r>
          </a:p>
          <a:p/>
          <a:p>
            <a:r>
              <a:rPr sz="1200"/>
              <a:t>"You get a call. It is your mother's voice and she is upset. Ninety seconds of her speaking in</a:t>
            </a:r>
          </a:p>
          <a:p>
            <a:r>
              <a:rPr sz="1200"/>
              <a:t>public is all the attacker needed. A zero-shot cloning model does the rest in minutes, on a</a:t>
            </a:r>
          </a:p>
          <a:p>
            <a:r>
              <a:rPr sz="1200"/>
              <a:t>laptop, with no expertise."</a:t>
            </a:r>
          </a:p>
          <a:p/>
          <a:p>
            <a:r>
              <a:rPr sz="1200"/>
              <a:t>Then the pivot: people cannot catch this. In a 472-person study listeners reached 72.8% accuracy</a:t>
            </a:r>
          </a:p>
          <a:p>
            <a:r>
              <a:rPr sz="1200"/>
              <a:t>on ASVspoof attacks where a machine reached 95.5%. arXiv:2107.09667. The human is the weaker</a:t>
            </a:r>
          </a:p>
          <a:p>
            <a:r>
              <a:rPr sz="1200"/>
              <a:t>detector, which is the whole justification for building the machine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Deliver this with confidence, as if you believe it. The reversal on the next slide lands harder</a:t>
            </a:r>
          </a:p>
          <a:p>
            <a:r>
              <a:rPr sz="1200"/>
              <a:t>if you sell this one first.</a:t>
            </a:r>
          </a:p>
          <a:p/>
          <a:p>
            <a:r>
              <a:rPr sz="1200"/>
              <a:t>Numbers: RawGAT-ST 1.23% EER, AASIST 0.71%. Four ASVspoof challenges since 2015, 54 teams in the</a:t>
            </a:r>
          </a:p>
          <a:p>
            <a:r>
              <a:rPr sz="1200"/>
              <a:t>2021 evaluation alone. Mueller et al. re-implemented twelve architectures under one protocol and</a:t>
            </a:r>
          </a:p>
          <a:p>
            <a:r>
              <a:rPr sz="1200"/>
              <a:t>raw-waveform models won consistently.</a:t>
            </a:r>
          </a:p>
          <a:p/>
          <a:p>
            <a:r>
              <a:rPr sz="1200"/>
              <a:t>Then the catch, slowly. Every one of those numbers is in-domain: train on ASVspoof, test on</a:t>
            </a:r>
          </a:p>
          <a:p>
            <a:r>
              <a:rPr sz="1200"/>
              <a:t>ASVspoof. Nobody is hiding it, that is just how the benchmark is built. What happens when you</a:t>
            </a:r>
          </a:p>
          <a:p>
            <a:r>
              <a:rPr sz="1200"/>
              <a:t>move off it is the next slide, and it is the reason this project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This is the slide the talk turns on. Take three minutes. Walk the bars top to bottom.</a:t>
            </a:r>
          </a:p>
          <a:p/>
          <a:p>
            <a:r>
              <a:rPr sz="1200"/>
              <a:t>Bar 1: RawGAT-ST, 1.23% EER on ASVspoof 2019 LA eval. The published number.</a:t>
            </a:r>
          </a:p>
          <a:p>
            <a:r>
              <a:rPr sz="1200"/>
              <a:t>Bar 2: the SAME model, same weights, nothing retrained, tested on In-the-Wild, a corpus of found</a:t>
            </a:r>
          </a:p>
          <a:p>
            <a:r>
              <a:rPr sz="1200"/>
              <a:t>celebrity audio. 37.15%. Say "same weights" out loud, that is the point.</a:t>
            </a:r>
          </a:p>
          <a:p>
            <a:r>
              <a:rPr sz="1200"/>
              <a:t>Bar 3: an ASVspoof-trained detector against 2026 cloned voices over a real VoIP call. 50.28%,</a:t>
            </a:r>
          </a:p>
          <a:p>
            <a:r>
              <a:rPr sz="1200"/>
              <a:t>a coin flip. Source is RTCFake, a recent preprint. Say "a recent preprint reports". Do not</a:t>
            </a:r>
          </a:p>
          <a:p>
            <a:r>
              <a:rPr sz="1200"/>
              <a:t>present it as settled.</a:t>
            </a:r>
          </a:p>
          <a:p/>
          <a:p>
            <a:r>
              <a:rPr sz="1200"/>
              <a:t>Then the blue bar: train the same architecture on modern voices instead and it drops to 5.81%.</a:t>
            </a:r>
          </a:p>
          <a:p>
            <a:r>
              <a:rPr sz="1200"/>
              <a:t>So this is not a law of nature, it is a training problem. That is why the project is worth doing.</a:t>
            </a:r>
          </a:p>
          <a:p/>
          <a:p>
            <a:r>
              <a:rPr sz="1200"/>
              <a:t>If asked about more data: measured, does not help, 33.9% to 33.1%. Every ASVspoof split derives</a:t>
            </a:r>
          </a:p>
          <a:p>
            <a:r>
              <a:rPr sz="1200"/>
              <a:t>from the same VCTK recordings, so more of it adds no new domain.</a:t>
            </a:r>
          </a:p>
          <a:p/>
          <a:p>
            <a:r>
              <a:rPr sz="1200"/>
              <a:t>EER means equal error rate. 50% is random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Three findings, one conclusion. Do not read the cards, explain each in a sentence.</a:t>
            </a:r>
          </a:p>
          <a:p/>
          <a:p>
            <a:r>
              <a:rPr sz="1200"/>
              <a:t>1. Mueller et al. trained a classifier on nothing but the DURATION of the silence at the start of</a:t>
            </a:r>
          </a:p>
          <a:p>
            <a:r>
              <a:rPr sz="1200"/>
              <a:t>   the clip. 85% accuracy, 15.1% EER. In ASVspoof, real recordings have longer leading silence</a:t>
            </a:r>
          </a:p>
          <a:p>
            <a:r>
              <a:rPr sz="1200"/>
              <a:t>   than fake ones, so silence length leaks the label.</a:t>
            </a:r>
          </a:p>
          <a:p>
            <a:r>
              <a:rPr sz="1200"/>
              <a:t>2. SiFDetectCracker, ACM MM 2023. A black-box attack that changes only the background noise and</a:t>
            </a:r>
          </a:p>
          <a:p>
            <a:r>
              <a:rPr sz="1200"/>
              <a:t>   the mute segments and never touches the speech. 82.2% success against RawNet2, RawGAT-ST and</a:t>
            </a:r>
          </a:p>
          <a:p>
            <a:r>
              <a:rPr sz="1200"/>
              <a:t>   others.</a:t>
            </a:r>
          </a:p>
          <a:p>
            <a:r>
              <a:rPr sz="1200"/>
              <a:t>3. SHAP analysis, arXiv:2110.03309. The classifier attends to non-speech intervals and one narrow</a:t>
            </a:r>
          </a:p>
          <a:p>
            <a:r>
              <a:rPr sz="1200"/>
              <a:t>   band around 0.5 to 0.6 kHz.</a:t>
            </a:r>
          </a:p>
          <a:p/>
          <a:p>
            <a:r>
              <a:rPr sz="1200"/>
              <a:t>Conclusion, say it out loud: the model is winning on properties of the corpus, not properties of</a:t>
            </a:r>
          </a:p>
          <a:p>
            <a:r>
              <a:rPr sz="1200"/>
              <a:t>the voice. That is exactly why it does not travel. And it is good news, because every one of</a:t>
            </a:r>
          </a:p>
          <a:p>
            <a:r>
              <a:rPr sz="1200"/>
              <a:t>those cues can be removed during training. Slide 7 is how.</a:t>
            </a:r>
          </a:p>
          <a:p/>
          <a:p>
            <a:r>
              <a:rPr sz="1200"/>
              <a:t>If asked: yes, a chunk of published performance is a dataset artifact, an attacker can strip the</a:t>
            </a:r>
          </a:p>
          <a:p>
            <a:r>
              <a:rPr sz="1200"/>
              <a:t>silence trivially, and a live phone call has no clean studio silence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Point at the bars as you talk. The picture does the work.</a:t>
            </a:r>
          </a:p>
          <a:p/>
          <a:p>
            <a:r>
              <a:rPr sz="1200"/>
              <a:t>The synthesis artifact lives at the top of the spectrum, above roughly 4 kHz. A WhatsApp or Teams</a:t>
            </a:r>
          </a:p>
          <a:p>
            <a:r>
              <a:rPr sz="1200"/>
              <a:t>call over Opus keeps all of it. A VoLTE call over AMR-WB keeps most. A normal phone call through</a:t>
            </a:r>
          </a:p>
          <a:p>
            <a:r>
              <a:rPr sz="1200"/>
              <a:t>G.711 or GSM keeps only 300 to 3400 Hz, so the artifact is not damaged, it is gone.</a:t>
            </a:r>
          </a:p>
          <a:p/>
          <a:p>
            <a:r>
              <a:rPr sz="1200"/>
              <a:t>That sounds fatal. We assumed it was. It is not, for two reasons:</a:t>
            </a:r>
          </a:p>
          <a:p/>
          <a:p>
            <a:r>
              <a:rPr sz="1200"/>
              <a:t>1. Shim and Wang, arXiv:2211.06546. Deliberately low-passing to the telephone band IMPROVES codec</a:t>
            </a:r>
          </a:p>
          <a:p>
            <a:r>
              <a:rPr sz="1200"/>
              <a:t>   robustness by about 25% relative, because the high-frequency bins are the ones that overfit to</a:t>
            </a:r>
          </a:p>
          <a:p>
            <a:r>
              <a:rPr sz="1200"/>
              <a:t>   the clean training condition.</a:t>
            </a:r>
          </a:p>
          <a:p>
            <a:r>
              <a:rPr sz="1200"/>
              <a:t>2. The F0 sub-band of the log-power spectrogram ALONE reaches 1.15% EER on ASVspoof 2019 LA.</a:t>
            </a:r>
          </a:p>
          <a:p>
            <a:r>
              <a:rPr sz="1200"/>
              <a:t>   arXiv:2208.01214.</a:t>
            </a:r>
          </a:p>
          <a:p/>
          <a:p>
            <a:r>
              <a:rPr sz="1200"/>
              <a:t>So the band the phone keeps is a band we can build on. That is a design decision, not a</a:t>
            </a:r>
          </a:p>
          <a:p>
            <a:r>
              <a:rPr sz="1200"/>
              <a:t>consolation prize.</a:t>
            </a:r>
          </a:p>
          <a:p/>
          <a:p>
            <a:r>
              <a:rPr sz="1200"/>
              <a:t>Caveat if pressed: this also means prosody is the load-bearing feature in narrowband, and prosody</a:t>
            </a:r>
          </a:p>
          <a:p>
            <a:r>
              <a:rPr sz="1200"/>
              <a:t>is manipulable by an attacker. We know. It is in the report's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The "what are you actually going to do" slide. One sentence per row.</a:t>
            </a:r>
          </a:p>
          <a:p/>
          <a:p>
            <a:r>
              <a:rPr sz="1200"/>
              <a:t>1. Codec and channel augmentation. Every top-5 system in ASVspoof 2021 used data augmentation and</a:t>
            </a:r>
          </a:p>
          <a:p>
            <a:r>
              <a:rPr sz="1200"/>
              <a:t>   every top-5 deepfake-track system used codec augmentation specifically. No counterexample in</a:t>
            </a:r>
          </a:p>
          <a:p>
            <a:r>
              <a:rPr sz="1200"/>
              <a:t>   the literature. The least controversial thing we will do.</a:t>
            </a:r>
          </a:p>
          <a:p>
            <a:r>
              <a:rPr sz="1200"/>
              <a:t>2. Front-end. Swapping mel for CQT improves average EER by 37% with everything else held constant.</a:t>
            </a:r>
          </a:p>
          <a:p>
            <a:r>
              <a:rPr sz="1200"/>
              <a:t>   Mel compresses high-frequency resolution because it models human hearing, and the artifact is</a:t>
            </a:r>
          </a:p>
          <a:p>
            <a:r>
              <a:rPr sz="1200"/>
              <a:t>   not where human hearing is sensitive.</a:t>
            </a:r>
          </a:p>
          <a:p>
            <a:r>
              <a:rPr sz="1200"/>
              <a:t>3. Silence masking and VAD-trimmed training. Directly removes the shortcut from slide 5. Proposed</a:t>
            </a:r>
          </a:p>
          <a:p>
            <a:r>
              <a:rPr sz="1200"/>
              <a:t>   as mitigation by Zhang et al., TASLP 2023. As far as we found, nobody has combined it with</a:t>
            </a:r>
          </a:p>
          <a:p>
            <a:r>
              <a:rPr sz="1200"/>
              <a:t>   channel robustness, which is what we will do.</a:t>
            </a:r>
          </a:p>
          <a:p>
            <a:r>
              <a:rPr sz="1200"/>
              <a:t>4. Telephone-band low-pass, from the previous slide. We test it as a condition, we do not assume it.</a:t>
            </a:r>
          </a:p>
          <a:p>
            <a:r>
              <a:rPr sz="1200"/>
              <a:t>5. wav2vec2 / SSL front-end. The most robust model under the Kassis attack by a wide margin,</a:t>
            </a:r>
          </a:p>
          <a:p>
            <a:r>
              <a:rPr sz="1200"/>
              <a:t>   1.89% to 11.6%, where SSNET goes to 61.81%. Also the heaviest, and the phone has to run it, so</a:t>
            </a:r>
          </a:p>
          <a:p>
            <a:r>
              <a:rPr sz="1200"/>
              <a:t>   we measure what it costs in latency.</a:t>
            </a:r>
          </a:p>
          <a:p>
            <a:r>
              <a:rPr sz="1200"/>
              <a:t>6. One-class objective. Model what bona fide speech is, instead of memorising which attacks we</a:t>
            </a:r>
          </a:p>
          <a:p>
            <a:r>
              <a:rPr sz="1200"/>
              <a:t>   happened to see. The standard answer to unseen-attack generalisation.</a:t>
            </a:r>
          </a:p>
          <a:p/>
          <a:p>
            <a:r>
              <a:rPr sz="1200"/>
              <a:t>Be honest in the closing line: none of these is novel alone. The contribution is combining them</a:t>
            </a:r>
          </a:p>
          <a:p>
            <a:r>
              <a:rPr sz="1200"/>
              <a:t>against corpus shift and channel shift at the same time, and measuring the result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Short slide, but it is the one that protects you in questions. If someone asks "what EER are you</a:t>
            </a:r>
          </a:p>
          <a:p>
            <a:r>
              <a:rPr sz="1200"/>
              <a:t>targeting", this is the answer.</a:t>
            </a:r>
          </a:p>
          <a:p/>
          <a:p>
            <a:r>
              <a:rPr sz="1200"/>
              <a:t>Train: ASVspoof 2019 LA, clean, 25,380 utterances, with our augmentation stack on top. We hold out</a:t>
            </a:r>
          </a:p>
          <a:p>
            <a:r>
              <a:rPr sz="1200"/>
              <a:t>one attack family so unseen-attack performance is measured before we ever touch another corpus.</a:t>
            </a:r>
          </a:p>
          <a:p/>
          <a:p>
            <a:r>
              <a:rPr sz="1200"/>
              <a:t>Test, and each isolates a different shift:</a:t>
            </a:r>
          </a:p>
          <a:p>
            <a:r>
              <a:rPr sz="1200"/>
              <a:t>- ASVspoof 2021 LA isolates the CHANNEL. Real VoIP and PSTN transmission, seven codec conditions,</a:t>
            </a:r>
          </a:p>
          <a:p>
            <a:r>
              <a:rPr sz="1200"/>
              <a:t>  25,938 trials each, perfectly balanced, and the codec is labelled per trial so we do not have to</a:t>
            </a:r>
          </a:p>
          <a:p>
            <a:r>
              <a:rPr sz="1200"/>
              <a:t>  simulate anything.</a:t>
            </a:r>
          </a:p>
          <a:p>
            <a:r>
              <a:rPr sz="1200"/>
              <a:t>- In-the-Wild isolates the CORPUS. New speakers, new attacks, different recording provenance,</a:t>
            </a:r>
          </a:p>
          <a:p>
            <a:r>
              <a:rPr sz="1200"/>
              <a:t>  31,779 clips. The hardest published case.</a:t>
            </a:r>
          </a:p>
          <a:p/>
          <a:p>
            <a:r>
              <a:rPr sz="1200"/>
              <a:t>The metric: gap equals out-of-domain EER minus in-domain EER. A detector at 1% and 37% has a</a:t>
            </a:r>
          </a:p>
          <a:p>
            <a:r>
              <a:rPr sz="1200"/>
              <a:t>36-point gap. We report in-domain, out-of-domain and the gap, per condition, never pooled, and we</a:t>
            </a:r>
          </a:p>
          <a:p>
            <a:r>
              <a:rPr sz="1200"/>
              <a:t>optimise the gap rather than the headline number.</a:t>
            </a:r>
          </a:p>
          <a:p/>
          <a:p>
            <a:r>
              <a:rPr sz="1200"/>
              <a:t>Why never pooled: averaging hides exactly the effect we are trying to 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Say the good part briefly, then spend the time on the honest part. Volunteering the weakness here</a:t>
            </a:r>
          </a:p>
          <a:p>
            <a:r>
              <a:rPr sz="1200"/>
              <a:t>buys real credit with a panel.</a:t>
            </a:r>
          </a:p>
          <a:p/>
          <a:p>
            <a:r>
              <a:rPr sz="1200"/>
              <a:t>The good part. A human reads the alarm and needs seconds to react, so our latency budget is</a:t>
            </a:r>
          </a:p>
          <a:p>
            <a:r>
              <a:rPr sz="1200"/>
              <a:t>seconds, not the 200 ms an authentication gate would need. And the cost asymmetry is clear: an app</a:t>
            </a:r>
          </a:p>
          <a:p>
            <a:r>
              <a:rPr sz="1200"/>
              <a:t>that cries wolf gets deleted, so false alarms cost more than misses. That decides where we sit on</a:t>
            </a:r>
          </a:p>
          <a:p>
            <a:r>
              <a:rPr sz="1200"/>
              <a:t>the operating curve, which is why EER alone is not our target.</a:t>
            </a:r>
          </a:p>
          <a:p/>
          <a:p>
            <a:r>
              <a:rPr sz="1200"/>
              <a:t>The honest part, and say it before they ask. Android has required privileged access for the</a:t>
            </a:r>
          </a:p>
          <a:p>
            <a:r>
              <a:rPr sz="1200"/>
              <a:t>VOICE_CALL audio source since Android 10, so a third-party app cannot record the downlink. iOS is</a:t>
            </a:r>
          </a:p>
          <a:p>
            <a:r>
              <a:rPr sz="1200"/>
              <a:t>closed outright. The realistic capture path is speakerphone into the microphone, which puts a room</a:t>
            </a:r>
          </a:p>
          <a:p>
            <a:r>
              <a:rPr sz="1200"/>
              <a:t>between the caller and our model.</a:t>
            </a:r>
          </a:p>
          <a:p/>
          <a:p>
            <a:r>
              <a:rPr sz="1200"/>
              <a:t>That costs real accuracy and it is measured: ReplayDF, Interspeech 2025. W2V2-AASIST goes from</a:t>
            </a:r>
          </a:p>
          <a:p>
            <a:r>
              <a:rPr sz="1200"/>
              <a:t>4.7% to 18.2% EER under replay, and is still at 11.0% after retraining with room impulse responses.</a:t>
            </a:r>
          </a:p>
          <a:p/>
          <a:p>
            <a:r>
              <a:rPr sz="1200"/>
              <a:t>Our position: re-capture is simply a third distribution shift alongside corpus and channel, and it</a:t>
            </a:r>
          </a:p>
          <a:p>
            <a:r>
              <a:rPr sz="1200"/>
              <a:t>is the one an actual deployment forces on us. So it goes in the augmentation stack, not the</a:t>
            </a:r>
          </a:p>
          <a:p>
            <a:r>
              <a:rPr sz="1200"/>
              <a:t>limitations section. No published number accounts for it, which is what makes measuring it worth</a:t>
            </a:r>
          </a:p>
          <a:p>
            <a:r>
              <a:rPr sz="1200"/>
              <a:t>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The trap first, and do the arithmetic out loud. It is the most convincing thing on the slide.</a:t>
            </a:r>
          </a:p>
          <a:p/>
          <a:p>
            <a:r>
              <a:rPr sz="1200"/>
              <a:t>If you alarm whenever any single window crosses a threshold, and your per-window false-alarm rate</a:t>
            </a:r>
          </a:p>
          <a:p>
            <a:r>
              <a:rPr sz="1200"/>
              <a:t>is 5%, and you use 2-second windows, then a 60-second call has 30 windows. One minus 0.95 to the</a:t>
            </a:r>
          </a:p>
          <a:p>
            <a:r>
              <a:rPr sz="1200"/>
              <a:t>30th is 79%. Four calls in five raise a false alarm. The app is uninstalled by lunchtime.</a:t>
            </a:r>
          </a:p>
          <a:p/>
          <a:p>
            <a:r>
              <a:rPr sz="1200"/>
              <a:t>That is why per-window error rate is the wrong number to report and why we report false alarms</a:t>
            </a:r>
          </a:p>
          <a:p>
            <a:r>
              <a:rPr sz="1200"/>
              <a:t>PER CALL-MINUTE instead.</a:t>
            </a:r>
          </a:p>
          <a:p/>
          <a:p>
            <a:r>
              <a:rPr sz="1200"/>
              <a:t>How we decide: accumulate a calibrated log-likelihood ratio across windows and alarm when the</a:t>
            </a:r>
          </a:p>
          <a:p>
            <a:r>
              <a:rPr sz="1200"/>
              <a:t>running total crosses a boundary. This is Wald's sequential probability ratio test. We add</a:t>
            </a:r>
          </a:p>
          <a:p>
            <a:r>
              <a:rPr sz="1200"/>
              <a:t>separate raise and clear thresholds for hysteresis, and a three-second evidence floor so it</a:t>
            </a:r>
          </a:p>
          <a:p>
            <a:r>
              <a:rPr sz="1200"/>
              <a:t>cannot fire on the first syllable.</a:t>
            </a:r>
          </a:p>
          <a:p/>
          <a:p>
            <a:r>
              <a:rPr sz="1200"/>
              <a:t>Why SPRT specifically: it is the classical optimum for "decide as soon as the evidence is</a:t>
            </a:r>
          </a:p>
          <a:p>
            <a:r>
              <a:rPr sz="1200"/>
              <a:t>sufficient", so the time-to-decision versus error-rate tradeoff falls out of it directly. We</a:t>
            </a:r>
          </a:p>
          <a:p>
            <a:r>
              <a:rPr sz="1200"/>
              <a:t>inherit the metric from sequential detection theory instead of inventing one. We compare against</a:t>
            </a:r>
          </a:p>
          <a:p>
            <a:r>
              <a:rPr sz="1200"/>
              <a:t>a plain k-of-n consecutive-window rule as a baseline.</a:t>
            </a:r>
          </a:p>
          <a:p/>
          <a:p>
            <a:r>
              <a:rPr sz="1200"/>
              <a:t>Three reported quantities, always together: false alarms per call-minute, detection rate at that</a:t>
            </a:r>
          </a:p>
          <a:p>
            <a:r>
              <a:rPr sz="1200"/>
              <a:t>operating point, and time to detection at median and 90th percentile. Plus milliseconds per window</a:t>
            </a:r>
          </a:p>
          <a:p>
            <a:r>
              <a:rPr sz="1200"/>
              <a:t>on the actual phone.</a:t>
            </a:r>
          </a:p>
          <a:p/>
          <a:p>
            <a:r>
              <a:rPr sz="1200"/>
              <a:t>Honest caveat if asked: adjacent windows are correlated, which violates the independence</a:t>
            </a:r>
          </a:p>
          <a:p>
            <a:r>
              <a:rPr sz="1200"/>
              <a:t>assumption. We calibrate an effective sample size empirically rather than pretending it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Walk left to right once, then stop. The two amber boxes are the parts that are ours.</a:t>
            </a:r>
          </a:p>
          <a:p/>
          <a:p>
            <a:r>
              <a:rPr sz="1200"/>
              <a:t>Train on ASVspoof 2019 LA, clean. Our augmentation stack sits between the data and the model:</a:t>
            </a:r>
          </a:p>
          <a:p>
            <a:r>
              <a:rPr sz="1200"/>
              <a:t>codec chains, silence manipulation, additive noise, room impulse responses, and the speakerphone</a:t>
            </a:r>
          </a:p>
          <a:p>
            <a:r>
              <a:rPr sz="1200"/>
              <a:t>re-capture from the last slide. Front-end is raw waveform or CQT, never mel. Detector starts as</a:t>
            </a:r>
          </a:p>
          <a:p>
            <a:r>
              <a:rPr sz="1200"/>
              <a:t>RawNet2 to establish the baseline, then AASIST, an SSL front-end and a one-class variant for</a:t>
            </a:r>
          </a:p>
          <a:p>
            <a:r>
              <a:rPr sz="1200"/>
              <a:t>comparison. The decision layer accumulates evidence over windows. The output is a risk score that</a:t>
            </a:r>
          </a:p>
          <a:p>
            <a:r>
              <a:rPr sz="1200"/>
              <a:t>feeds a multi-layer decision, not a verdict on its own.</a:t>
            </a:r>
          </a:p>
          <a:p/>
          <a:p>
            <a:r>
              <a:rPr sz="1200"/>
              <a:t>What we sweep: the bandwidth ladder, clean 16k through G.722, Opus, a-law, mu-law, GSM, plus</a:t>
            </a:r>
          </a:p>
          <a:p>
            <a:r>
              <a:rPr sz="1200"/>
              <a:t>AMR-NB and AMR-WB. AMR matters because it is what mobile calls actually use and no ASVspoof</a:t>
            </a:r>
          </a:p>
          <a:p>
            <a:r>
              <a:rPr sz="1200"/>
              <a:t>edition includes it. Window length full, 4 s, 2 s, 1 s, which gives the accuracy-against-latency</a:t>
            </a:r>
          </a:p>
          <a:p>
            <a:r>
              <a:rPr sz="1200"/>
              <a:t>curve.</a:t>
            </a:r>
          </a:p>
          <a:p/>
          <a:p>
            <a:r>
              <a:rPr sz="1200"/>
              <a:t>Held out and never trained on: In-the-Wild, the held-out attack family, and a few hundred modern</a:t>
            </a:r>
          </a:p>
          <a:p>
            <a:r>
              <a:rPr sz="1200"/>
              <a:t>cloned utterances made only from our own consented recordings, reported per generator.</a:t>
            </a:r>
          </a:p>
          <a:p/>
          <a:p>
            <a:r>
              <a:rPr sz="1200"/>
              <a:t>Practical point worth making: every codec is already in the ffmpeg build on our laptop, and</a:t>
            </a:r>
          </a:p>
          <a:p>
            <a:r>
              <a:rPr sz="1200"/>
              <a:t>ASVspoof 2021 ships the codec label per trial, so the sweep costs no setup time. Training fits one</a:t>
            </a:r>
          </a:p>
          <a:p>
            <a:r>
              <a:rPr sz="1200"/>
              <a:t>16 GB laptop GPU at roughly 1.5 to 3 hours per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Keep this short, maybe sixty seconds. It exists so the panel knows we have thought about time.</a:t>
            </a:r>
          </a:p>
          <a:p/>
          <a:p>
            <a:r>
              <a:rPr sz="1200"/>
              <a:t>Week 1 is this proposal.</a:t>
            </a:r>
          </a:p>
          <a:p/>
          <a:p>
            <a:r>
              <a:rPr sz="1200"/>
              <a:t>Weeks 2 to 4, baseline. Get RawNet2 training on ASVspoof 2019 LA and reproduce the published</a:t>
            </a:r>
          </a:p>
          <a:p>
            <a:r>
              <a:rPr sz="1200"/>
              <a:t>clean-condition EER. This is not research, it proves our setup is correct. We can validate</a:t>
            </a:r>
          </a:p>
          <a:p>
            <a:r>
              <a:rPr sz="1200"/>
              <a:t>against the official baseline score files that ship with the 2021 keys, so if our number does not</a:t>
            </a:r>
          </a:p>
          <a:p>
            <a:r>
              <a:rPr sz="1200"/>
              <a:t>match, the bug is ours and we find it in week 3 rather than week 10.</a:t>
            </a:r>
          </a:p>
          <a:p/>
          <a:p>
            <a:r>
              <a:rPr sz="1200"/>
              <a:t>Weeks 5 to 7, the augmentation stack. Codec chains, silence manipulation, noise, room impulse</a:t>
            </a:r>
          </a:p>
          <a:p>
            <a:r>
              <a:rPr sz="1200"/>
              <a:t>responses, speakerphone re-capture. Then measure the gap per codec across the bandwidth ladder.</a:t>
            </a:r>
          </a:p>
          <a:p/>
          <a:p>
            <a:r>
              <a:rPr sz="1200"/>
              <a:t>Weeks 8 to 9, the generalisation push. Silence masking, the one-class objective, the SSL</a:t>
            </a:r>
          </a:p>
          <a:p>
            <a:r>
              <a:rPr sz="1200"/>
              <a:t>front-end, compared on the gap rather than on in-domain EER. This is the core contribution.</a:t>
            </a:r>
          </a:p>
          <a:p/>
          <a:p>
            <a:r>
              <a:rPr sz="1200"/>
              <a:t>Weeks 10 to 11, streaming and the modern-attack probe. SPRT decision rule, latency on the device,</a:t>
            </a:r>
          </a:p>
          <a:p>
            <a:r>
              <a:rPr sz="1200"/>
              <a:t>a few hundred cloned utterances from our own consented voices.</a:t>
            </a:r>
          </a:p>
          <a:p/>
          <a:p>
            <a:r>
              <a:rPr sz="1200"/>
              <a:t>Week 12, write-up and defence.</a:t>
            </a:r>
          </a:p>
          <a:p/>
          <a:p>
            <a:r>
              <a:rPr sz="1200"/>
              <a:t>Say the risk out loud: weeks 5 to 9 are where we expect to slip, because building a degradation</a:t>
            </a:r>
          </a:p>
          <a:p>
            <a:r>
              <a:rPr sz="1200"/>
              <a:t>pipeline and chasing generalisation both historically overrun. We are saying it now rather than</a:t>
            </a:r>
          </a:p>
          <a:p>
            <a:r>
              <a:rPr sz="1200"/>
              <a:t>in week 11. Compute is one 16 GB laptop GPU, roughly 1.5 to 3 hours per training run, which</a:t>
            </a:r>
          </a:p>
          <a:p>
            <a:r>
              <a:rPr sz="1200"/>
              <a:t>serialises our experiments and is the main reason the middle phases are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Close on the claim, not on a summary. Say it as a position you are prepared to argue.</a:t>
            </a:r>
          </a:p>
          <a:p/>
          <a:p>
            <a:r>
              <a:rPr sz="1200"/>
              <a:t>The target, concretely:</a:t>
            </a:r>
          </a:p>
          <a:p>
            <a:r>
              <a:rPr sz="1200"/>
              <a:t>- An out-of-domain EER well below the 34 to 37% the literature reports on the same held-out data.</a:t>
            </a:r>
          </a:p>
          <a:p>
            <a:r>
              <a:rPr sz="1200"/>
              <a:t>  That is the number we will be judged on.</a:t>
            </a:r>
          </a:p>
          <a:p>
            <a:r>
              <a:rPr sz="1200"/>
              <a:t>- A generalisation gap we reduced AND can attribute, so we can say which design decision bought</a:t>
            </a:r>
          </a:p>
          <a:p>
            <a:r>
              <a:rPr sz="1200"/>
              <a:t>  how much. An ablation, not a single result.</a:t>
            </a:r>
          </a:p>
          <a:p>
            <a:r>
              <a:rPr sz="1200"/>
              <a:t>- A decision within seconds of speech, running on the phone, with the latency cost of every window</a:t>
            </a:r>
          </a:p>
          <a:p>
            <a:r>
              <a:rPr sz="1200"/>
              <a:t>  length measured.</a:t>
            </a:r>
          </a:p>
          <a:p/>
          <a:p>
            <a:r>
              <a:rPr sz="1200"/>
              <a:t>What we will not do, and say this deliberately because the panel will respect it:</a:t>
            </a:r>
          </a:p>
          <a:p>
            <a:r>
              <a:rPr sz="1200"/>
              <a:t>- Quote one in-domain EER as if it described field performance.</a:t>
            </a:r>
          </a:p>
          <a:p>
            <a:r>
              <a:rPr sz="1200"/>
              <a:t>- Average across corpora or codecs to make a result look better than it is.</a:t>
            </a:r>
          </a:p>
          <a:p>
            <a:r>
              <a:rPr sz="1200"/>
              <a:t>- Claim the problem is solved. A smaller gap is not a closed gap.</a:t>
            </a:r>
          </a:p>
          <a:p/>
          <a:p>
            <a:r>
              <a:rPr sz="1200"/>
              <a:t>Final line: a detector that travels is worth more than a detector that scores well. We are</a:t>
            </a:r>
          </a:p>
          <a:p>
            <a:r>
              <a:rPr sz="1200"/>
              <a:t>optimising the number that survives a change of dataset.</a:t>
            </a:r>
          </a:p>
          <a:p/>
          <a:p>
            <a:r>
              <a:rPr sz="1200"/>
              <a:t>If pushed on "will it work in production": it is a risk signal with a measured error rate, fused</a:t>
            </a:r>
          </a:p>
          <a:p>
            <a:r>
              <a:rPr sz="1200"/>
              <a:t>with caller-ID checks, account context and challenge-response. It raises attacker cost. It does</a:t>
            </a:r>
          </a:p>
          <a:p>
            <a:r>
              <a:rPr sz="1200"/>
              <a:t>not authenticate anyone on its own. That is also the framing of the assigned Ige et al. reading on</a:t>
            </a:r>
          </a:p>
          <a:p>
            <a:r>
              <a:rPr sz="1200"/>
              <a:t>multi-layer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E6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95528" y="1417320"/>
            <a:ext cx="9326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151A21"/>
                </a:solidFill>
                <a:latin typeface="Arial"/>
              </a:rPr>
              <a:t>Detecting Cloned Voices
on a Phone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86200"/>
            <a:ext cx="27432" cy="868680"/>
          </a:xfrm>
          <a:prstGeom prst="rect">
            <a:avLst/>
          </a:prstGeom>
          <a:solidFill>
            <a:srgbClr val="9E6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5" y="3886200"/>
            <a:ext cx="8595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6AA8"/>
                </a:solidFill>
                <a:latin typeface="Consolas"/>
              </a:rPr>
              <a:t>1.23%</a:t>
            </a:r>
            <a:r>
              <a:rPr sz="1900" b="0" i="0">
                <a:solidFill>
                  <a:srgbClr val="3C4551"/>
                </a:solidFill>
                <a:latin typeface="Calibri"/>
              </a:rPr>
              <a:t> on their own benchmark.   </a:t>
            </a:r>
            <a:r>
              <a:rPr sz="1900" b="1" i="0">
                <a:solidFill>
                  <a:srgbClr val="B0392E"/>
                </a:solidFill>
                <a:latin typeface="Consolas"/>
              </a:rPr>
              <a:t>37%</a:t>
            </a:r>
            <a:r>
              <a:rPr sz="1900" b="0" i="0">
                <a:solidFill>
                  <a:srgbClr val="3C4551"/>
                </a:solidFill>
                <a:latin typeface="Calibri"/>
              </a:rPr>
              <a:t> on someone else's.
We are building one that closes that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5577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84"/>
                </a:solidFill>
                <a:latin typeface="Calibri"/>
              </a:rPr>
              <a:t>[names]        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PROPOSAL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     |     VISHING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1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THE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Ninety seconds of audio is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60350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9E6712"/>
                </a:solidFill>
                <a:latin typeface="Calibri"/>
              </a:rPr>
              <a:t>•   </a:t>
            </a:r>
            <a:r>
              <a:rPr sz="2000" b="0" i="0">
                <a:solidFill>
                  <a:srgbClr val="3C4551"/>
                </a:solidFill>
                <a:latin typeface="Calibri"/>
              </a:rPr>
              <a:t>A voice from a podcast or a voicemail.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9E6712"/>
                </a:solidFill>
                <a:latin typeface="Calibri"/>
              </a:rPr>
              <a:t>•   </a:t>
            </a:r>
            <a:r>
              <a:rPr sz="2000" b="1" i="0">
                <a:solidFill>
                  <a:srgbClr val="151A21"/>
                </a:solidFill>
                <a:latin typeface="Calibri"/>
              </a:rPr>
              <a:t>Cloned in minutes.</a:t>
            </a:r>
            <a:r>
              <a:rPr sz="2000" b="0" i="0">
                <a:solidFill>
                  <a:srgbClr val="3C4551"/>
                </a:solidFill>
                <a:latin typeface="Calibri"/>
              </a:rPr>
              <a:t> No GPU farm, no expertise.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9E6712"/>
                </a:solidFill>
                <a:latin typeface="Calibri"/>
              </a:rPr>
              <a:t>•   </a:t>
            </a:r>
            <a:r>
              <a:rPr sz="2000" b="0" i="0">
                <a:solidFill>
                  <a:srgbClr val="3C4551"/>
                </a:solidFill>
                <a:latin typeface="Calibri"/>
              </a:rPr>
              <a:t>A call to a parent, an employee, or a bank.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78040" y="2377440"/>
            <a:ext cx="4355287" cy="173736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178040" y="2377440"/>
            <a:ext cx="32004" cy="1737360"/>
          </a:xfrm>
          <a:prstGeom prst="rect">
            <a:avLst/>
          </a:prstGeom>
          <a:solidFill>
            <a:srgbClr val="B0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52360" y="2560320"/>
            <a:ext cx="382493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THE QUESTION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0392E"/>
                </a:solidFill>
                <a:latin typeface="Calibri"/>
              </a:rPr>
              <a:t>Can a machine tell that it is synthetic?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1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WHERE THE FIELD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Excellent numbers, on </a:t>
            </a:r>
            <a:r>
              <a:rPr sz="3400" b="1" i="0">
                <a:solidFill>
                  <a:srgbClr val="1A6AA8"/>
                </a:solidFill>
                <a:latin typeface="Arial"/>
              </a:rPr>
              <a:t>one dataset</a:t>
            </a:r>
            <a:r>
              <a:rPr sz="3400" b="1" i="0">
                <a:solidFill>
                  <a:srgbClr val="151A21"/>
                </a:solidFill>
                <a:latin typeface="Arial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3417722" cy="178308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294223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BEST REPORTED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 i="0">
                <a:solidFill>
                  <a:srgbClr val="1A6AA8"/>
                </a:solidFill>
                <a:latin typeface="Consolas"/>
              </a:rPr>
              <a:t>1.23%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RawGAT-ST on ASVspoof 2019 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6986" y="2286000"/>
            <a:ext cx="3417722" cy="178308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24730" y="2487168"/>
            <a:ext cx="294223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CHALLENGES RUN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 i="0">
                <a:solidFill>
                  <a:srgbClr val="151A21"/>
                </a:solidFill>
                <a:latin typeface="Consolas"/>
              </a:rPr>
              <a:t>4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ASVspoof, biennial since 2015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5604" y="2286000"/>
            <a:ext cx="3417722" cy="178308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53348" y="2487168"/>
            <a:ext cx="294223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ARCHITECTURES COMPARED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 i="0">
                <a:solidFill>
                  <a:srgbClr val="151A21"/>
                </a:solidFill>
                <a:latin typeface="Consolas"/>
              </a:rPr>
              <a:t>12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One protocol, raw waveform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526280"/>
            <a:ext cx="10874959" cy="118872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4526280"/>
            <a:ext cx="32004" cy="1188720"/>
          </a:xfrm>
          <a:prstGeom prst="rect">
            <a:avLst/>
          </a:prstGeom>
          <a:solidFill>
            <a:srgbClr val="B0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4709160"/>
            <a:ext cx="103446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THE CATCH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1A21"/>
                </a:solidFill>
                <a:latin typeface="Calibri"/>
              </a:rPr>
              <a:t>Every number here is measured on the corpus the model trained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2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Move it off its own dataset and it </a:t>
            </a:r>
            <a:r>
              <a:rPr sz="3400" b="1" i="0">
                <a:solidFill>
                  <a:srgbClr val="B0392E"/>
                </a:solidFill>
                <a:latin typeface="Arial"/>
              </a:rPr>
              <a:t>stops working</a:t>
            </a:r>
            <a:r>
              <a:rPr sz="3400" b="1" i="0">
                <a:solidFill>
                  <a:srgbClr val="151A21"/>
                </a:solidFill>
                <a:latin typeface="Arial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5520" y="2148840"/>
            <a:ext cx="1143000" cy="173736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875520" y="190195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392E"/>
                </a:solidFill>
                <a:latin typeface="Consolas"/>
              </a:rPr>
              <a:t>COIN FLIP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TRAINED ON ASVSPOOF 2019, TESTED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585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51A21"/>
                </a:solidFill>
                <a:latin typeface="Calibri"/>
              </a:rPr>
              <a:t>its own test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249424"/>
            <a:ext cx="140588" cy="329184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47413" y="22768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6AA8"/>
                </a:solidFill>
                <a:latin typeface="Consolas"/>
              </a:rPr>
              <a:t>1.23%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0720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51A21"/>
                </a:solidFill>
                <a:latin typeface="Calibri"/>
              </a:rPr>
              <a:t>another corpus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In-the-Wild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798064"/>
            <a:ext cx="4246245" cy="329184"/>
          </a:xfrm>
          <a:prstGeom prst="rect">
            <a:avLst/>
          </a:prstGeom>
          <a:solidFill>
            <a:srgbClr val="B0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53069" y="28254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0392E"/>
                </a:solidFill>
                <a:latin typeface="Consolas"/>
              </a:rPr>
              <a:t>37.15%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3558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51A21"/>
                </a:solidFill>
                <a:latin typeface="Calibri"/>
              </a:rPr>
              <a:t>2026 cloned voices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over a real VoIP 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346704"/>
            <a:ext cx="5747004" cy="329184"/>
          </a:xfrm>
          <a:prstGeom prst="rect">
            <a:avLst/>
          </a:prstGeom>
          <a:solidFill>
            <a:srgbClr val="B0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18804" y="33832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50.28%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005072"/>
            <a:ext cx="10360152" cy="0"/>
          </a:xfrm>
          <a:prstGeom prst="line">
            <a:avLst/>
          </a:prstGeom>
          <a:ln w="12700"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133087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1A6AA8"/>
                </a:solidFill>
                <a:latin typeface="Calibri"/>
              </a:rPr>
              <a:t>same test, retrained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on modern voices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4123944"/>
            <a:ext cx="664083" cy="329184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70907" y="41513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6AA8"/>
                </a:solidFill>
                <a:latin typeface="Consolas"/>
              </a:rPr>
              <a:t>5.81%</a:t>
            </a:r>
            <a:r>
              <a:rPr sz="1400" b="0" i="0">
                <a:solidFill>
                  <a:srgbClr val="6B7684"/>
                </a:solidFill>
                <a:latin typeface="Calibri"/>
              </a:rPr>
              <a:t>    so it can be fixed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60520" y="4608576"/>
            <a:ext cx="6858000" cy="0"/>
          </a:xfrm>
          <a:prstGeom prst="line">
            <a:avLst/>
          </a:prstGeom>
          <a:ln w="12700"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4759" y="46634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9259" y="46634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6634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8260" y="46634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46634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66344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equal error rate, lower is better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138928"/>
            <a:ext cx="10874959" cy="86868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8368" y="5138928"/>
            <a:ext cx="32004" cy="868680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321808"/>
            <a:ext cx="10344607" cy="502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/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1A21"/>
                </a:solidFill>
                <a:latin typeface="Calibri"/>
              </a:rPr>
              <a:t>A 36-point gap. </a:t>
            </a:r>
            <a:r>
              <a:rPr sz="1400" b="1" i="0">
                <a:solidFill>
                  <a:srgbClr val="1A6AA8"/>
                </a:solidFill>
                <a:latin typeface="Calibri"/>
              </a:rPr>
              <a:t>Closing it is the job.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2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WHY IT COLLAPSES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It learns the </a:t>
            </a:r>
            <a:r>
              <a:rPr sz="3400" b="1" i="0">
                <a:solidFill>
                  <a:srgbClr val="B0392E"/>
                </a:solidFill>
                <a:latin typeface="Arial"/>
              </a:rPr>
              <a:t>dataset</a:t>
            </a:r>
            <a:r>
              <a:rPr sz="3400" b="1" i="0">
                <a:solidFill>
                  <a:srgbClr val="151A21"/>
                </a:solidFill>
                <a:latin typeface="Arial"/>
              </a:rPr>
              <a:t>, not the voice.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3417722" cy="1874519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2942234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SILENCE ALONE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3800" b="1" i="0">
                <a:solidFill>
                  <a:srgbClr val="B0392E"/>
                </a:solidFill>
                <a:latin typeface="Consolas"/>
              </a:rPr>
              <a:t>85%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accuracy from the length of the opening silence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6986" y="2286000"/>
            <a:ext cx="3417722" cy="1874519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24730" y="2487168"/>
            <a:ext cx="2942234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ATTACK ON SILENCE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3800" b="1" i="0">
                <a:solidFill>
                  <a:srgbClr val="B0392E"/>
                </a:solidFill>
                <a:latin typeface="Consolas"/>
              </a:rPr>
              <a:t>82.2%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success without ever touching the voice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5604" y="2286000"/>
            <a:ext cx="3417722" cy="1874519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53348" y="2487168"/>
            <a:ext cx="2942234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WHERE IT LOOKS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3800" b="1" i="0">
                <a:solidFill>
                  <a:srgbClr val="B0392E"/>
                </a:solidFill>
                <a:latin typeface="Consolas"/>
              </a:rPr>
              <a:t>0.5-0.6 kHz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the gaps between words, one narrow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617720"/>
            <a:ext cx="10874959" cy="114300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4617720"/>
            <a:ext cx="32004" cy="1143000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4800600"/>
            <a:ext cx="10344607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WHICH TELLS US WHAT TO FIX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It wins on what belongs to the corpus, not the speech. </a:t>
            </a:r>
            <a:r>
              <a:rPr sz="1400" b="1" i="0">
                <a:solidFill>
                  <a:srgbClr val="151A21"/>
                </a:solidFill>
                <a:latin typeface="Calibri"/>
              </a:rPr>
              <a:t>All of it can be taken away in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2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THE SECOND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What survives a phone line?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63095" y="2240280"/>
            <a:ext cx="1815503" cy="164592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9036470" y="2240280"/>
            <a:ext cx="2210649" cy="164592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702166" y="199339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6AA8"/>
                </a:solidFill>
                <a:latin typeface="Consolas"/>
              </a:rPr>
              <a:t>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075" y="199339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392E"/>
                </a:solidFill>
                <a:latin typeface="Consolas"/>
              </a:rPr>
              <a:t>SYNTHESIS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048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1A21"/>
                </a:solidFill>
                <a:latin typeface="Calibri"/>
              </a:rPr>
              <a:t>Opus / WhatsApp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395728"/>
            <a:ext cx="8229600" cy="237744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9352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1A21"/>
                </a:solidFill>
                <a:latin typeface="Calibri"/>
              </a:rPr>
              <a:t>AMR-WB / VoLTE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926080"/>
            <a:ext cx="6787612" cy="237744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346557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1A21"/>
                </a:solidFill>
                <a:latin typeface="Calibri"/>
              </a:rPr>
              <a:t>G.711 / GSM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8598" y="3456432"/>
            <a:ext cx="3334643" cy="237744"/>
          </a:xfrm>
          <a:prstGeom prst="rect">
            <a:avLst/>
          </a:prstGeom>
          <a:solidFill>
            <a:srgbClr val="B0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3017520" y="3913632"/>
            <a:ext cx="8229600" cy="0"/>
          </a:xfrm>
          <a:prstGeom prst="line">
            <a:avLst/>
          </a:prstGeom>
          <a:ln w="12700">
            <a:solidFill>
              <a:srgbClr val="D0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06039" y="39684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118" y="39684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1761" y="39684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3.4k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3652" y="39684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7k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39684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684"/>
                </a:solidFill>
                <a:latin typeface="Consolas"/>
              </a:rPr>
              <a:t>20k 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26280"/>
            <a:ext cx="10874959" cy="123444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526280"/>
            <a:ext cx="32004" cy="1234440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709160"/>
            <a:ext cx="1034460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GOOD NEWS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The phone keeps the pitch band. </a:t>
            </a:r>
            <a:r>
              <a:rPr sz="1400" b="1" i="0">
                <a:solidFill>
                  <a:srgbClr val="1A6AA8"/>
                </a:solidFill>
                <a:latin typeface="Calibri"/>
              </a:rPr>
              <a:t>The pitch band alone reaches 1.15% EER.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3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How you build a detector that </a:t>
            </a:r>
            <a:r>
              <a:rPr sz="3400" b="1" i="0">
                <a:solidFill>
                  <a:srgbClr val="1A6AA8"/>
                </a:solidFill>
                <a:latin typeface="Arial"/>
              </a:rPr>
              <a:t>travels</a:t>
            </a:r>
            <a:r>
              <a:rPr sz="3400" b="1" i="0">
                <a:solidFill>
                  <a:srgbClr val="151A21"/>
                </a:solidFill>
                <a:latin typeface="Arial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2286000"/>
          <a:ext cx="10872216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86400"/>
                <a:gridCol w="5385816"/>
              </a:tblGrid>
              <a:tr h="4049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B7684"/>
                          </a:solidFill>
                          <a:latin typeface="Consolas"/>
                        </a:rPr>
                        <a:t>DESIGN DECISION</a:t>
                      </a:r>
                    </a:p>
                  </a:txBody>
                  <a:tcPr marL="54864" marR="54864" marT="45720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6B7684"/>
                          </a:solidFill>
                          <a:latin typeface="Consolas"/>
                        </a:rPr>
                        <a:t>EVIDENCE</a:t>
                      </a:r>
                    </a:p>
                  </a:txBody>
                  <a:tcPr marL="54864" marR="54864" marT="45720" marB="6400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51A21"/>
                          </a:solidFill>
                          <a:latin typeface="Calibri"/>
                        </a:rPr>
                        <a:t>Codec and channel augmentation</a:t>
                      </a:r>
                    </a:p>
                  </a:txBody>
                  <a:tcPr marL="54864" marR="54864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C4551"/>
                          </a:solidFill>
                          <a:latin typeface="Consolas"/>
                        </a:rPr>
                        <a:t>every top-5 system in 2021 used it</a:t>
                      </a:r>
                    </a:p>
                  </a:txBody>
                  <a:tcPr marL="54864" marR="54864" marT="64008" marB="6400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51A21"/>
                          </a:solidFill>
                          <a:latin typeface="Calibri"/>
                        </a:rPr>
                        <a:t>Raw waveform or CQT, never mel</a:t>
                      </a:r>
                    </a:p>
                  </a:txBody>
                  <a:tcPr marL="54864" marR="54864" marT="64008" marB="64008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C4551"/>
                          </a:solidFill>
                          <a:latin typeface="Consolas"/>
                        </a:rPr>
                        <a:t>mel is 37% worse</a:t>
                      </a:r>
                    </a:p>
                  </a:txBody>
                  <a:tcPr marL="54864" marR="54864" marT="64008" marB="64008">
                    <a:solidFill>
                      <a:srgbClr val="F1F3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51A21"/>
                          </a:solidFill>
                          <a:latin typeface="Calibri"/>
                        </a:rPr>
                        <a:t>Silence masking, VAD-trimmed training</a:t>
                      </a:r>
                    </a:p>
                  </a:txBody>
                  <a:tcPr marL="54864" marR="54864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C4551"/>
                          </a:solidFill>
                          <a:latin typeface="Consolas"/>
                        </a:rPr>
                        <a:t>removes the cue worth 85%</a:t>
                      </a:r>
                    </a:p>
                  </a:txBody>
                  <a:tcPr marL="54864" marR="54864" marT="64008" marB="6400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51A21"/>
                          </a:solidFill>
                          <a:latin typeface="Calibri"/>
                        </a:rPr>
                        <a:t>Low-pass to the telephone band</a:t>
                      </a:r>
                    </a:p>
                  </a:txBody>
                  <a:tcPr marL="54864" marR="54864" marT="64008" marB="64008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C4551"/>
                          </a:solidFill>
                          <a:latin typeface="Consolas"/>
                        </a:rPr>
                        <a:t>25% better under codec shift</a:t>
                      </a:r>
                    </a:p>
                  </a:txBody>
                  <a:tcPr marL="54864" marR="54864" marT="64008" marB="64008">
                    <a:solidFill>
                      <a:srgbClr val="F1F3F6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51A21"/>
                          </a:solidFill>
                          <a:latin typeface="Calibri"/>
                        </a:rPr>
                        <a:t>SSL front-end (wav2vec2)</a:t>
                      </a:r>
                    </a:p>
                  </a:txBody>
                  <a:tcPr marL="54864" marR="54864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C4551"/>
                          </a:solidFill>
                          <a:latin typeface="Consolas"/>
                        </a:rPr>
                        <a:t>1.89% to 11.6% under attack, but heavy</a:t>
                      </a:r>
                    </a:p>
                  </a:txBody>
                  <a:tcPr marL="54864" marR="54864" marT="64008" marB="64008">
                    <a:solidFill>
                      <a:srgbClr val="FFFFFF"/>
                    </a:solidFill>
                  </a:tcPr>
                </a:tc>
              </a:tr>
              <a:tr h="404952"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51A21"/>
                          </a:solidFill>
                          <a:latin typeface="Calibri"/>
                        </a:rPr>
                        <a:t>One-class objective</a:t>
                      </a:r>
                    </a:p>
                  </a:txBody>
                  <a:tcPr marL="54864" marR="54864" marT="64008" marB="64008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8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3C4551"/>
                          </a:solidFill>
                          <a:latin typeface="Consolas"/>
                        </a:rPr>
                        <a:t>learns real speech, not known attacks</a:t>
                      </a:r>
                    </a:p>
                  </a:txBody>
                  <a:tcPr marL="54864" marR="54864" marT="64008" marB="64008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614476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84"/>
                </a:solidFill>
                <a:latin typeface="Calibri"/>
              </a:rPr>
              <a:t>None of these is new on its own. The work is making them hold against both shifts at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3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HOW WE MEASURE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The only number that matters is the </a:t>
            </a:r>
            <a:r>
              <a:rPr sz="3400" b="1" i="0">
                <a:solidFill>
                  <a:srgbClr val="1A6AA8"/>
                </a:solidFill>
                <a:latin typeface="Arial"/>
              </a:rPr>
              <a:t>gap</a:t>
            </a:r>
            <a:r>
              <a:rPr sz="3400" b="1" i="0">
                <a:solidFill>
                  <a:srgbClr val="151A21"/>
                </a:solidFill>
                <a:latin typeface="Arial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5282031" cy="1874519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4806543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TRAIN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51A21"/>
                </a:solidFill>
                <a:latin typeface="Calibri"/>
              </a:rPr>
              <a:t>ASVspoof 2019 LA, clean.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One attack family held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1295" y="2286000"/>
            <a:ext cx="5282031" cy="1874519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89039" y="2487168"/>
            <a:ext cx="4806543" cy="1472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TEST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51A21"/>
                </a:solidFill>
                <a:latin typeface="Calibri"/>
              </a:rPr>
              <a:t>ASVspoof 2021 LA</a:t>
            </a:r>
            <a:r>
              <a:rPr sz="1600" b="0" i="0">
                <a:solidFill>
                  <a:srgbClr val="3C4551"/>
                </a:solidFill>
                <a:latin typeface="Calibri"/>
              </a:rPr>
              <a:t>   for the channel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A21"/>
                </a:solidFill>
                <a:latin typeface="Calibri"/>
              </a:rPr>
              <a:t>In-the-Wild</a:t>
            </a:r>
            <a:r>
              <a:rPr sz="1600" b="0" i="0">
                <a:solidFill>
                  <a:srgbClr val="3C4551"/>
                </a:solidFill>
                <a:latin typeface="Calibri"/>
              </a:rPr>
              <a:t>   for the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480560"/>
            <a:ext cx="10874959" cy="128016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4480560"/>
            <a:ext cx="32004" cy="1280160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4663440"/>
            <a:ext cx="10344607" cy="914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OUR HEADLINE METRIC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51A21"/>
                </a:solidFill>
                <a:latin typeface="Consolas"/>
              </a:rPr>
              <a:t>gap  =  out-of-domain EER  -  in-domain EER</a:t>
            </a:r>
            <a:r>
              <a:rPr sz="1400" b="0" i="0">
                <a:solidFill>
                  <a:srgbClr val="3C4551"/>
                </a:solidFill>
                <a:latin typeface="Calibri"/>
              </a:rPr>
              <a:t>
Reported per codec and per corpus. Never averaged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4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WHERE 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An app on the callee's phone.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5282031" cy="192024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4806543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WHAT THE SETTING GIVES US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51A21"/>
                </a:solidFill>
                <a:latin typeface="Calibri"/>
              </a:rPr>
              <a:t>Seconds, not milliseconds.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1A21"/>
                </a:solidFill>
                <a:latin typeface="Calibri"/>
              </a:rPr>
              <a:t>False alarms cost more than misses.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1295" y="2286000"/>
            <a:ext cx="5282031" cy="1920240"/>
          </a:xfrm>
          <a:prstGeom prst="rect">
            <a:avLst/>
          </a:prstGeom>
          <a:solidFill>
            <a:srgbClr val="F1F3F6"/>
          </a:solidFill>
          <a:ln w="15875">
            <a:solidFill>
              <a:srgbClr val="B03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89039" y="2487168"/>
            <a:ext cx="4806543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B0392E"/>
                </a:solidFill>
                <a:latin typeface="Consolas"/>
              </a:rPr>
              <a:t>WHAT WE MUST NOT HIDE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51A21"/>
                </a:solidFill>
                <a:latin typeface="Calibri"/>
              </a:rPr>
              <a:t>Android will not give us the call audio.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So we capture through the room: </a:t>
            </a:r>
            <a:r>
              <a:rPr sz="1600" b="1" i="0">
                <a:solidFill>
                  <a:srgbClr val="B0392E"/>
                </a:solidFill>
                <a:latin typeface="Consolas"/>
              </a:rPr>
              <a:t>4.7% to 18.2%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526280"/>
            <a:ext cx="10874959" cy="118872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4526280"/>
            <a:ext cx="32004" cy="1188720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4709160"/>
            <a:ext cx="103446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SO WE TRAIN AGAINST IT TOO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Re-capture is a third shift, and it is the one a real deployment forces on 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4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DECIDING DURING THE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One window is not a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10874959" cy="1143000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2286000"/>
            <a:ext cx="32004" cy="1143000"/>
          </a:xfrm>
          <a:prstGeom prst="rect">
            <a:avLst/>
          </a:prstGeom>
          <a:solidFill>
            <a:srgbClr val="B0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468880"/>
            <a:ext cx="10344607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THE TRAP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551"/>
                </a:solidFill>
                <a:latin typeface="Calibri"/>
              </a:rPr>
              <a:t>5% error per window, 2-second windows, and a 60-second call false-alarms </a:t>
            </a:r>
            <a:r>
              <a:rPr sz="1400" b="1" i="0">
                <a:solidFill>
                  <a:srgbClr val="B0392E"/>
                </a:solidFill>
                <a:latin typeface="Calibri"/>
              </a:rPr>
              <a:t>79% of the time</a:t>
            </a:r>
            <a:r>
              <a:rPr sz="1400" b="0" i="0">
                <a:solidFill>
                  <a:srgbClr val="3C4551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03320"/>
            <a:ext cx="5282031" cy="1920240"/>
          </a:xfrm>
          <a:prstGeom prst="rect">
            <a:avLst/>
          </a:prstGeom>
          <a:solidFill>
            <a:srgbClr val="F1F3F6"/>
          </a:solidFill>
          <a:ln w="15875">
            <a:solidFill>
              <a:srgbClr val="9E67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3904487"/>
            <a:ext cx="4806543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9E6712"/>
                </a:solidFill>
                <a:latin typeface="Consolas"/>
              </a:rPr>
              <a:t>HOW WE DECIDE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151A21"/>
                </a:solidFill>
                <a:latin typeface="Arial"/>
              </a:rPr>
              <a:t>Add the evidence up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C4551"/>
                </a:solidFill>
                <a:latin typeface="Calibri"/>
              </a:rPr>
              <a:t>Alarm when the total crosses a boundary, not when one window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1295" y="3703320"/>
            <a:ext cx="5282031" cy="192024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89039" y="3904487"/>
            <a:ext cx="4806543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WHAT WE REPORT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151A21"/>
                </a:solidFill>
                <a:latin typeface="Arial"/>
              </a:rPr>
              <a:t>Per call-minute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C4551"/>
                </a:solidFill>
                <a:latin typeface="Calibri"/>
              </a:rPr>
              <a:t>False alarms, detection rate, time to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4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What we will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887" y="2468880"/>
            <a:ext cx="1645920" cy="1417320"/>
          </a:xfrm>
          <a:prstGeom prst="rect">
            <a:avLst/>
          </a:prstGeom>
          <a:solidFill>
            <a:srgbClr val="F1F3F6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7191" y="2651760"/>
            <a:ext cx="13533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6B7684"/>
                </a:solidFill>
                <a:latin typeface="Consolas"/>
              </a:rPr>
              <a:t>TRAIN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1A21"/>
                </a:solidFill>
                <a:latin typeface="Calibri"/>
              </a:rPr>
              <a:t>ASVspoof 2019 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807" y="3063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0D6DE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9687" y="2468880"/>
            <a:ext cx="1645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E67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675991" y="2651760"/>
            <a:ext cx="13533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9E6712"/>
                </a:solidFill>
                <a:latin typeface="Consolas"/>
              </a:rPr>
              <a:t>OURS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1A21"/>
                </a:solidFill>
                <a:latin typeface="Calibri"/>
              </a:rPr>
              <a:t>Augmentation: codec, silence,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5607" y="3063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0D6D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8487" y="2468880"/>
            <a:ext cx="1645920" cy="1417320"/>
          </a:xfrm>
          <a:prstGeom prst="rect">
            <a:avLst/>
          </a:prstGeom>
          <a:solidFill>
            <a:srgbClr val="F1F3F6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04791" y="2651760"/>
            <a:ext cx="13533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6B7684"/>
                </a:solidFill>
                <a:latin typeface="Consolas"/>
              </a:rPr>
              <a:t>FRONT-END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1A21"/>
                </a:solidFill>
                <a:latin typeface="Calibri"/>
              </a:rPr>
              <a:t>Raw waveform or CQT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4407" y="3063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0D6D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2468880"/>
            <a:ext cx="1645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E67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33591" y="2651760"/>
            <a:ext cx="13533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9E6712"/>
                </a:solidFill>
                <a:latin typeface="Consolas"/>
              </a:rPr>
              <a:t>DETECTOR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1A21"/>
                </a:solidFill>
                <a:latin typeface="Calibri"/>
              </a:rPr>
              <a:t>RawNet2, AASIST, SSL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207" y="3063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0D6D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087" y="2468880"/>
            <a:ext cx="1645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E67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62391" y="2651760"/>
            <a:ext cx="13533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9E6712"/>
                </a:solidFill>
                <a:latin typeface="Consolas"/>
              </a:rPr>
              <a:t>DECISION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1A21"/>
                </a:solidFill>
                <a:latin typeface="Calibri"/>
              </a:rPr>
              <a:t>Evidence over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2007" y="3063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0D6DE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44887" y="2468880"/>
            <a:ext cx="1645920" cy="1417320"/>
          </a:xfrm>
          <a:prstGeom prst="rect">
            <a:avLst/>
          </a:prstGeom>
          <a:solidFill>
            <a:srgbClr val="F1F3F6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91191" y="2651760"/>
            <a:ext cx="13533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6B7684"/>
                </a:solidFill>
                <a:latin typeface="Consolas"/>
              </a:rPr>
              <a:t>OUTPUT</a:t>
            </a:r>
          </a:p>
          <a:p>
            <a:pPr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51A21"/>
                </a:solidFill>
                <a:latin typeface="Calibri"/>
              </a:rPr>
              <a:t>A risk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315968"/>
            <a:ext cx="5282031" cy="166420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6112" y="4517136"/>
            <a:ext cx="4806543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WHAT WE SWEEP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Seven codecs plus </a:t>
            </a:r>
            <a:r>
              <a:rPr sz="1600" b="1" i="0">
                <a:solidFill>
                  <a:srgbClr val="151A21"/>
                </a:solidFill>
                <a:latin typeface="Calibri"/>
              </a:rPr>
              <a:t>AMR</a:t>
            </a:r>
            <a:r>
              <a:rPr sz="1600" b="0" i="0">
                <a:solidFill>
                  <a:srgbClr val="3C4551"/>
                </a:solidFill>
                <a:latin typeface="Calibri"/>
              </a:rPr>
              <a:t>, which no ASVspoof edition covers.
Window length: full, 4 s, 2 s, 1 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1295" y="4315968"/>
            <a:ext cx="5282031" cy="1664208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89039" y="4517136"/>
            <a:ext cx="4806543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NEVER IN TRAINING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In-the-Wild, the held-out attacks, and a small probe of modern cloned voices.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4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Twelve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99232"/>
            <a:ext cx="9062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4"/>
                </a:solidFill>
                <a:latin typeface="Consolas"/>
              </a:rPr>
              <a:t>WEEK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291840"/>
            <a:ext cx="851382" cy="10515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657600"/>
            <a:ext cx="7233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B7684"/>
                </a:solidFill>
                <a:latin typeface="Calibri"/>
              </a:rPr>
              <a:t>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4614" y="2999232"/>
            <a:ext cx="2718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4"/>
                </a:solidFill>
                <a:latin typeface="Consolas"/>
              </a:rPr>
              <a:t>WEEKS 2-4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2046" y="3291840"/>
            <a:ext cx="2663875" cy="105156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56054" y="3657600"/>
            <a:ext cx="25358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6AA8"/>
                </a:solidFill>
                <a:latin typeface="Calibri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478" y="4480560"/>
            <a:ext cx="26090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551"/>
                </a:solidFill>
                <a:latin typeface="Calibri"/>
              </a:rPr>
              <a:t>reproduce published 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3354" y="2999232"/>
            <a:ext cx="2718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4"/>
                </a:solidFill>
                <a:latin typeface="Consolas"/>
              </a:rPr>
              <a:t>WEEKS 5-7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0786" y="3291840"/>
            <a:ext cx="2663875" cy="1051560"/>
          </a:xfrm>
          <a:prstGeom prst="rect">
            <a:avLst/>
          </a:prstGeom>
          <a:solidFill>
            <a:srgbClr val="9E6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74794" y="3657600"/>
            <a:ext cx="25358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80560"/>
            <a:ext cx="26090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551"/>
                </a:solidFill>
                <a:latin typeface="Calibri"/>
              </a:rPr>
              <a:t>gap measured per codec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2094" y="2999232"/>
            <a:ext cx="18124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4"/>
                </a:solidFill>
                <a:latin typeface="Consolas"/>
              </a:rPr>
              <a:t>WEEKS 8-9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9526" y="3291840"/>
            <a:ext cx="1757629" cy="1051560"/>
          </a:xfrm>
          <a:prstGeom prst="rect">
            <a:avLst/>
          </a:prstGeom>
          <a:solidFill>
            <a:srgbClr val="9E6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93534" y="3657600"/>
            <a:ext cx="16296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Generalisation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958" y="4480560"/>
            <a:ext cx="17027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551"/>
                </a:solidFill>
                <a:latin typeface="Calibri"/>
              </a:rPr>
              <a:t>gap reduced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587" y="2999232"/>
            <a:ext cx="18124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4"/>
                </a:solidFill>
                <a:latin typeface="Consolas"/>
              </a:rPr>
              <a:t>WEEKS 10-11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42019" y="3291840"/>
            <a:ext cx="1757629" cy="105156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06027" y="3657600"/>
            <a:ext cx="16296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6AA8"/>
                </a:solidFill>
                <a:latin typeface="Calibri"/>
              </a:rPr>
              <a:t>Streaming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451" y="4480560"/>
            <a:ext cx="17027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551"/>
                </a:solidFill>
                <a:latin typeface="Calibri"/>
              </a:rPr>
              <a:t>latency curve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27080" y="2999232"/>
            <a:ext cx="9062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684"/>
                </a:solidFill>
                <a:latin typeface="Consolas"/>
              </a:rPr>
              <a:t>WEEK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54512" y="3291840"/>
            <a:ext cx="851382" cy="105156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718520" y="3657600"/>
            <a:ext cx="7233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B7684"/>
                </a:solidFill>
                <a:latin typeface="Calibri"/>
              </a:rPr>
              <a:t>Write-up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E6712"/>
                </a:solidFill>
                <a:latin typeface="Consolas"/>
              </a:rPr>
              <a:t>ACT 4</a:t>
            </a:r>
            <a:r>
              <a:rPr sz="1100" b="0" i="0">
                <a:solidFill>
                  <a:srgbClr val="D0D6DE"/>
                </a:solidFill>
                <a:latin typeface="Consolas"/>
              </a:rPr>
              <a:t>     |     </a:t>
            </a:r>
            <a:r>
              <a:rPr sz="1100" b="0" i="0">
                <a:solidFill>
                  <a:srgbClr val="6B7684"/>
                </a:solidFill>
                <a:latin typeface="Consola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51A21"/>
                </a:solidFill>
                <a:latin typeface="Arial"/>
              </a:rPr>
              <a:t>What success looks like.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5282031" cy="2103120"/>
          </a:xfrm>
          <a:prstGeom prst="rect">
            <a:avLst/>
          </a:prstGeom>
          <a:solidFill>
            <a:srgbClr val="F1F3F6"/>
          </a:solidFill>
          <a:ln w="15875">
            <a:solidFill>
              <a:srgbClr val="1A6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4806543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1A6AA8"/>
                </a:solidFill>
                <a:latin typeface="Consolas"/>
              </a:rPr>
              <a:t>THE TARGET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Out-of-domain EER </a:t>
            </a:r>
            <a:r>
              <a:rPr sz="1600" b="1" i="0">
                <a:solidFill>
                  <a:srgbClr val="151A21"/>
                </a:solidFill>
                <a:latin typeface="Calibri"/>
              </a:rPr>
              <a:t>well below 34%.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A gap we </a:t>
            </a:r>
            <a:r>
              <a:rPr sz="1600" b="1" i="0">
                <a:solidFill>
                  <a:srgbClr val="151A21"/>
                </a:solidFill>
                <a:latin typeface="Calibri"/>
              </a:rPr>
              <a:t>reduced, and can explain.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A decision </a:t>
            </a:r>
            <a:r>
              <a:rPr sz="1600" b="1" i="0">
                <a:solidFill>
                  <a:srgbClr val="151A21"/>
                </a:solidFill>
                <a:latin typeface="Calibri"/>
              </a:rPr>
              <a:t>in seconds, on the phone.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1295" y="2286000"/>
            <a:ext cx="5282031" cy="210312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89039" y="2487168"/>
            <a:ext cx="4806543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WHAT WE WILL NOT DO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Quote one in-domain number.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Average across corpora or codecs.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3C4551"/>
                </a:solidFill>
                <a:latin typeface="Calibri"/>
              </a:rPr>
              <a:t>Say the problem is solved.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709160"/>
            <a:ext cx="10874959" cy="109728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4709160"/>
            <a:ext cx="32004" cy="1097280"/>
          </a:xfrm>
          <a:prstGeom prst="rect">
            <a:avLst/>
          </a:prstGeom>
          <a:solidFill>
            <a:srgbClr val="1A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4892040"/>
            <a:ext cx="10344607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6B7684"/>
                </a:solidFill>
                <a:latin typeface="Consolas"/>
              </a:rPr>
              <a:t>THE POSITION WE WILL DEFEND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6AA8"/>
                </a:solidFill>
                <a:latin typeface="Calibri"/>
              </a:rPr>
              <a:t>A detector that travels is worth more than a detector that scores well.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