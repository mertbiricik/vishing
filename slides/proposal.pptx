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E6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95528" y="1325880"/>
            <a:ext cx="8778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51A21"/>
                </a:solidFill>
                <a:latin typeface="Arial"/>
              </a:rPr>
              <a:t>Detecting Cloned Voices
on a Phone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657600"/>
            <a:ext cx="27432" cy="960120"/>
          </a:xfrm>
          <a:prstGeom prst="rect">
            <a:avLst/>
          </a:prstGeom>
          <a:solidFill>
            <a:srgbClr val="9E6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5" y="3657600"/>
            <a:ext cx="76809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C4551"/>
                </a:solidFill>
                <a:latin typeface="Calibri"/>
              </a:rPr>
              <a:t>We are not proposing to build a detector that works. We are proposing to measure exactly where detection breaks, on the one axis this field has never measured: latency.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51663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TEAM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[names]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7016" y="51663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DEPLOYMENT TARGET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On-device app, live call audio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8504" y="51663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PRIMARY CORPUS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ASVspoof 2019 LA → 2021 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79992" y="51663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7684"/>
                </a:solidFill>
                <a:latin typeface="Consolas"/>
              </a:rPr>
              <a:t>DATE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4551"/>
                </a:solidFill>
                <a:latin typeface="Calibri"/>
              </a:rPr>
              <a:t>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PROPOSAL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     |     VISHING CHALLENGE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1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THREAT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Ninety seconds of public audio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5943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An attacker scrapes a voice from a podcast, a conference talk, a voicemail.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A zero-shot cloning model reproduces it.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No training, no GPU farm, minutes of work.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The call arrives at a family member, an employee, or a bank's phone line.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The victim hears a voice they recognise and acts on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20840" y="1965960"/>
            <a:ext cx="4812487" cy="2148840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720840" y="1965960"/>
            <a:ext cx="32004" cy="2148840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95159" y="2148840"/>
            <a:ext cx="4282135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QUESTION THIS TALK ANSWERS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 human hears a familiar voice and believes it.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Can a machine, listening to the same call, tell that it is synthetic?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Humans are the weaker detector: in a 472-participant study, listeners reached 72.8% accuracy on ASVspoof attacks where a machine reached 95.5%.  </a:t>
            </a:r>
            <a:r>
              <a:rPr sz="1050" b="0" i="0">
                <a:solidFill>
                  <a:srgbClr val="6B7684"/>
                </a:solidFill>
                <a:latin typeface="Consolas"/>
              </a:rPr>
              <a:t>arXiv:2107.09667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1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PUBLISHED STATE OF THE 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The literature says this is </a:t>
            </a:r>
            <a:r>
              <a:rPr sz="3400" b="1" i="0">
                <a:solidFill>
                  <a:srgbClr val="1A6AA8"/>
                </a:solidFill>
                <a:latin typeface="Arial"/>
              </a:rPr>
              <a:t>solved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057400"/>
            <a:ext cx="3417722" cy="22860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258568"/>
            <a:ext cx="2942234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BEST REPORTED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800" b="1" i="0">
                <a:solidFill>
                  <a:srgbClr val="1A6AA8"/>
                </a:solidFill>
                <a:latin typeface="Consolas"/>
              </a:rPr>
              <a:t>1.23%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RawGAT-ST equal error rate on ASVspoof 2019 LA evaluation.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6986" y="2057400"/>
            <a:ext cx="3417722" cy="22860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624730" y="2258568"/>
            <a:ext cx="2942234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BENCHMARK MATURITY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800" b="1" i="0">
                <a:solidFill>
                  <a:srgbClr val="151A21"/>
                </a:solidFill>
                <a:latin typeface="Consolas"/>
              </a:rPr>
              <a:t>4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Biennial ASVspoof challenges since 2015. 54 teams submitted to the 2021 evaluation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5604" y="2057400"/>
            <a:ext cx="3417722" cy="22860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53348" y="2258568"/>
            <a:ext cx="2942234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ARCHITECTURES COMPARED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800" b="1" i="0">
                <a:solidFill>
                  <a:srgbClr val="151A21"/>
                </a:solidFill>
                <a:latin typeface="Consolas"/>
              </a:rPr>
              <a:t>12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Re-implemented under one protocol by Müller et al. Raw-waveform models win consistently.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C4551"/>
                </a:solidFill>
                <a:latin typeface="Calibri"/>
              </a:rPr>
              <a:t>On paper, audio deepfake detection is a benchmark with a clear winner and a long tail of incremental improvement.  </a:t>
            </a:r>
            <a:r>
              <a:rPr sz="1500" b="1" i="0">
                <a:solidFill>
                  <a:srgbClr val="151A21"/>
                </a:solidFill>
                <a:latin typeface="Calibri"/>
              </a:rPr>
              <a:t>Three independent results say otherwise.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2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COLLAPSE — THE CORE OF OUR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Move one variable and it goes to </a:t>
            </a:r>
            <a:r>
              <a:rPr sz="3400" b="1" i="0">
                <a:solidFill>
                  <a:srgbClr val="B0392E"/>
                </a:solidFill>
                <a:latin typeface="Arial"/>
              </a:rPr>
              <a:t>chance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88920" y="1874519"/>
            <a:ext cx="0" cy="1344169"/>
          </a:xfrm>
          <a:prstGeom prst="line">
            <a:avLst/>
          </a:prstGeom>
          <a:ln w="9525">
            <a:solidFill>
              <a:srgbClr val="E6EA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423160" y="32735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69180" y="1874519"/>
            <a:ext cx="0" cy="1344169"/>
          </a:xfrm>
          <a:prstGeom prst="line">
            <a:avLst/>
          </a:prstGeom>
          <a:ln w="9525">
            <a:solidFill>
              <a:srgbClr val="E6EA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03420" y="32735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15%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49440" y="1874519"/>
            <a:ext cx="0" cy="1344169"/>
          </a:xfrm>
          <a:prstGeom prst="line">
            <a:avLst/>
          </a:prstGeom>
          <a:ln w="9525">
            <a:solidFill>
              <a:srgbClr val="E6EA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0" y="32735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30%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29700" y="1874519"/>
            <a:ext cx="0" cy="1344169"/>
          </a:xfrm>
          <a:prstGeom prst="line">
            <a:avLst/>
          </a:prstGeom>
          <a:ln w="9525">
            <a:solidFill>
              <a:srgbClr val="E6EA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63940" y="32735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45%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109960" y="1874519"/>
            <a:ext cx="0" cy="1344169"/>
          </a:xfrm>
          <a:prstGeom prst="line">
            <a:avLst/>
          </a:prstGeom>
          <a:ln w="9525">
            <a:solidFill>
              <a:srgbClr val="E6EA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744200" y="32735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60%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61951" y="1874519"/>
            <a:ext cx="0" cy="1344169"/>
          </a:xfrm>
          <a:prstGeom prst="line">
            <a:avLst/>
          </a:prstGeom>
          <a:ln w="12700">
            <a:solidFill>
              <a:srgbClr val="6B768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213311" y="16459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chance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0574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1A21"/>
                </a:solidFill>
                <a:latin typeface="Calibri"/>
              </a:rPr>
              <a:t>Cross-corpus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RawGAT-ST, same weights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59501" y="2212848"/>
            <a:ext cx="4981529" cy="0"/>
          </a:xfrm>
          <a:prstGeom prst="line">
            <a:avLst/>
          </a:prstGeom>
          <a:ln w="28575">
            <a:solidFill>
              <a:srgbClr val="B0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897779" y="2151126"/>
            <a:ext cx="123444" cy="123444"/>
          </a:xfrm>
          <a:prstGeom prst="ellipse">
            <a:avLst/>
          </a:prstGeom>
          <a:solidFill>
            <a:srgbClr val="1A6A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849590" y="2121408"/>
            <a:ext cx="182880" cy="182880"/>
          </a:xfrm>
          <a:prstGeom prst="ellipse">
            <a:avLst/>
          </a:prstGeom>
          <a:solidFill>
            <a:srgbClr val="B039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02301" y="181051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6AA8"/>
                </a:solidFill>
                <a:latin typeface="Consolas"/>
              </a:rPr>
              <a:t>1.23%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478" y="21031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392E"/>
                </a:solidFill>
                <a:latin typeface="Consolas"/>
              </a:rPr>
              <a:t>37.15%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6517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1A21"/>
                </a:solidFill>
                <a:latin typeface="Calibri"/>
              </a:rPr>
              <a:t>Generator age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2026 TTS over real VoIP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94674" y="2807208"/>
            <a:ext cx="6167277" cy="0"/>
          </a:xfrm>
          <a:prstGeom prst="line">
            <a:avLst/>
          </a:prstGeom>
          <a:ln w="28575">
            <a:solidFill>
              <a:srgbClr val="B039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532952" y="2745486"/>
            <a:ext cx="123444" cy="123444"/>
          </a:xfrm>
          <a:prstGeom prst="ellipse">
            <a:avLst/>
          </a:prstGeom>
          <a:solidFill>
            <a:srgbClr val="1A6A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670511" y="2715768"/>
            <a:ext cx="182880" cy="182880"/>
          </a:xfrm>
          <a:prstGeom prst="ellipse">
            <a:avLst/>
          </a:prstGeom>
          <a:solidFill>
            <a:srgbClr val="B039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137474" y="240487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6AA8"/>
                </a:solidFill>
                <a:latin typeface="Consolas"/>
              </a:rPr>
              <a:t>5.81%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7399" y="2697479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0392E"/>
                </a:solidFill>
                <a:latin typeface="Consolas"/>
              </a:rPr>
              <a:t>50.28%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56616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6AA8"/>
                </a:solidFill>
                <a:latin typeface="Calibri"/>
              </a:rPr>
              <a:t>● </a:t>
            </a:r>
            <a:r>
              <a:rPr sz="1150" b="0" i="0">
                <a:solidFill>
                  <a:srgbClr val="3C4551"/>
                </a:solidFill>
                <a:latin typeface="Calibri"/>
              </a:rPr>
              <a:t>matched condition       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● </a:t>
            </a:r>
            <a:r>
              <a:rPr sz="1150" b="0" i="0">
                <a:solidFill>
                  <a:srgbClr val="3C4551"/>
                </a:solidFill>
                <a:latin typeface="Calibri"/>
              </a:rPr>
              <a:t>shifted condition   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both rows: equal error rate, same metric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005072"/>
            <a:ext cx="10874959" cy="1298448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58368" y="4005072"/>
            <a:ext cx="32004" cy="129844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4187952"/>
            <a:ext cx="10344607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THIRD COLLAPSE — DIFFERENT METRIC, SO STATED SEPARATELY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Seven cheap DSP transforms raise the share of spoofs a countermeasure accepts from roughly 2% to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12–66%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It still works over a real Twilio call into Amazon Connect at 8 kHz.   </a:t>
            </a:r>
            <a:r>
              <a:rPr sz="1400" b="0" i="0">
                <a:solidFill>
                  <a:srgbClr val="6B7684"/>
                </a:solidFill>
                <a:latin typeface="Consolas"/>
              </a:rPr>
              <a:t>Kassis &amp; Hengartner, IEEE S&amp;P 2023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Three different groups, three different failure modes, none of them marginal. Training on more ASVspoof data does not help: 33.9% → 33.1%, because every split derives from the same VCTK recordings.   </a:t>
            </a:r>
            <a:r>
              <a:rPr sz="1050" b="0" i="0">
                <a:solidFill>
                  <a:srgbClr val="6B7684"/>
                </a:solidFill>
                <a:latin typeface="Consolas"/>
              </a:rPr>
              <a:t>Generator-age row is a recent preprint (RTCFake) and is spoken as such.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2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The detector is not listening to the </a:t>
            </a:r>
            <a:r>
              <a:rPr sz="3400" b="1" i="0">
                <a:solidFill>
                  <a:srgbClr val="B0392E"/>
                </a:solidFill>
                <a:latin typeface="Arial"/>
              </a:rPr>
              <a:t>voice</a:t>
            </a:r>
            <a:r>
              <a:rPr sz="3400" b="1" i="0">
                <a:solidFill>
                  <a:srgbClr val="151A21"/>
                </a:solidFill>
                <a:latin typeface="Arial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057400"/>
            <a:ext cx="3417722" cy="221284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258568"/>
            <a:ext cx="2942234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SILENCE ALONE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3000" b="1" i="0">
                <a:solidFill>
                  <a:srgbClr val="B0392E"/>
                </a:solidFill>
                <a:latin typeface="Consolas"/>
              </a:rPr>
              <a:t>85%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C4551"/>
                </a:solidFill>
                <a:latin typeface="Calibri"/>
              </a:rPr>
              <a:t>Accuracy from a classifier fed </a:t>
            </a:r>
            <a:r>
              <a:rPr sz="1250" b="1" i="0">
                <a:solidFill>
                  <a:srgbClr val="151A21"/>
                </a:solidFill>
                <a:latin typeface="Calibri"/>
              </a:rPr>
              <a:t>only the duration of the leading silence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. Nothing else.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Müller et 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6986" y="2057400"/>
            <a:ext cx="3417722" cy="221284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624730" y="2258568"/>
            <a:ext cx="2942234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ATTACK ON SILENCE ONLY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3000" b="1" i="0">
                <a:solidFill>
                  <a:srgbClr val="B0392E"/>
                </a:solidFill>
                <a:latin typeface="Consolas"/>
              </a:rPr>
              <a:t>82.2%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C4551"/>
                </a:solidFill>
                <a:latin typeface="Calibri"/>
              </a:rPr>
              <a:t>Attack success from perturbing </a:t>
            </a:r>
            <a:r>
              <a:rPr sz="1250" b="1" i="0">
                <a:solidFill>
                  <a:srgbClr val="151A21"/>
                </a:solidFill>
                <a:latin typeface="Calibri"/>
              </a:rPr>
              <a:t>only background noise and mute segments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, never the voice.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SiFDetectCracker, ACM MM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5604" y="2057400"/>
            <a:ext cx="3417722" cy="221284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53348" y="2258568"/>
            <a:ext cx="2942234" cy="1810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WHERE IT ATTENDS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3000" b="1" i="0">
                <a:solidFill>
                  <a:srgbClr val="B0392E"/>
                </a:solidFill>
                <a:latin typeface="Consolas"/>
              </a:rPr>
              <a:t>0.5–0.6 kHz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3C4551"/>
                </a:solidFill>
                <a:latin typeface="Calibri"/>
              </a:rPr>
              <a:t>SHAP analysis: classifiers attend to </a:t>
            </a:r>
            <a:r>
              <a:rPr sz="1250" b="1" i="0">
                <a:solidFill>
                  <a:srgbClr val="151A21"/>
                </a:solidFill>
                <a:latin typeface="Calibri"/>
              </a:rPr>
              <a:t>non-speech intervals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 and one narrow low band.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684"/>
                </a:solidFill>
                <a:latin typeface="Consolas"/>
              </a:rPr>
              <a:t>arXiv:2110.03309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553712"/>
            <a:ext cx="10874959" cy="1298448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4553712"/>
            <a:ext cx="32004" cy="129844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4736592"/>
            <a:ext cx="10344607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WHY THIS MATTERS FOR US SPECIFICALLY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 meaningful share of published performance is a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dataset artifact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An attacker deletes the silence and it is gone. And a live phone call has no clean studio silence to begin with, so that cue transfers nothing to our deployment.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2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CHANNEL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What actually survives a phone line?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63095" y="1874519"/>
            <a:ext cx="1815503" cy="148132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036470" y="1874519"/>
            <a:ext cx="2210649" cy="1481328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702166" y="164592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6AA8"/>
                </a:solidFill>
                <a:latin typeface="Consolas"/>
              </a:rPr>
              <a:t>F0 / PROSODY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53075" y="1645920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0392E"/>
                </a:solidFill>
                <a:latin typeface="Consolas"/>
              </a:rPr>
              <a:t>VOCODER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482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Opus / WhatsApp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029968"/>
            <a:ext cx="8229600" cy="20116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" y="2532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AMR-WB / VoLTE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514600"/>
            <a:ext cx="6787612" cy="20116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8368" y="3017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G.711 / GSM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78598" y="2999232"/>
            <a:ext cx="3334643" cy="20116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017520" y="3383280"/>
            <a:ext cx="8229600" cy="0"/>
          </a:xfrm>
          <a:prstGeom prst="line">
            <a:avLst/>
          </a:prstGeom>
          <a:ln w="12700">
            <a:solidFill>
              <a:srgbClr val="D0D6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06039" y="343814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18" y="343814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1761" y="343814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3.4k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3652" y="343814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7k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35640" y="343814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684"/>
                </a:solidFill>
                <a:latin typeface="Consolas"/>
              </a:rPr>
              <a:t>20k Hz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041648"/>
            <a:ext cx="10874959" cy="157276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041648"/>
            <a:ext cx="32004" cy="157276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24528"/>
            <a:ext cx="10344607" cy="1207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TWIST, AND IT CHANGES OUR THREAT MODEL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Narrowband does not leave nothing. Low-pass filtering to the telephone band actually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improves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 codec robustness, ~25% relative, and the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F0 sub-band alone reaches 1.15% EER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What survives a phone line is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prosody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 — exactly what the cheap attacks on the previous slide manipulate.   </a:t>
            </a:r>
            <a:r>
              <a:rPr sz="1400" b="0" i="0">
                <a:solidFill>
                  <a:srgbClr val="6B7684"/>
                </a:solidFill>
                <a:latin typeface="Consolas"/>
              </a:rPr>
              <a:t>arXiv:2211.06546, arXiv:2208.01214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3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Nobody has measured the thing the brief asks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11680"/>
            <a:ext cx="5760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Every ASVspoof score is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utterance-level and offline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, computed over a complete recording.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Zero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 papers in this literature report milliseconds per decision.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Every top-5 system in ASVspoof 2021 was an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ensemble fused by score averaging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 — structurally incompatible with a live-call budget.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9E6712"/>
                </a:solidFill>
                <a:latin typeface="Calibri"/>
              </a:rPr>
              <a:t>•   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There is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no agreed metric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 for a streaming decision. It has to be defined before any number means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2011680"/>
            <a:ext cx="4903927" cy="25146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67144" y="2212848"/>
            <a:ext cx="4428439" cy="2112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PUBLISHED GUIDANCE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3C4551"/>
                </a:solidFill>
                <a:latin typeface="Calibri"/>
              </a:rPr>
              <a:t>“Use the full recording, do not cut it into short chunks.” Average EER on ASVspoof: </a:t>
            </a:r>
            <a:r>
              <a:rPr sz="1300" b="1" i="0">
                <a:solidFill>
                  <a:srgbClr val="151A21"/>
                </a:solidFill>
                <a:latin typeface="Consolas"/>
              </a:rPr>
              <a:t>9.85%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 full vs </a:t>
            </a:r>
            <a:r>
              <a:rPr sz="1300" b="1" i="0">
                <a:solidFill>
                  <a:srgbClr val="151A21"/>
                </a:solidFill>
                <a:latin typeface="Consolas"/>
              </a:rPr>
              <a:t>18.89%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 at 4 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51A21"/>
                </a:solidFill>
                <a:latin typeface="Calibri"/>
              </a:rPr>
              <a:t>But on realistic audio the advice reverses. 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RawNet2 In-the-Wild: </a:t>
            </a:r>
            <a:r>
              <a:rPr sz="1300" b="1" i="0">
                <a:solidFill>
                  <a:srgbClr val="B0392E"/>
                </a:solidFill>
                <a:latin typeface="Consolas"/>
              </a:rPr>
              <a:t>37.82%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 full vs </a:t>
            </a:r>
            <a:r>
              <a:rPr sz="1300" b="1" i="0">
                <a:solidFill>
                  <a:srgbClr val="1A6AA8"/>
                </a:solidFill>
                <a:latin typeface="Consolas"/>
              </a:rPr>
              <a:t>33.94%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 at 4 s. Short windows </a:t>
            </a:r>
            <a:r>
              <a:rPr sz="1300" b="1" i="0">
                <a:solidFill>
                  <a:srgbClr val="1A6AA8"/>
                </a:solidFill>
                <a:latin typeface="Calibri"/>
              </a:rPr>
              <a:t>win</a:t>
            </a:r>
            <a:r>
              <a:rPr sz="1300" b="0" i="0">
                <a:solidFill>
                  <a:srgbClr val="3C4551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92040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C4551"/>
                </a:solidFill>
                <a:latin typeface="Calibri"/>
              </a:rPr>
              <a:t>The recommendation against short windows appears to be an artifact of the clean benchmark.  </a:t>
            </a:r>
            <a:r>
              <a:rPr sz="1500" b="1" i="0">
                <a:solidFill>
                  <a:srgbClr val="151A21"/>
                </a:solidFill>
                <a:latin typeface="Calibri"/>
              </a:rPr>
              <a:t>Real-time may cost far less than the field assumes, and that is directly testable.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OUR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An app on the callee's phone, listening live.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011680"/>
            <a:ext cx="5282031" cy="22402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212848"/>
            <a:ext cx="4806543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WHAT THIS BUYS US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 generous latency budget.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The alarm is read by a human who needs seconds to react, not an authentication gate that must answer in 200 ms.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 clear cost asymmetry.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An app that cries wolf gets uninstalled, so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false alarms matter more than misses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. That sets our operating point, not EER.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1295" y="2011680"/>
            <a:ext cx="5282031" cy="2240280"/>
          </a:xfrm>
          <a:prstGeom prst="rect">
            <a:avLst/>
          </a:prstGeom>
          <a:solidFill>
            <a:srgbClr val="F1F3F6"/>
          </a:solidFill>
          <a:ln w="15875">
            <a:solidFill>
              <a:srgbClr val="B03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89039" y="2212848"/>
            <a:ext cx="4806543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B0392E"/>
                </a:solidFill>
                <a:latin typeface="Consolas"/>
              </a:rPr>
              <a:t>WHAT WE MUST NOT HIDE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Android will not give a third-party app the call audio. 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The VOICE_CALL source has needed privileged access since Android 10. iOS is closed outright.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The honest capture path is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speakerphone into the microphone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, which adds an acoustic channel on top of the codec — measurable damage: W2V2-AASIST </a:t>
            </a:r>
            <a:r>
              <a:rPr sz="1350" b="1" i="0">
                <a:solidFill>
                  <a:srgbClr val="B0392E"/>
                </a:solidFill>
                <a:latin typeface="Consolas"/>
              </a:rPr>
              <a:t>4.7% → 18.2%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 EER under replay.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526280"/>
            <a:ext cx="10874959" cy="129844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58368" y="4526280"/>
            <a:ext cx="32004" cy="129844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4709160"/>
            <a:ext cx="10344607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WE TREAT THIS AS A FINDING, NOT AN OBSTACLE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The literature evaluates on clean file input.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No published number accounts for the acoustic re-capture an on-device app actually forces.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 We will measure that stage explicitly and report it as its own condition.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METHOD — THE DECISION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One window is not a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938528"/>
            <a:ext cx="10874959" cy="1024128"/>
          </a:xfrm>
          <a:prstGeom prst="rect">
            <a:avLst/>
          </a:prstGeom>
          <a:solidFill>
            <a:srgbClr val="F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2004" cy="1024128"/>
          </a:xfrm>
          <a:prstGeom prst="rect">
            <a:avLst/>
          </a:prstGeom>
          <a:solidFill>
            <a:srgbClr val="B0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121408"/>
            <a:ext cx="10344607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TRAP WE HAVE TO AVOID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Alarm whenever any window crosses a threshold, at 5% per-window false-alarm rate and 2-second windows, and a </a:t>
            </a:r>
            <a:r>
              <a:rPr sz="1400" b="1" i="0">
                <a:solidFill>
                  <a:srgbClr val="B0392E"/>
                </a:solidFill>
                <a:latin typeface="Calibri"/>
              </a:rPr>
              <a:t>60-second call false-alarms 79% of the time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Per-window error rate is the wrong headline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090672"/>
            <a:ext cx="5282031" cy="2697480"/>
          </a:xfrm>
          <a:prstGeom prst="rect">
            <a:avLst/>
          </a:prstGeom>
          <a:solidFill>
            <a:srgbClr val="F1F3F6"/>
          </a:solidFill>
          <a:ln w="15875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3291840"/>
            <a:ext cx="4806543" cy="2295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9E6712"/>
                </a:solidFill>
                <a:latin typeface="Consolas"/>
              </a:rPr>
              <a:t>PRIMARY RULE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51A21"/>
                </a:solidFill>
                <a:latin typeface="Arial"/>
              </a:rPr>
              <a:t>Sequential evidence accumulation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C4551"/>
                </a:solidFill>
                <a:latin typeface="Calibri"/>
              </a:rPr>
              <a:t>Accumulate a calibrated log-likelihood ratio across windows and alarm when it crosses a boundary — Wald's sequential probability ratio test, with a raise/clear pair for hysteresis and a 3-second evidence floor.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A21"/>
                </a:solidFill>
                <a:latin typeface="Calibri"/>
              </a:rPr>
              <a:t>Why this one: </a:t>
            </a:r>
            <a:r>
              <a:rPr sz="1150" b="0" i="0">
                <a:solidFill>
                  <a:srgbClr val="3C4551"/>
                </a:solidFill>
                <a:latin typeface="Calibri"/>
              </a:rPr>
              <a:t>it is the classical optimum for “decide as soon as the evidence is sufficient”, so the time-to-decision versus error-rate curve is its natural output. Our latency metric is inherited from sequential detection theory rather than invented.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3090672"/>
            <a:ext cx="5282031" cy="26974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89039" y="3291840"/>
            <a:ext cx="4806543" cy="2295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BASELINE TO BEAT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51A21"/>
                </a:solidFill>
                <a:latin typeface="Arial"/>
              </a:rPr>
              <a:t>k-of-n consecutive windows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3C4551"/>
                </a:solidFill>
                <a:latin typeface="Calibri"/>
              </a:rPr>
              <a:t>Simple, explainable, and a fair comparator. We report both.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51A21"/>
                </a:solidFill>
                <a:latin typeface="Calibri"/>
              </a:rPr>
              <a:t>Reported quantities</a:t>
            </a:r>
            <a:r>
              <a:rPr sz="1150" b="0" i="0">
                <a:solidFill>
                  <a:srgbClr val="3C4551"/>
                </a:solidFill>
                <a:latin typeface="Calibri"/>
              </a:rPr>
              <a:t> — all three, always: false alarms </a:t>
            </a:r>
            <a:r>
              <a:rPr sz="1150" b="1" i="0">
                <a:solidFill>
                  <a:srgbClr val="151A21"/>
                </a:solidFill>
                <a:latin typeface="Calibri"/>
              </a:rPr>
              <a:t>per call-minute</a:t>
            </a:r>
            <a:r>
              <a:rPr sz="1150" b="0" i="0">
                <a:solidFill>
                  <a:srgbClr val="3C4551"/>
                </a:solidFill>
                <a:latin typeface="Calibri"/>
              </a:rPr>
              <a:t>, detection rate, and time-to-detection at median and 90th percentile.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Honest caveat we will state in the report: adjacent windows are correlated, which violates the independence assumption. We calibrate an effective sample size empirically rather than pretending the assumption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PROPOSED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What we will build.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887" y="201168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7191" y="215798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TRAIN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ASVspoof 2019 LA, clean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6807" y="25420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9687" y="2011680"/>
            <a:ext cx="164592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675991" y="215798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E6712"/>
                </a:solidFill>
                <a:latin typeface="Consolas"/>
              </a:rPr>
              <a:t>OURS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Degradation harness: codec, silence, noise, RIR, re-capture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5607" y="25420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8487" y="201168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04791" y="215798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FRONT-END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Raw waveform or CQT. Never mel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4407" y="25420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201168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33591" y="215798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DETECTOR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RawNet2 baseline, AASIST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207" y="25420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087" y="2011680"/>
            <a:ext cx="164592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62391" y="215798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9E6712"/>
                </a:solidFill>
                <a:latin typeface="Consolas"/>
              </a:rPr>
              <a:t>OURS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Streaming decision, SPRT accumulator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2007" y="25420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0D6D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44887" y="2011680"/>
            <a:ext cx="1645920" cy="1325880"/>
          </a:xfrm>
          <a:prstGeom prst="rect">
            <a:avLst/>
          </a:prstGeom>
          <a:solidFill>
            <a:srgbClr val="F1F3F6"/>
          </a:solidFill>
          <a:ln w="12700">
            <a:solidFill>
              <a:srgbClr val="E2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91191" y="2157984"/>
            <a:ext cx="13533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B7684"/>
                </a:solidFill>
                <a:latin typeface="Consolas"/>
              </a:rPr>
              <a:t>OUTPUT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51A21"/>
                </a:solidFill>
                <a:latin typeface="Calibri"/>
              </a:rPr>
              <a:t>Risk score into a multi-layer decision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611880"/>
            <a:ext cx="5282031" cy="19659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3813048"/>
            <a:ext cx="4806543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INDEPENDENT VARIABLES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Bandwidth ladder: 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clean 16k → G.722 / Opus → a-law / μ-law 8k → GSM 13 kbps → </a:t>
            </a:r>
            <a:r>
              <a:rPr sz="1250" b="1" i="0">
                <a:solidFill>
                  <a:srgbClr val="151A21"/>
                </a:solidFill>
                <a:latin typeface="Calibri"/>
              </a:rPr>
              <a:t>AMR-NB / AMR-WB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, which no ASVspoof edition covers and which is what real cellular calls actually use.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Window length: 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full utterance, 4 s, 2 s, 1 s. This is the latency curve.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3611880"/>
            <a:ext cx="5282031" cy="19659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89039" y="3813048"/>
            <a:ext cx="4806543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HELD-OUT ONLY, NEVER IN TRAINING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In-the-Wild 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for cross-corpus generalisation.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51A21"/>
                </a:solidFill>
                <a:latin typeface="Calibri"/>
              </a:rPr>
              <a:t>A small modern-attack probe</a:t>
            </a:r>
            <a:r>
              <a:rPr sz="1250" b="0" i="0">
                <a:solidFill>
                  <a:srgbClr val="3C4551"/>
                </a:solidFill>
                <a:latin typeface="Calibri"/>
              </a:rPr>
              <a:t>: a few hundred utterances from permissively licensed zero-shot systems, using only team members' own consented voices, pushed through the same codec chain and reported per generator.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Every codec above is already available in the ffmpeg build on our machine, so the harness carries no setup cost. Detector training fits one 16 GB laptop GPU.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Two numbers nobody has produced.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011680"/>
            <a:ext cx="5282031" cy="2606040"/>
          </a:xfrm>
          <a:prstGeom prst="rect">
            <a:avLst/>
          </a:prstGeom>
          <a:solidFill>
            <a:srgbClr val="F1F3F6"/>
          </a:solidFill>
          <a:ln w="15875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212848"/>
            <a:ext cx="4806543" cy="2203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9E6712"/>
                </a:solidFill>
                <a:latin typeface="Consolas"/>
              </a:rPr>
              <a:t>CONTRIBUTION 1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151A21"/>
                </a:solidFill>
                <a:latin typeface="Arial"/>
              </a:rPr>
              <a:t>A latency / accuracy curve for streaming detection over telephony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Unmeasured in this field. Producing it requires first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defining the streaming decision metric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, which does not currently exist, and that definition is itself part of the contribution.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1295" y="2011680"/>
            <a:ext cx="5282031" cy="2606040"/>
          </a:xfrm>
          <a:prstGeom prst="rect">
            <a:avLst/>
          </a:prstGeom>
          <a:solidFill>
            <a:srgbClr val="F1F3F6"/>
          </a:solidFill>
          <a:ln w="15875">
            <a:solidFill>
              <a:srgbClr val="9E67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89039" y="2212848"/>
            <a:ext cx="4806543" cy="2203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9E6712"/>
                </a:solidFill>
                <a:latin typeface="Consolas"/>
              </a:rPr>
              <a:t>CONTRIBUTION 2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151A21"/>
                </a:solidFill>
                <a:latin typeface="Arial"/>
              </a:rPr>
              <a:t>The false-alarm rate on genuine human speech carried over GSM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GSM Full Rate is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itself an LPC vocoder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. Real speech arrives already vocoded, so the detector's core cue becomes ambiguous and may fire on honest callers.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51A21"/>
                </a:solidFill>
                <a:latin typeface="Calibri"/>
              </a:rPr>
              <a:t>The ASVspoof organisers raised this in 2017. It has never been quantified.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956048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C4551"/>
                </a:solidFill>
                <a:latin typeface="Calibri"/>
              </a:rPr>
              <a:t>We claim the </a:t>
            </a:r>
            <a:r>
              <a:rPr sz="1500" b="1" i="0">
                <a:solidFill>
                  <a:srgbClr val="1A6AA8"/>
                </a:solidFill>
                <a:latin typeface="Calibri"/>
              </a:rPr>
              <a:t>measurement</a:t>
            </a:r>
            <a:r>
              <a:rPr sz="1500" b="0" i="0">
                <a:solidFill>
                  <a:srgbClr val="3C4551"/>
                </a:solidFill>
                <a:latin typeface="Calibri"/>
              </a:rPr>
              <a:t>, not the idea. Contribution 2 was predicted by the challenge organisers and we cite them for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METHOD —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Three rules so we do not fool ourselves.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11680"/>
            <a:ext cx="1087495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 i="0">
                <a:solidFill>
                  <a:srgbClr val="9E6712"/>
                </a:solidFill>
                <a:latin typeface="Consolas"/>
              </a:rPr>
              <a:t>1   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Every error rate is reported twice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, with and without VAD silence trimming. Given what the silence cue is worth, a number without this pair is not evidence about voice authenticity, and any expert in the room can say so.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 i="0">
                <a:solidFill>
                  <a:srgbClr val="9E6712"/>
                </a:solidFill>
                <a:latin typeface="Consolas"/>
              </a:rPr>
              <a:t>2   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Per generator and per condition, never pooled.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 Pooling hides the cross-corpus term, which is the largest term we found.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 i="0">
                <a:solidFill>
                  <a:srgbClr val="9E6712"/>
                </a:solidFill>
                <a:latin typeface="Consolas"/>
              </a:rPr>
              <a:t>3    </a:t>
            </a:r>
            <a:r>
              <a:rPr sz="1450" b="1" i="0">
                <a:solidFill>
                  <a:srgbClr val="151A21"/>
                </a:solidFill>
                <a:latin typeface="Calibri"/>
              </a:rPr>
              <a:t>No self-generated sample ever enters training.</a:t>
            </a:r>
            <a:r>
              <a:rPr sz="1450" b="0" i="0">
                <a:solidFill>
                  <a:srgbClr val="3C4551"/>
                </a:solidFill>
                <a:latin typeface="Calibri"/>
              </a:rPr>
              <a:t> This removes the circularity objection outright. The precedent is ASVspoof's own design: attacks A07–A19 appear in evaluation only, and the organisers sourced them externally so that countermeasure developers had no prior knowledge.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590288"/>
            <a:ext cx="10874959" cy="1261872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4590288"/>
            <a:ext cx="32004" cy="1261872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4773168"/>
            <a:ext cx="10344607" cy="896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KNOWN-ATTACK CONDITIONS LOOK WONDERFUL AND MEAN NOTHING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With attacks known in advance, 12 of 16 ASVspoof 2015 systems scored under 1% EER, the best at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0.003%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 A single unseen attack took the same systems to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8–46%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Twelve weeks, and where it will hurt.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2011680"/>
          <a:ext cx="10872216" cy="2743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03120"/>
                <a:gridCol w="914400"/>
                <a:gridCol w="3931920"/>
                <a:gridCol w="3922776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PHASE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WEEKS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MILESTONE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RISK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onsolas"/>
                        </a:rPr>
                        <a:t>2–4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RawNet2 reproduces published clean-condition EER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Low. Proves the setup, nothing more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Degradation harness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onsolas"/>
                        </a:rPr>
                        <a:t>5–7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Per-codec error rates across the bandwidth ladder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B0392E"/>
                          </a:solidFill>
                          <a:latin typeface="Calibri"/>
                        </a:rPr>
                        <a:t>Historically overruns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Streaming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onsolas"/>
                        </a:rPr>
                        <a:t>8–9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Latency curve and the SPRT decision rule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B0392E"/>
                          </a:solidFill>
                          <a:latin typeface="Calibri"/>
                        </a:rPr>
                        <a:t>Engineering-heavy, and the core contribution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Probe &amp; integration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onsolas"/>
                        </a:rPr>
                        <a:t>10–11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Modern-attack probe, GSM false-alarm measurement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May yield a flat result with no gradient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Write-up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onsolas"/>
                        </a:rPr>
                        <a:t>12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Report and defence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074920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Compute is a single laptop GPU, 16 GB, which is sufficient but </a:t>
            </a:r>
            <a:r>
              <a:rPr sz="1400" b="1" i="0">
                <a:solidFill>
                  <a:srgbClr val="151A21"/>
                </a:solidFill>
                <a:latin typeface="Calibri"/>
              </a:rPr>
              <a:t>serialises our experiments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 — roughly 1.5 to 3 hours per training run. Phases 5–7 and 8–9 are where we expect to slip, and we are saying so now rather than in week 11.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ACT 4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What we will claim, and what we will not.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011680"/>
            <a:ext cx="5282031" cy="2103120"/>
          </a:xfrm>
          <a:prstGeom prst="rect">
            <a:avLst/>
          </a:prstGeom>
          <a:solidFill>
            <a:srgbClr val="F1F3F6"/>
          </a:solidFill>
          <a:ln w="15875">
            <a:solidFill>
              <a:srgbClr val="B03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212848"/>
            <a:ext cx="480654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B0392E"/>
                </a:solidFill>
                <a:latin typeface="Consolas"/>
              </a:rPr>
              <a:t>WE WILL NOT CLAIM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That we have built a reliable authentication gate for voice.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That a single error rate from one corpus describes field performance.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That the problem is solved, or that we solved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1295" y="2011680"/>
            <a:ext cx="5282031" cy="2103120"/>
          </a:xfrm>
          <a:prstGeom prst="rect">
            <a:avLst/>
          </a:prstGeom>
          <a:solidFill>
            <a:srgbClr val="F1F3F6"/>
          </a:solidFill>
          <a:ln w="15875">
            <a:solidFill>
              <a:srgbClr val="1A6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89039" y="2212848"/>
            <a:ext cx="480654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1A6AA8"/>
                </a:solidFill>
                <a:latin typeface="Consolas"/>
              </a:rPr>
              <a:t>WE WILL CLAIM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A measured map of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where detection breaks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: by codec, by bandwidth, by corpus, by window length.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The first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latency / accuracy curve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 for streaming detection over a telephony channel.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3C4551"/>
                </a:solidFill>
                <a:latin typeface="Calibri"/>
              </a:rPr>
              <a:t>The first </a:t>
            </a:r>
            <a:r>
              <a:rPr sz="1350" b="1" i="0">
                <a:solidFill>
                  <a:srgbClr val="151A21"/>
                </a:solidFill>
                <a:latin typeface="Calibri"/>
              </a:rPr>
              <a:t>false-alarm figure for genuine speech over GSM</a:t>
            </a:r>
            <a:r>
              <a:rPr sz="1350" b="0" i="0">
                <a:solidFill>
                  <a:srgbClr val="3C4551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4389120"/>
            <a:ext cx="10874959" cy="1298448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58368" y="4389120"/>
            <a:ext cx="32004" cy="1298448"/>
          </a:xfrm>
          <a:prstGeom prst="rect">
            <a:avLst/>
          </a:prstGeom>
          <a:solidFill>
            <a:srgbClr val="1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4572000"/>
            <a:ext cx="10344607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6B7684"/>
                </a:solidFill>
                <a:latin typeface="Consolas"/>
              </a:rPr>
              <a:t>THE POSITION WE WILL DEFEND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C4551"/>
                </a:solidFill>
                <a:latin typeface="Calibri"/>
              </a:rPr>
              <a:t>Audio presentation-attack detection is a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risk signal with a measured error rate</a:t>
            </a:r>
            <a:r>
              <a:rPr sz="1400" b="0" i="0">
                <a:solidFill>
                  <a:srgbClr val="3C4551"/>
                </a:solidFill>
                <a:latin typeface="Calibri"/>
              </a:rPr>
              <a:t>, fused with caller-ID and signalling checks, account context and challenge-response. </a:t>
            </a:r>
            <a:r>
              <a:rPr sz="1400" b="1" i="0">
                <a:solidFill>
                  <a:srgbClr val="1A6AA8"/>
                </a:solidFill>
                <a:latin typeface="Calibri"/>
              </a:rPr>
              <a:t>It raises attacker cost. It does not authenticate anyone by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144768"/>
            <a:ext cx="108749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84"/>
                </a:solidFill>
                <a:latin typeface="Calibri"/>
              </a:rPr>
              <a:t>This is also the framing of the assigned reading on multi-layer adaptive defence, so it answers the brief rather than avoiding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6712"/>
                </a:solidFill>
                <a:latin typeface="Consolas"/>
              </a:rPr>
              <a:t>BACKUP</a:t>
            </a:r>
            <a:r>
              <a:rPr sz="1100" b="0" i="0">
                <a:solidFill>
                  <a:srgbClr val="D0D6DE"/>
                </a:solidFill>
                <a:latin typeface="Consolas"/>
              </a:rPr>
              <a:t>     |     </a:t>
            </a:r>
            <a:r>
              <a:rPr sz="1100" b="0" i="0">
                <a:solidFill>
                  <a:srgbClr val="6B7684"/>
                </a:solidFill>
                <a:latin typeface="Consolas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51A21"/>
                </a:solidFill>
                <a:latin typeface="Arial"/>
              </a:rPr>
              <a:t>Questions we expect.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920240"/>
          <a:ext cx="10872215" cy="3931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91840"/>
                <a:gridCol w="7580375"/>
              </a:tblGrid>
              <a:tr h="561702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QUESTION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B7684"/>
                          </a:solidFill>
                          <a:latin typeface="Consolas"/>
                        </a:rPr>
                        <a:t>ANSWER</a:t>
                      </a:r>
                    </a:p>
                  </a:txBody>
                  <a:tcPr marL="54864" marR="54864" marT="45720" marB="6400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Why not a wav2vec2 / SSL front-end?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It is the most robust under attack — 1.89% → 11.6% where SSNET goes to 61.81%. It is also the heaviest, which is precisely the latency trade-off we propose to measure.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Why not just train on more data?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Measured, and it does not work: 33.9% → 33.1%. Every ASVspoof split derives from the same VCTK recordings.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Why not ASVspoof 5?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Newer, and it does add adversarial attacks. Still 43.71% EER against modern generators over real VoIP. Same failure.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Is this not just reproducing known results?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Latency is unmeasured. The GSM false-alarm rate has been unquantified since 2017. AMR codecs appear in no ASVspoof edition.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Is your codec simulation realistic?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We validate against ASVspoof 2021 LA, which is real VoIP and PSTN transmission. The organisers themselves warn that simulated data misled the replay task.</a:t>
                      </a:r>
                    </a:p>
                  </a:txBody>
                  <a:tcPr marL="54864" marR="54864" marT="64008" marB="64008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51A21"/>
                          </a:solidFill>
                          <a:latin typeface="Calibri"/>
                        </a:rPr>
                        <a:t>Why not build the attack side properly?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3C4551"/>
                          </a:solidFill>
                          <a:latin typeface="Calibri"/>
                        </a:rPr>
                        <a:t>Cost, ethics, and redundancy. Public corpora already hold more generator diversity than we could produce, and cloning third-party voices is not defensible here.</a:t>
                      </a:r>
                    </a:p>
                  </a:txBody>
                  <a:tcPr marL="54864" marR="54864" marT="64008" marB="64008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