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9E6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95528" y="1325880"/>
            <a:ext cx="9052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151A21"/>
                </a:solidFill>
                <a:latin typeface="Arial"/>
              </a:rPr>
              <a:t>Detecting Cloned Voices
on a Phone Call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703320"/>
            <a:ext cx="27432" cy="868680"/>
          </a:xfrm>
          <a:prstGeom prst="rect">
            <a:avLst/>
          </a:prstGeom>
          <a:solidFill>
            <a:srgbClr val="9E6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42415" y="3703320"/>
            <a:ext cx="7863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C4551"/>
                </a:solidFill>
                <a:latin typeface="Calibri"/>
              </a:rPr>
              <a:t>Detectors score </a:t>
            </a:r>
            <a:r>
              <a:rPr sz="1600" b="1" i="0">
                <a:solidFill>
                  <a:srgbClr val="1A6AA8"/>
                </a:solidFill>
                <a:latin typeface="Consolas"/>
              </a:rPr>
              <a:t>1.23%</a:t>
            </a:r>
            <a:r>
              <a:rPr sz="1600" b="0" i="0">
                <a:solidFill>
                  <a:srgbClr val="3C4551"/>
                </a:solidFill>
                <a:latin typeface="Calibri"/>
              </a:rPr>
              <a:t> on their own benchmark and </a:t>
            </a:r>
            <a:r>
              <a:rPr sz="1600" b="1" i="0">
                <a:solidFill>
                  <a:srgbClr val="B0392E"/>
                </a:solidFill>
                <a:latin typeface="Consolas"/>
              </a:rPr>
              <a:t>37%</a:t>
            </a:r>
            <a:r>
              <a:rPr sz="1600" b="0" i="0">
                <a:solidFill>
                  <a:srgbClr val="3C4551"/>
                </a:solidFill>
                <a:latin typeface="Calibri"/>
              </a:rPr>
              <a:t> on someone else's.
We are building one that closes that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52120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6B7684"/>
                </a:solidFill>
                <a:latin typeface="Consolas"/>
              </a:rPr>
              <a:t>TEAM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C4551"/>
                </a:solidFill>
                <a:latin typeface="Calibri"/>
              </a:rPr>
              <a:t>[names]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7016" y="52120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6B7684"/>
                </a:solidFill>
                <a:latin typeface="Consolas"/>
              </a:rPr>
              <a:t>RUNS 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C4551"/>
                </a:solidFill>
                <a:latin typeface="Calibri"/>
              </a:rPr>
              <a:t>The callee's phone, during the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8504" y="52120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6B7684"/>
                </a:solidFill>
                <a:latin typeface="Consolas"/>
              </a:rPr>
              <a:t>CORPORA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C4551"/>
                </a:solidFill>
                <a:latin typeface="Calibri"/>
              </a:rPr>
              <a:t>ASVspoof 2019 LA, 2021 LA, In-the-Wild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79992" y="52120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6B7684"/>
                </a:solidFill>
                <a:latin typeface="Consolas"/>
              </a:rPr>
              <a:t>DATE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C4551"/>
                </a:solidFill>
                <a:latin typeface="Calibri"/>
              </a:rPr>
              <a:t>September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PROPOSAL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     |     VISHING CHALLENGE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1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THE THREAT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Ninety seconds of public audio is enough.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576072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500"/>
              </a:spcAft>
            </a:pPr>
            <a:r>
              <a:rPr sz="1600" b="1" i="0">
                <a:solidFill>
                  <a:srgbClr val="9E6712"/>
                </a:solidFill>
                <a:latin typeface="Calibri"/>
              </a:rPr>
              <a:t>•   </a:t>
            </a:r>
            <a:r>
              <a:rPr sz="1600" b="0" i="0">
                <a:solidFill>
                  <a:srgbClr val="3C4551"/>
                </a:solidFill>
                <a:latin typeface="Calibri"/>
              </a:rPr>
              <a:t>An attacker takes a voice from a podcast or a voicemail.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0"/>
              </a:spcAft>
            </a:pPr>
            <a:r>
              <a:rPr sz="1600" b="1" i="0">
                <a:solidFill>
                  <a:srgbClr val="9E6712"/>
                </a:solidFill>
                <a:latin typeface="Calibri"/>
              </a:rPr>
              <a:t>•   </a:t>
            </a:r>
            <a:r>
              <a:rPr sz="1600" b="0" i="0">
                <a:solidFill>
                  <a:srgbClr val="3C4551"/>
                </a:solidFill>
                <a:latin typeface="Calibri"/>
              </a:rPr>
              <a:t>A cloning model copies it. </a:t>
            </a:r>
            <a:r>
              <a:rPr sz="1600" b="1" i="0">
                <a:solidFill>
                  <a:srgbClr val="151A21"/>
                </a:solidFill>
                <a:latin typeface="Calibri"/>
              </a:rPr>
              <a:t>Minutes of work, no GPU farm.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0"/>
              </a:spcAft>
            </a:pPr>
            <a:r>
              <a:rPr sz="1600" b="1" i="0">
                <a:solidFill>
                  <a:srgbClr val="9E6712"/>
                </a:solidFill>
                <a:latin typeface="Calibri"/>
              </a:rPr>
              <a:t>•   </a:t>
            </a:r>
            <a:r>
              <a:rPr sz="1600" b="0" i="0">
                <a:solidFill>
                  <a:srgbClr val="3C4551"/>
                </a:solidFill>
                <a:latin typeface="Calibri"/>
              </a:rPr>
              <a:t>The call reaches a family member, an employee, or a bank.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500"/>
              </a:spcAft>
            </a:pPr>
            <a:r>
              <a:rPr sz="1600" b="1" i="0">
                <a:solidFill>
                  <a:srgbClr val="9E6712"/>
                </a:solidFill>
                <a:latin typeface="Calibri"/>
              </a:rPr>
              <a:t>•   </a:t>
            </a:r>
            <a:r>
              <a:rPr sz="1600" b="0" i="0">
                <a:solidFill>
                  <a:srgbClr val="3C4551"/>
                </a:solidFill>
                <a:latin typeface="Calibri"/>
              </a:rPr>
              <a:t>The victim hears someone they know.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0840" y="2148840"/>
            <a:ext cx="4812487" cy="1920240"/>
          </a:xfrm>
          <a:prstGeom prst="rect">
            <a:avLst/>
          </a:prstGeom>
          <a:solidFill>
            <a:srgbClr val="F7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720840" y="2148840"/>
            <a:ext cx="32004" cy="1920240"/>
          </a:xfrm>
          <a:prstGeom prst="rect">
            <a:avLst/>
          </a:prstGeom>
          <a:solidFill>
            <a:srgbClr val="B0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995159" y="2331720"/>
            <a:ext cx="4282135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THE QUESTION THIS TALK ANSWERS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A human hears a familiar voice and believes it. </a:t>
            </a:r>
            <a:r>
              <a:rPr sz="1400" b="1" i="0">
                <a:solidFill>
                  <a:srgbClr val="B0392E"/>
                </a:solidFill>
                <a:latin typeface="Calibri"/>
              </a:rPr>
              <a:t>Can a machine tell that it is synthetic?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44768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684"/>
                </a:solidFill>
                <a:latin typeface="Calibri"/>
              </a:rPr>
              <a:t>In a 472-person study, listeners reached 72.8% accuracy where a machine reached 95.5%. People are the weaker detector.  </a:t>
            </a:r>
            <a:r>
              <a:rPr sz="1050" b="0" i="0">
                <a:solidFill>
                  <a:srgbClr val="6B7684"/>
                </a:solidFill>
                <a:latin typeface="Consolas"/>
              </a:rPr>
              <a:t>arXiv:2107.09667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1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WHERE THE FIELD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Excellent numbers, on </a:t>
            </a:r>
            <a:r>
              <a:rPr sz="3400" b="1" i="0">
                <a:solidFill>
                  <a:srgbClr val="1A6AA8"/>
                </a:solidFill>
                <a:latin typeface="Arial"/>
              </a:rPr>
              <a:t>one dataset</a:t>
            </a:r>
            <a:r>
              <a:rPr sz="3400" b="1" i="0">
                <a:solidFill>
                  <a:srgbClr val="151A21"/>
                </a:solidFill>
                <a:latin typeface="Arial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148840"/>
            <a:ext cx="3417722" cy="19202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96112" y="2350008"/>
            <a:ext cx="2942234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BEST REPORTED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3600" b="1" i="0">
                <a:solidFill>
                  <a:srgbClr val="1A6AA8"/>
                </a:solidFill>
                <a:latin typeface="Consolas"/>
              </a:rPr>
              <a:t>1.23%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C4551"/>
                </a:solidFill>
                <a:latin typeface="Calibri"/>
              </a:rPr>
              <a:t>RawGAT-ST, equal error rate on ASVspoof 2019 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6986" y="2148840"/>
            <a:ext cx="3417722" cy="19202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624730" y="2350008"/>
            <a:ext cx="2942234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BENCHMARK MATURITY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3600" b="1" i="0">
                <a:solidFill>
                  <a:srgbClr val="151A21"/>
                </a:solidFill>
                <a:latin typeface="Consolas"/>
              </a:rPr>
              <a:t>4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C4551"/>
                </a:solidFill>
                <a:latin typeface="Calibri"/>
              </a:rPr>
              <a:t>ASVspoof challenges since 2015. 54 teams entered the 2021 evaluation.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15604" y="2148840"/>
            <a:ext cx="3417722" cy="19202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353348" y="2350008"/>
            <a:ext cx="2942234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ARCHITECTURES COMPARED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3600" b="1" i="0">
                <a:solidFill>
                  <a:srgbClr val="151A21"/>
                </a:solidFill>
                <a:latin typeface="Consolas"/>
              </a:rPr>
              <a:t>12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C4551"/>
                </a:solidFill>
                <a:latin typeface="Calibri"/>
              </a:rPr>
              <a:t>Re-implemented under one protocol. Raw-waveform models win.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434840"/>
            <a:ext cx="10874959" cy="1325880"/>
          </a:xfrm>
          <a:prstGeom prst="rect">
            <a:avLst/>
          </a:prstGeom>
          <a:solidFill>
            <a:srgbClr val="F7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4434840"/>
            <a:ext cx="32004" cy="1325880"/>
          </a:xfrm>
          <a:prstGeom prst="rect">
            <a:avLst/>
          </a:prstGeom>
          <a:solidFill>
            <a:srgbClr val="B0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4617720"/>
            <a:ext cx="10344607" cy="960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THE CATCH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Every number here comes from the same corpus the model trained on. Change the dataset and they fall apart. </a:t>
            </a:r>
            <a:r>
              <a:rPr sz="1400" b="1" i="0">
                <a:solidFill>
                  <a:srgbClr val="151A21"/>
                </a:solidFill>
                <a:latin typeface="Calibri"/>
              </a:rPr>
              <a:t>That is the problem we are fixing.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2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Move it off its own dataset and it </a:t>
            </a:r>
            <a:r>
              <a:rPr sz="3400" b="1" i="0">
                <a:solidFill>
                  <a:srgbClr val="B0392E"/>
                </a:solidFill>
                <a:latin typeface="Arial"/>
              </a:rPr>
              <a:t>stops working</a:t>
            </a:r>
            <a:r>
              <a:rPr sz="3400" b="1" i="0">
                <a:solidFill>
                  <a:srgbClr val="151A21"/>
                </a:solidFill>
                <a:latin typeface="Arial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9875520" y="2103120"/>
            <a:ext cx="1143000" cy="1572768"/>
          </a:xfrm>
          <a:prstGeom prst="rect">
            <a:avLst/>
          </a:prstGeom>
          <a:solidFill>
            <a:srgbClr val="F7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875520" y="1865376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0392E"/>
                </a:solidFill>
                <a:latin typeface="Consolas"/>
              </a:rPr>
              <a:t>COIN FLIP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65376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B7684"/>
                </a:solidFill>
                <a:latin typeface="Consolas"/>
              </a:rPr>
              <a:t>TRAINED ON ASVSPOOF 2019, THEN TESTED 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21991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51A21"/>
                </a:solidFill>
                <a:latin typeface="Calibri"/>
              </a:rPr>
              <a:t>its own test 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212848"/>
            <a:ext cx="140588" cy="292608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47413" y="223113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6AA8"/>
                </a:solidFill>
                <a:latin typeface="Consolas"/>
              </a:rPr>
              <a:t>1.23%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734056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51A21"/>
                </a:solidFill>
                <a:latin typeface="Calibri"/>
              </a:rPr>
              <a:t>another corpus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684"/>
                </a:solidFill>
                <a:latin typeface="Consolas"/>
              </a:rPr>
              <a:t>In-the-Wild, new speakers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724912"/>
            <a:ext cx="4246245" cy="292608"/>
          </a:xfrm>
          <a:prstGeom prst="rect">
            <a:avLst/>
          </a:prstGeom>
          <a:solidFill>
            <a:srgbClr val="B0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53069" y="2743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0392E"/>
                </a:solidFill>
                <a:latin typeface="Consolas"/>
              </a:rPr>
              <a:t>37.15%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461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51A21"/>
                </a:solidFill>
                <a:latin typeface="Calibri"/>
              </a:rPr>
              <a:t>2026 cloned voices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684"/>
                </a:solidFill>
                <a:latin typeface="Consolas"/>
              </a:rPr>
              <a:t>over a real VoIP call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3236976"/>
            <a:ext cx="5747004" cy="292608"/>
          </a:xfrm>
          <a:prstGeom prst="rect">
            <a:avLst/>
          </a:prstGeom>
          <a:solidFill>
            <a:srgbClr val="B0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64524" y="326440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50.28%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858768"/>
            <a:ext cx="10360152" cy="0"/>
          </a:xfrm>
          <a:prstGeom prst="line">
            <a:avLst/>
          </a:prstGeom>
          <a:ln w="12700">
            <a:solidFill>
              <a:srgbClr val="D0D6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3968496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A6AA8"/>
                </a:solidFill>
                <a:latin typeface="Calibri"/>
              </a:rPr>
              <a:t>same test, retrained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684"/>
                </a:solidFill>
                <a:latin typeface="Consolas"/>
              </a:rPr>
              <a:t>on modern voices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959352"/>
            <a:ext cx="664083" cy="292608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970907" y="39776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6AA8"/>
                </a:solidFill>
                <a:latin typeface="Consolas"/>
              </a:rPr>
              <a:t>5.81%</a:t>
            </a:r>
            <a:r>
              <a:rPr sz="1200" b="0" i="0">
                <a:solidFill>
                  <a:srgbClr val="6B7684"/>
                </a:solidFill>
                <a:latin typeface="Calibri"/>
              </a:rPr>
              <a:t>    the problem is fixable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60520" y="4389120"/>
            <a:ext cx="6858000" cy="0"/>
          </a:xfrm>
          <a:prstGeom prst="line">
            <a:avLst/>
          </a:prstGeom>
          <a:ln w="12700">
            <a:solidFill>
              <a:srgbClr val="D0D6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794759" y="444398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9259" y="444398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444398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38260" y="444398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45%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444398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60%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443984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684"/>
                </a:solidFill>
                <a:latin typeface="Consolas"/>
              </a:rPr>
              <a:t>equal error rate, lower is better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956048"/>
            <a:ext cx="10874959" cy="1024128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58368" y="4956048"/>
            <a:ext cx="32004" cy="1024128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32688" y="5138928"/>
            <a:ext cx="10344607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THE GAP IS THE TARGET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A detector at 1% and 37% has a 36-point gap. </a:t>
            </a:r>
            <a:r>
              <a:rPr sz="1400" b="1" i="0">
                <a:solidFill>
                  <a:srgbClr val="151A21"/>
                </a:solidFill>
                <a:latin typeface="Calibri"/>
              </a:rPr>
              <a:t>Closing that gap is the job.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 More ASVspoof data will not do it: 33.9% to 33.1%, because every split comes from the same recordings.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2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WHY IT COLLAPSES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The detector learns the </a:t>
            </a:r>
            <a:r>
              <a:rPr sz="3400" b="1" i="0">
                <a:solidFill>
                  <a:srgbClr val="B0392E"/>
                </a:solidFill>
                <a:latin typeface="Arial"/>
              </a:rPr>
              <a:t>dataset</a:t>
            </a:r>
            <a:r>
              <a:rPr sz="3400" b="1" i="0">
                <a:solidFill>
                  <a:srgbClr val="151A21"/>
                </a:solidFill>
                <a:latin typeface="Arial"/>
              </a:rPr>
              <a:t>, not the voice.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148840"/>
            <a:ext cx="3417722" cy="210312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96112" y="2350008"/>
            <a:ext cx="294223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SILENCE ALONE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3000" b="1" i="0">
                <a:solidFill>
                  <a:srgbClr val="B0392E"/>
                </a:solidFill>
                <a:latin typeface="Consolas"/>
              </a:rPr>
              <a:t>85%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C4551"/>
                </a:solidFill>
                <a:latin typeface="Calibri"/>
              </a:rPr>
              <a:t>Accuracy from a classifier given </a:t>
            </a:r>
            <a:r>
              <a:rPr sz="1300" b="1" i="0">
                <a:solidFill>
                  <a:srgbClr val="151A21"/>
                </a:solidFill>
                <a:latin typeface="Calibri"/>
              </a:rPr>
              <a:t>only the length of the opening silence</a:t>
            </a:r>
            <a:r>
              <a:rPr sz="1300" b="0" i="0">
                <a:solidFill>
                  <a:srgbClr val="3C4551"/>
                </a:solidFill>
                <a:latin typeface="Calibri"/>
              </a:rPr>
              <a:t>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684"/>
                </a:solidFill>
                <a:latin typeface="Consolas"/>
              </a:rPr>
              <a:t>Müller et 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6986" y="2148840"/>
            <a:ext cx="3417722" cy="210312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624730" y="2350008"/>
            <a:ext cx="294223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ATTACK ON SILENCE ONLY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3000" b="1" i="0">
                <a:solidFill>
                  <a:srgbClr val="B0392E"/>
                </a:solidFill>
                <a:latin typeface="Consolas"/>
              </a:rPr>
              <a:t>82.2%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C4551"/>
                </a:solidFill>
                <a:latin typeface="Calibri"/>
              </a:rPr>
              <a:t>Attack success from changing </a:t>
            </a:r>
            <a:r>
              <a:rPr sz="1300" b="1" i="0">
                <a:solidFill>
                  <a:srgbClr val="151A21"/>
                </a:solidFill>
                <a:latin typeface="Calibri"/>
              </a:rPr>
              <a:t>only the background noise and the silence</a:t>
            </a:r>
            <a:r>
              <a:rPr sz="1300" b="0" i="0">
                <a:solidFill>
                  <a:srgbClr val="3C4551"/>
                </a:solidFill>
                <a:latin typeface="Calibri"/>
              </a:rPr>
              <a:t>, never the voice.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684"/>
                </a:solidFill>
                <a:latin typeface="Consolas"/>
              </a:rPr>
              <a:t>SiFDetectCracker, ACM MM 2023</a:t>
            </a:r>
          </a:p>
        </p:txBody>
      </p:sp>
      <p:sp>
        <p:nvSpPr>
          <p:cNvPr id="8" name="Rectangle 7"/>
          <p:cNvSpPr/>
          <p:nvPr/>
        </p:nvSpPr>
        <p:spPr>
          <a:xfrm>
            <a:off x="8115604" y="2148840"/>
            <a:ext cx="3417722" cy="210312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353348" y="2350008"/>
            <a:ext cx="294223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WHERE IT LOOKS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3000" b="1" i="0">
                <a:solidFill>
                  <a:srgbClr val="B0392E"/>
                </a:solidFill>
                <a:latin typeface="Consolas"/>
              </a:rPr>
              <a:t>0.5–0.6 kHz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C4551"/>
                </a:solidFill>
                <a:latin typeface="Calibri"/>
              </a:rPr>
              <a:t>SHAP analysis: the model attends to </a:t>
            </a:r>
            <a:r>
              <a:rPr sz="1300" b="1" i="0">
                <a:solidFill>
                  <a:srgbClr val="151A21"/>
                </a:solidFill>
                <a:latin typeface="Calibri"/>
              </a:rPr>
              <a:t>the gaps between words</a:t>
            </a:r>
            <a:r>
              <a:rPr sz="1300" b="0" i="0">
                <a:solidFill>
                  <a:srgbClr val="3C4551"/>
                </a:solidFill>
                <a:latin typeface="Calibri"/>
              </a:rPr>
              <a:t> and one narrow low band.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684"/>
                </a:solidFill>
                <a:latin typeface="Consolas"/>
              </a:rPr>
              <a:t>arXiv:2110.03309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617720"/>
            <a:ext cx="10874959" cy="123444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4617720"/>
            <a:ext cx="32004" cy="1234440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4800600"/>
            <a:ext cx="10344607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WHICH TELLS US WHAT TO FIX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The model wins on things that belong to the corpus, not to the speech. </a:t>
            </a:r>
            <a:r>
              <a:rPr sz="1400" b="1" i="0">
                <a:solidFill>
                  <a:srgbClr val="151A21"/>
                </a:solidFill>
                <a:latin typeface="Calibri"/>
              </a:rPr>
              <a:t>All of them can be taken away during training.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2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THE SECOND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What survives a phone line?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63095" y="1965960"/>
            <a:ext cx="1815503" cy="1481328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036470" y="1965960"/>
            <a:ext cx="2210649" cy="1481328"/>
          </a:xfrm>
          <a:prstGeom prst="rect">
            <a:avLst/>
          </a:prstGeom>
          <a:solidFill>
            <a:srgbClr val="F7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702166" y="17373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6AA8"/>
                </a:solidFill>
                <a:latin typeface="Consolas"/>
              </a:rPr>
              <a:t>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53075" y="1737360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0392E"/>
                </a:solidFill>
                <a:latin typeface="Consolas"/>
              </a:rPr>
              <a:t>SYNTHESIS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39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51A21"/>
                </a:solidFill>
                <a:latin typeface="Calibri"/>
              </a:rPr>
              <a:t>Opus / WhatsApp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121408"/>
            <a:ext cx="8229600" cy="201168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8368" y="26243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51A21"/>
                </a:solidFill>
                <a:latin typeface="Calibri"/>
              </a:rPr>
              <a:t>AMR-WB / VoLTE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2606040"/>
            <a:ext cx="6787612" cy="201168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8368" y="3108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51A21"/>
                </a:solidFill>
                <a:latin typeface="Calibri"/>
              </a:rPr>
              <a:t>G.711 / GSM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78598" y="3090672"/>
            <a:ext cx="3334643" cy="201168"/>
          </a:xfrm>
          <a:prstGeom prst="rect">
            <a:avLst/>
          </a:prstGeom>
          <a:solidFill>
            <a:srgbClr val="B0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3017520" y="3474720"/>
            <a:ext cx="8229600" cy="0"/>
          </a:xfrm>
          <a:prstGeom prst="line">
            <a:avLst/>
          </a:prstGeom>
          <a:ln w="12700">
            <a:solidFill>
              <a:srgbClr val="D0D6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06039" y="352958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7118" y="352958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1761" y="352958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3.4k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3652" y="352958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7k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35640" y="352958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20k Hz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160520"/>
            <a:ext cx="10874959" cy="141732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4160520"/>
            <a:ext cx="32004" cy="1417320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343400"/>
            <a:ext cx="10344607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GOOD NEWS FOR THE DESIGN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A phone line throws away the top of the spectrum, where the synthesis artifact lives. But low-passing to the telephone band </a:t>
            </a:r>
            <a:r>
              <a:rPr sz="1400" b="1" i="0">
                <a:solidFill>
                  <a:srgbClr val="1A6AA8"/>
                </a:solidFill>
                <a:latin typeface="Calibri"/>
              </a:rPr>
              <a:t>improves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 codec robustness by about 25% relative, because the high bins are what overfit. And the </a:t>
            </a:r>
            <a:r>
              <a:rPr sz="1400" b="1" i="0">
                <a:solidFill>
                  <a:srgbClr val="1A6AA8"/>
                </a:solidFill>
                <a:latin typeface="Calibri"/>
              </a:rPr>
              <a:t>pitch band alone reaches 1.15% EER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. The band the phone keeps is a band we can build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3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OUR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How you build a detector that </a:t>
            </a:r>
            <a:r>
              <a:rPr sz="3400" b="1" i="0">
                <a:solidFill>
                  <a:srgbClr val="1A6AA8"/>
                </a:solidFill>
                <a:latin typeface="Arial"/>
              </a:rPr>
              <a:t>travels</a:t>
            </a:r>
            <a:r>
              <a:rPr sz="3400" b="1" i="0">
                <a:solidFill>
                  <a:srgbClr val="151A21"/>
                </a:solidFill>
                <a:latin typeface="Arial"/>
              </a:rPr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2103120"/>
          <a:ext cx="10872216" cy="3108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57600"/>
                <a:gridCol w="7214616"/>
              </a:tblGrid>
              <a:tr h="44413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B7684"/>
                          </a:solidFill>
                          <a:latin typeface="Consolas"/>
                        </a:rPr>
                        <a:t>DESIGN DECISION</a:t>
                      </a:r>
                    </a:p>
                  </a:txBody>
                  <a:tcPr marL="54864" marR="54864" marT="45720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B7684"/>
                          </a:solidFill>
                          <a:latin typeface="Consolas"/>
                        </a:rPr>
                        <a:t>WHY</a:t>
                      </a:r>
                    </a:p>
                  </a:txBody>
                  <a:tcPr marL="54864" marR="54864" marT="45720" marB="64008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51A21"/>
                          </a:solidFill>
                          <a:latin typeface="Calibri"/>
                        </a:rPr>
                        <a:t>Codec and channel augmentation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3C4551"/>
                          </a:solidFill>
                          <a:latin typeface="Calibri"/>
                        </a:rPr>
                        <a:t>Every top-5 system in ASVspoof 2021 used it. No counterexample.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51A21"/>
                          </a:solidFill>
                          <a:latin typeface="Calibri"/>
                        </a:rPr>
                        <a:t>Raw waveform or CQT, never mel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3C4551"/>
                          </a:solidFill>
                          <a:latin typeface="Calibri"/>
                        </a:rPr>
                        <a:t>Mel is 37% worse on average, all else equal. It throws away the resolution the task needs.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51A21"/>
                          </a:solidFill>
                          <a:latin typeface="Calibri"/>
                        </a:rPr>
                        <a:t>Silence masking, VAD-trimmed training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3C4551"/>
                          </a:solidFill>
                          <a:latin typeface="Calibri"/>
                        </a:rPr>
                        <a:t>Takes away the cue that carries 85% of the decision.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51A21"/>
                          </a:solidFill>
                          <a:latin typeface="Calibri"/>
                        </a:rPr>
                        <a:t>Low-pass to the telephone band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3C4551"/>
                          </a:solidFill>
                          <a:latin typeface="Calibri"/>
                        </a:rPr>
                        <a:t>Costs high frequencies, buys 25% relative EER under codec shift. We test it, not assume it.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51A21"/>
                          </a:solidFill>
                          <a:latin typeface="Calibri"/>
                        </a:rPr>
                        <a:t>SSL front-end (wav2vec2)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3C4551"/>
                          </a:solidFill>
                          <a:latin typeface="Calibri"/>
                        </a:rPr>
                        <a:t>The most robust under attack: 1.89% to 11.6%, where SSNET goes to 61.81%. Also the heaviest.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151A21"/>
                          </a:solidFill>
                          <a:latin typeface="Calibri"/>
                        </a:rPr>
                        <a:t>One-class objective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3C4551"/>
                          </a:solidFill>
                          <a:latin typeface="Calibri"/>
                        </a:rPr>
                        <a:t>Learns what real speech is, instead of which attacks we happened to see.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6144768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684"/>
                </a:solidFill>
                <a:latin typeface="Calibri"/>
              </a:rPr>
              <a:t>None of these is new on its own. The work is making them hold against both shifts at once, corpus and channel.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3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HOW WE MEASURE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The only number that matters is the </a:t>
            </a:r>
            <a:r>
              <a:rPr sz="3400" b="1" i="0">
                <a:solidFill>
                  <a:srgbClr val="1A6AA8"/>
                </a:solidFill>
                <a:latin typeface="Arial"/>
              </a:rPr>
              <a:t>gap</a:t>
            </a:r>
            <a:r>
              <a:rPr sz="3400" b="1" i="0">
                <a:solidFill>
                  <a:srgbClr val="151A21"/>
                </a:solidFill>
                <a:latin typeface="Arial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148840"/>
            <a:ext cx="5282031" cy="21488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96112" y="2350008"/>
            <a:ext cx="4806543" cy="1746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TRAIN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151A21"/>
                </a:solidFill>
                <a:latin typeface="Calibri"/>
              </a:rPr>
              <a:t>ASVspoof 2019 LA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, clean, with our augmentation on top. 25,380 utterances.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We hold out one attack family, so unseen attacks are measured before we touch another corpus.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1295" y="2148840"/>
            <a:ext cx="5282031" cy="21488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89039" y="2350008"/>
            <a:ext cx="4806543" cy="1746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TEST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151A21"/>
                </a:solidFill>
                <a:latin typeface="Calibri"/>
              </a:rPr>
              <a:t>ASVspoof 2021 LA 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for the channel. Real VoIP and PSTN, seven codecs, </a:t>
            </a:r>
            <a:r>
              <a:rPr sz="1350" b="1" i="0">
                <a:solidFill>
                  <a:srgbClr val="151A21"/>
                </a:solidFill>
                <a:latin typeface="Consolas"/>
              </a:rPr>
              <a:t>25,938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 trials each.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1A21"/>
                </a:solidFill>
                <a:latin typeface="Calibri"/>
              </a:rPr>
              <a:t>In-the-Wild 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for the corpus. New speakers, new attacks, new recordings. 31,779 clips.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4526280"/>
            <a:ext cx="10874959" cy="1298448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58368" y="4526280"/>
            <a:ext cx="32004" cy="1298448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4709160"/>
            <a:ext cx="10344607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OUR HEADLINE METRIC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51A21"/>
                </a:solidFill>
                <a:latin typeface="Consolas"/>
              </a:rPr>
              <a:t>gap  =  out-of-domain EER  −  in-domain EER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
A detector at 1% and 37% has a 36-point gap. We report all three, per codec and per corpus, never averaged together. The gap is what we optimise.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4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WHERE IT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An app on the callee's phone.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148840"/>
            <a:ext cx="5282031" cy="210312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96112" y="2350008"/>
            <a:ext cx="480654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WHAT THE SETTING GIVES US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151A21"/>
                </a:solidFill>
                <a:latin typeface="Calibri"/>
              </a:rPr>
              <a:t>A workable budget. 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A person reads the alarm and needs seconds to react, not 200 milliseconds.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1A21"/>
                </a:solidFill>
                <a:latin typeface="Calibri"/>
              </a:rPr>
              <a:t>False alarms cost more than misses. 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An app that cries wolf gets deleted. That sets where we sit on the curve.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1295" y="2148840"/>
            <a:ext cx="5282031" cy="2103120"/>
          </a:xfrm>
          <a:prstGeom prst="rect">
            <a:avLst/>
          </a:prstGeom>
          <a:solidFill>
            <a:srgbClr val="F1F3F6"/>
          </a:solidFill>
          <a:ln w="15875">
            <a:solidFill>
              <a:srgbClr val="B039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89039" y="2350008"/>
            <a:ext cx="480654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B0392E"/>
                </a:solidFill>
                <a:latin typeface="Consolas"/>
              </a:rPr>
              <a:t>WHAT WE MUST NOT HIDE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151A21"/>
                </a:solidFill>
                <a:latin typeface="Calibri"/>
              </a:rPr>
              <a:t>Android will not hand call audio to a third-party app. 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VOICE_CALL has needed privileged access since Android 10. iOS is closed.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So we capture through the speaker and the microphone. That adds a room to the signal: </a:t>
            </a:r>
            <a:r>
              <a:rPr sz="1350" b="1" i="0">
                <a:solidFill>
                  <a:srgbClr val="B0392E"/>
                </a:solidFill>
                <a:latin typeface="Consolas"/>
              </a:rPr>
              <a:t>4.7% to 18.2%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 EER under replay.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4480560"/>
            <a:ext cx="10874959" cy="1298448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58368" y="4480560"/>
            <a:ext cx="32004" cy="1298448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4663440"/>
            <a:ext cx="10344607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SO WE TRAIN AGAINST IT TOO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Re-capture is a third shift, next to corpus and channel, and it is the one a real deployment forces on us. </a:t>
            </a:r>
            <a:r>
              <a:rPr sz="1400" b="1" i="0">
                <a:solidFill>
                  <a:srgbClr val="1A6AA8"/>
                </a:solidFill>
                <a:latin typeface="Calibri"/>
              </a:rPr>
              <a:t>It goes in the augmentation stack, not the limitations section.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4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DECIDING DURING THE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One window is not a decision.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103120"/>
            <a:ext cx="10874959" cy="1051560"/>
          </a:xfrm>
          <a:prstGeom prst="rect">
            <a:avLst/>
          </a:prstGeom>
          <a:solidFill>
            <a:srgbClr val="F7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03120"/>
            <a:ext cx="32004" cy="1051560"/>
          </a:xfrm>
          <a:prstGeom prst="rect">
            <a:avLst/>
          </a:prstGeom>
          <a:solidFill>
            <a:srgbClr val="B0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10344607" cy="685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THE TRAP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Alarm whenever one window crosses a threshold, at 5% per window and 2-second windows, and a </a:t>
            </a:r>
            <a:r>
              <a:rPr sz="1400" b="1" i="0">
                <a:solidFill>
                  <a:srgbClr val="B0392E"/>
                </a:solidFill>
                <a:latin typeface="Calibri"/>
              </a:rPr>
              <a:t>60-second call false-alarms 79% of the time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. Per-window error is the wrong number to report.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401568"/>
            <a:ext cx="5282031" cy="2240280"/>
          </a:xfrm>
          <a:prstGeom prst="rect">
            <a:avLst/>
          </a:prstGeom>
          <a:solidFill>
            <a:srgbClr val="F1F3F6"/>
          </a:solidFill>
          <a:ln w="15875">
            <a:solidFill>
              <a:srgbClr val="9E67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96112" y="3602736"/>
            <a:ext cx="4806543" cy="183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9E6712"/>
                </a:solidFill>
                <a:latin typeface="Consolas"/>
              </a:rPr>
              <a:t>HOW WE DECIDE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 i="0">
                <a:solidFill>
                  <a:srgbClr val="151A21"/>
                </a:solidFill>
                <a:latin typeface="Arial"/>
              </a:rPr>
              <a:t>Add the evidence up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3C4551"/>
                </a:solidFill>
                <a:latin typeface="Calibri"/>
              </a:rPr>
              <a:t>Accumulate a likelihood ratio across windows and alarm when it crosses a boundary. Wald's sequential test, with separate raise and clear thresholds and a three-second floor.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1A21"/>
                </a:solidFill>
                <a:latin typeface="Calibri"/>
              </a:rPr>
              <a:t>The decision arrives as soon as the evidence is enough, which is what real-time means here.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1295" y="3401568"/>
            <a:ext cx="5282031" cy="224028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89039" y="3602736"/>
            <a:ext cx="4806543" cy="183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WHAT WE REPORT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 i="0">
                <a:solidFill>
                  <a:srgbClr val="151A21"/>
                </a:solidFill>
                <a:latin typeface="Arial"/>
              </a:rPr>
              <a:t>Three numbers, always together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51A21"/>
                </a:solidFill>
                <a:latin typeface="Calibri"/>
              </a:rPr>
              <a:t>False alarms per call-minute</a:t>
            </a:r>
            <a:r>
              <a:rPr sz="1250" b="0" i="0">
                <a:solidFill>
                  <a:srgbClr val="3C4551"/>
                </a:solidFill>
                <a:latin typeface="Calibri"/>
              </a:rPr>
              <a:t>, which is the unit that exposes the trap above.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51A21"/>
                </a:solidFill>
                <a:latin typeface="Calibri"/>
              </a:rPr>
              <a:t>Detection rate</a:t>
            </a:r>
            <a:r>
              <a:rPr sz="1250" b="0" i="0">
                <a:solidFill>
                  <a:srgbClr val="3C4551"/>
                </a:solidFill>
                <a:latin typeface="Calibri"/>
              </a:rPr>
              <a:t> at that operating point.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1A21"/>
                </a:solidFill>
                <a:latin typeface="Calibri"/>
              </a:rPr>
              <a:t>Time to detection</a:t>
            </a:r>
            <a:r>
              <a:rPr sz="1250" b="0" i="0">
                <a:solidFill>
                  <a:srgbClr val="3C4551"/>
                </a:solidFill>
                <a:latin typeface="Calibri"/>
              </a:rPr>
              <a:t>, and milliseconds per window on the phone.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4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THE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What we will build.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887" y="2148840"/>
            <a:ext cx="1645920" cy="1325880"/>
          </a:xfrm>
          <a:prstGeom prst="rect">
            <a:avLst/>
          </a:prstGeom>
          <a:solidFill>
            <a:srgbClr val="F1F3F6"/>
          </a:solidFill>
          <a:ln w="12700">
            <a:solidFill>
              <a:srgbClr val="E2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47191" y="2295144"/>
            <a:ext cx="13533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6B7684"/>
                </a:solidFill>
                <a:latin typeface="Consolas"/>
              </a:rPr>
              <a:t>TRAIN</a:t>
            </a:r>
          </a:p>
          <a:p>
            <a:pPr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51A21"/>
                </a:solidFill>
                <a:latin typeface="Calibri"/>
              </a:rPr>
              <a:t>ASVspoof 2019 LA, clean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6807" y="26791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0D6DE"/>
                </a:solidFill>
                <a:latin typeface="Calibr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9687" y="2148840"/>
            <a:ext cx="164592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9E67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675991" y="2295144"/>
            <a:ext cx="13533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E6712"/>
                </a:solidFill>
                <a:latin typeface="Consolas"/>
              </a:rPr>
              <a:t>OURS</a:t>
            </a:r>
          </a:p>
          <a:p>
            <a:pPr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51A21"/>
                </a:solidFill>
                <a:latin typeface="Calibri"/>
              </a:rPr>
              <a:t>Augmentation: codec, silence, noise, room, re-capture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5607" y="26791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0D6DE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8487" y="2148840"/>
            <a:ext cx="1645920" cy="1325880"/>
          </a:xfrm>
          <a:prstGeom prst="rect">
            <a:avLst/>
          </a:prstGeom>
          <a:solidFill>
            <a:srgbClr val="F1F3F6"/>
          </a:solidFill>
          <a:ln w="12700">
            <a:solidFill>
              <a:srgbClr val="E2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04791" y="2295144"/>
            <a:ext cx="13533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6B7684"/>
                </a:solidFill>
                <a:latin typeface="Consolas"/>
              </a:rPr>
              <a:t>FRONT-END</a:t>
            </a:r>
          </a:p>
          <a:p>
            <a:pPr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51A21"/>
                </a:solidFill>
                <a:latin typeface="Calibri"/>
              </a:rPr>
              <a:t>Raw waveform or CQT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4407" y="26791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0D6DE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2148840"/>
            <a:ext cx="164592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9E67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33591" y="2295144"/>
            <a:ext cx="13533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E6712"/>
                </a:solidFill>
                <a:latin typeface="Consolas"/>
              </a:rPr>
              <a:t>DETECTOR</a:t>
            </a:r>
          </a:p>
          <a:p>
            <a:pPr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51A21"/>
                </a:solidFill>
                <a:latin typeface="Calibri"/>
              </a:rPr>
              <a:t>RawNet2, then AASIST, SSL, one-class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3207" y="26791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0D6DE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6087" y="2148840"/>
            <a:ext cx="164592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9E67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62391" y="2295144"/>
            <a:ext cx="13533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E6712"/>
                </a:solidFill>
                <a:latin typeface="Consolas"/>
              </a:rPr>
              <a:t>DECISION</a:t>
            </a:r>
          </a:p>
          <a:p>
            <a:pPr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51A21"/>
                </a:solidFill>
                <a:latin typeface="Calibri"/>
              </a:rPr>
              <a:t>Evidence accumulated over windows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2007" y="26791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0D6DE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44887" y="2148840"/>
            <a:ext cx="1645920" cy="1325880"/>
          </a:xfrm>
          <a:prstGeom prst="rect">
            <a:avLst/>
          </a:prstGeom>
          <a:solidFill>
            <a:srgbClr val="F1F3F6"/>
          </a:solidFill>
          <a:ln w="12700">
            <a:solidFill>
              <a:srgbClr val="E2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91191" y="2295144"/>
            <a:ext cx="13533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6B7684"/>
                </a:solidFill>
                <a:latin typeface="Consolas"/>
              </a:rPr>
              <a:t>OUTPUT</a:t>
            </a:r>
          </a:p>
          <a:p>
            <a:pPr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51A21"/>
                </a:solidFill>
                <a:latin typeface="Calibri"/>
              </a:rPr>
              <a:t>A risk score, not a verdict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794760"/>
            <a:ext cx="5282031" cy="178308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6112" y="3995928"/>
            <a:ext cx="4806543" cy="1380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WHAT WE SWEEP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51A21"/>
                </a:solidFill>
                <a:latin typeface="Calibri"/>
              </a:rPr>
              <a:t>Bandwidth: </a:t>
            </a:r>
            <a:r>
              <a:rPr sz="1300" b="0" i="0">
                <a:solidFill>
                  <a:srgbClr val="3C4551"/>
                </a:solidFill>
                <a:latin typeface="Calibri"/>
              </a:rPr>
              <a:t>clean 16k, G.722, Opus, a-law, μ-law, GSM, and </a:t>
            </a:r>
            <a:r>
              <a:rPr sz="1300" b="1" i="0">
                <a:solidFill>
                  <a:srgbClr val="151A21"/>
                </a:solidFill>
                <a:latin typeface="Calibri"/>
              </a:rPr>
              <a:t>AMR</a:t>
            </a:r>
            <a:r>
              <a:rPr sz="1300" b="0" i="0">
                <a:solidFill>
                  <a:srgbClr val="3C4551"/>
                </a:solidFill>
                <a:latin typeface="Calibri"/>
              </a:rPr>
              <a:t>, which no ASVspoof edition covers and which is what mobile calls actually use.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51A21"/>
                </a:solidFill>
                <a:latin typeface="Calibri"/>
              </a:rPr>
              <a:t>Window length: </a:t>
            </a:r>
            <a:r>
              <a:rPr sz="1300" b="0" i="0">
                <a:solidFill>
                  <a:srgbClr val="3C4551"/>
                </a:solidFill>
                <a:latin typeface="Calibri"/>
              </a:rPr>
              <a:t>full, 4 s, 2 s, 1 s. Accuracy against latency.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3794760"/>
            <a:ext cx="5282031" cy="178308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89039" y="3995928"/>
            <a:ext cx="4806543" cy="1380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NEVER IN TRAINING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3C4551"/>
                </a:solidFill>
                <a:latin typeface="Calibri"/>
              </a:rPr>
              <a:t>In-the-Wild, the held-out attack family, and a small probe of modern cloned voices built from our own consented recordings.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51A21"/>
                </a:solidFill>
                <a:latin typeface="Calibri"/>
              </a:rPr>
              <a:t>Reported per generator, never pooled.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144768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684"/>
                </a:solidFill>
                <a:latin typeface="Calibri"/>
              </a:rPr>
              <a:t>Every codec is already in the ffmpeg build on our machine, and 2021 LA ships the codec label per trial. The sweep costs us no setup.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4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What success looks like.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148840"/>
            <a:ext cx="5282031" cy="2240280"/>
          </a:xfrm>
          <a:prstGeom prst="rect">
            <a:avLst/>
          </a:prstGeom>
          <a:solidFill>
            <a:srgbClr val="F1F3F6"/>
          </a:solidFill>
          <a:ln w="15875">
            <a:solidFill>
              <a:srgbClr val="1A6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96112" y="2350008"/>
            <a:ext cx="4806543" cy="183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1A6AA8"/>
                </a:solidFill>
                <a:latin typeface="Consolas"/>
              </a:rPr>
              <a:t>THE TARGET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An </a:t>
            </a:r>
            <a:r>
              <a:rPr sz="1350" b="1" i="0">
                <a:solidFill>
                  <a:srgbClr val="151A21"/>
                </a:solidFill>
                <a:latin typeface="Calibri"/>
              </a:rPr>
              <a:t>out-of-domain EER well below the 34 to 37%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 the literature reports on the same held-out data.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A gap we </a:t>
            </a:r>
            <a:r>
              <a:rPr sz="1350" b="1" i="0">
                <a:solidFill>
                  <a:srgbClr val="151A21"/>
                </a:solidFill>
                <a:latin typeface="Calibri"/>
              </a:rPr>
              <a:t>reduced and can attribute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. Which decision bought how much.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A decision </a:t>
            </a:r>
            <a:r>
              <a:rPr sz="1350" b="1" i="0">
                <a:solidFill>
                  <a:srgbClr val="151A21"/>
                </a:solidFill>
                <a:latin typeface="Calibri"/>
              </a:rPr>
              <a:t>within seconds of speech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, on the phone, with the cost of every window length measured.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1295" y="2148840"/>
            <a:ext cx="5282031" cy="224028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89039" y="2350008"/>
            <a:ext cx="4806543" cy="183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WHAT WE WILL NOT DO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Quote one in-domain number as if it described the field.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Average across corpora or codecs to make a result look better.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Say the problem is solved. A smaller gap is not a closed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4617720"/>
            <a:ext cx="10874959" cy="123444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58368" y="4617720"/>
            <a:ext cx="32004" cy="1234440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4800600"/>
            <a:ext cx="10344607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THE POSITION WE WILL DEFEND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A detector that travels is worth more than a detector that scores well. </a:t>
            </a:r>
            <a:r>
              <a:rPr sz="1400" b="1" i="0">
                <a:solidFill>
                  <a:srgbClr val="1A6AA8"/>
                </a:solidFill>
                <a:latin typeface="Calibri"/>
              </a:rPr>
              <a:t>We are optimising the number that survives a change of dataset.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