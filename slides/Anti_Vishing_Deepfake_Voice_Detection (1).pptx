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Target ms</c:v>
                </c:pt>
              </c:strCache>
            </c:strRef>
          </c:tx>
          <c:spPr>
            <a:solidFill>
              <a:srgbClr val="1E2761"/>
            </a:solidFill>
            <a:effectLst/>
          </c:spPr>
          <c:invertIfNegative val="0"/>
          <c:dLbls>
            <c:numFmt formatCode="#,##0" sourceLinked="0"/>
            <c:txPr>
              <a:bodyPr/>
              <a:lstStyle/>
              <a:p>
                <a:pPr>
                  <a:defRPr b="0" i="0" strike="noStrike" sz="1100" u="none">
                    <a:solidFill>
                      <a:srgbClr val="1B1F3B"/>
                    </a:solidFill>
                    <a:latin typeface="Arial"/>
                  </a:defRPr>
                </a:pPr>
              </a:p>
            </c:txPr>
            <c:showLegendKey val="0"/>
            <c:showVal val="1"/>
            <c:showCatName val="0"/>
            <c:showSerName val="0"/>
            <c:showPercent val="0"/>
            <c:showBubbleSize val="0"/>
            <c:showLeaderLines val="0"/>
          </c:dLbls>
          <c:cat>
            <c:multiLvlStrRef>
              <c:f>Sheet1!$A$2:$A$5</c:f>
              <c:multiLvlStrCache>
                <c:ptCount val="4"/>
                <c:lvl>
                  <c:pt idx="0">
                    <c:v>Feature
extraction</c:v>
                  </c:pt>
                  <c:pt idx="1">
                    <c:v>Backbone
inference</c:v>
                  </c:pt>
                  <c:pt idx="2">
                    <c:v>Head +
fusion</c:v>
                  </c:pt>
                  <c:pt idx="3">
                    <c:v>Network /
buffer</c:v>
                  </c:pt>
                </c:lvl>
              </c:multiLvlStrCache>
            </c:multiLvlStrRef>
          </c:cat>
          <c:val>
            <c:numRef>
              <c:f>Sheet1!$B$2:$B$5</c:f>
              <c:numCache>
                <c:formatCode>General</c:formatCode>
                <c:ptCount val="4"/>
                <c:pt idx="0">
                  <c:v>60</c:v>
                </c:pt>
                <c:pt idx="1">
                  <c:v>90</c:v>
                </c:pt>
                <c:pt idx="2">
                  <c:v>20</c:v>
                </c:pt>
                <c:pt idx="3">
                  <c:v>30</c:v>
                </c:pt>
              </c:numCache>
            </c:numRef>
          </c:val>
        </c:ser>
        <c:dLbls>
          <c:numFmt formatCode="#,##0" sourceLinked="0"/>
          <c:txPr>
            <a:bodyPr/>
            <a:lstStyle/>
            <a:p>
              <a:pPr>
                <a:defRPr b="0" i="0" strike="noStrike" sz="1100" u="none">
                  <a:solidFill>
                    <a:srgbClr val="1B1F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4506B"/>
                </a:solidFill>
                <a:latin typeface="Arial"/>
              </a:defRPr>
            </a:pPr>
            <a:endParaRPr lang="en-US"/>
          </a:p>
        </c:txPr>
        <c:crossAx val="2094734552"/>
        <c:crosses val="autoZero"/>
        <c:auto val="1"/>
        <c:lblAlgn val="ctr"/>
        <c:noMultiLvlLbl val="1"/>
      </c:catAx>
      <c:valAx>
        <c:axId val="2094734552"/>
        <c:scaling>
          <c:orientation val="minMax"/>
          <c:max val="110"/>
        </c:scaling>
        <c:delete val="0"/>
        <c:axPos val="l"/>
        <c:majorGridlines>
          <c:spPr>
            <a:ln w="12700" cap="flat">
              <a:solidFill>
                <a:srgbClr val="E5E9F5"/>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792A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framing: this is a proposal for a real-time Presentation Attack Detection (PAD) system that plugs into voice authentication and call-center defenses against AI-cloned voices. Two-day sprint, presenting findings and proposed solution to the panel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stakes before the solution: cloning is cheap now, static detectors don't generalize to generators they weren't trained on (this is the central finding we're designing against), and the attack surface is the authentication moment itself -- so false negatives are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brief in our own words so the panel knows we understood the ask: robust + generalized PAD model, real-time capable, 2-day timeframe, 20-minute readout. The italic line is our own success criterion, sharper than the brief -- generalization to unseen generators is the real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decision in the deck. Traditional detectors overfit to known vocoders; SSL foundation models generalize better across generators and even across languages without language-specific tuning. Everything downstream -- architecture, evaluation protocol -- follows from this 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streaming audio in, dual feature extraction (SSL embeddings plus handcrafted spectral/pitch cues so we're not solely dependent on the backbone), a lightweight attention head kept small on purpose for latency, and a continuously-updated trust score. The callout box is the hook into the next slide -- this score isn't the end of the pipeline, it's an input to a bigger decision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'operational feasibility' requirement from the brief directly. Four levers: streaming windows instead of whole-call batch processing, compression to hit latency, training on degraded/codec/narrowband audio because real vishing calls are never studio-clean, and an edge/cloud split so the perceived latency stays low even though the full model runs heavier analysis asynchronously.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'reducing dangers associated with multi-layer phishing assaults' part of the brief. Our voice PAD is layer 1 -- necessary but not sufficient. Layer 2 adds call-metadata and behavioral context. Layer 3 is where the adaptive decision actually gets made: a borderline voice score plus high-risk context can still trigger step-up authentication even if neither signal alone crosses a hard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must prove generalization, not just accuracy: EER/min t-DCF on held-out splits, leave-one-generator-out for cross-generator robustness, and a stretch cross-lingual check. The latency chart on the right shows our engineering target -- ~200ms per chunk split across the pipeline stages from slide 5-6, which is what makes real-time integration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the panel this is a realistic two-day plan, not hand-waving. Day 1 gets a working generalization-tested baseline; Day 2 is where it becomes real-time and gets wired into the multi-layer story, leaving real time to rehearse before this exact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 it builds credibility with an expert panel. None of these are fatal to the approach; they're the honest boundary of what a 2-day sprint can prove versus what a production rollout would need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Be ready to defend: (1) why foundation models over training from scratch, (2) how the ~200ms latency target holds up under real degraded-channel audio, (3) how the trust score actually gets consumed by the multi-layer fusion layer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home/claude/deck/icons/shield_1E2761.png">    </p:cNvPr>
          <p:cNvPicPr>
            <a:picLocks noChangeAspect="1"/>
          </p:cNvPicPr>
          <p:nvPr/>
        </p:nvPicPr>
        <p:blipFill>
          <a:blip r:embed="rId1">
            <a:alphaModFix amt="45000"/>
          </a:blip>
          <a:stretch>
            <a:fillRect/>
          </a:stretch>
        </p:blipFill>
        <p:spPr>
          <a:xfrm>
            <a:off x="8778240" y="4023360"/>
            <a:ext cx="3291840" cy="3291840"/>
          </a:xfrm>
          <a:prstGeom prst="rect">
            <a:avLst/>
          </a:prstGeom>
        </p:spPr>
      </p:pic>
      <p:pic>
        <p:nvPicPr>
          <p:cNvPr id="3" name="Image 1" descr="/home/claude/deck/icons/shield_CADCFC.png">    </p:cNvPr>
          <p:cNvPicPr>
            <a:picLocks noChangeAspect="1"/>
          </p:cNvPicPr>
          <p:nvPr/>
        </p:nvPicPr>
        <p:blipFill>
          <a:blip r:embed="rId2">
            <a:alphaModFix amt="22000"/>
          </a:blip>
          <a:stretch>
            <a:fillRect/>
          </a:stretch>
        </p:blipFill>
        <p:spPr>
          <a:xfrm>
            <a:off x="9052560" y="1005840"/>
            <a:ext cx="2377440" cy="2377440"/>
          </a:xfrm>
          <a:prstGeom prst="rect">
            <a:avLst/>
          </a:prstGeom>
        </p:spPr>
      </p:pic>
      <p:sp>
        <p:nvSpPr>
          <p:cNvPr id="4" name="Text 0"/>
          <p:cNvSpPr txBox="1"/>
          <p:nvPr/>
        </p:nvSpPr>
        <p:spPr>
          <a:xfrm>
            <a:off x="640080" y="1371600"/>
            <a:ext cx="9144000" cy="32004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VISHING CHALLENGE  ·  PRESENTATION ATTACK DETECTION</a:t>
            </a:r>
            <a:endParaRPr lang="en-US" sz="1300" dirty="0"/>
          </a:p>
        </p:txBody>
      </p:sp>
      <p:sp>
        <p:nvSpPr>
          <p:cNvPr id="5" name="Text 1"/>
          <p:cNvSpPr txBox="1"/>
          <p:nvPr/>
        </p:nvSpPr>
        <p:spPr>
          <a:xfrm>
            <a:off x="594360" y="1828800"/>
            <a:ext cx="9875520" cy="192024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Deepfake Voice Detection</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for Anti-Vishing Systems</a:t>
            </a:r>
            <a:endParaRPr lang="en-US" sz="4200" dirty="0"/>
          </a:p>
        </p:txBody>
      </p:sp>
      <p:sp>
        <p:nvSpPr>
          <p:cNvPr id="6" name="Text 2"/>
          <p:cNvSpPr txBox="1"/>
          <p:nvPr/>
        </p:nvSpPr>
        <p:spPr>
          <a:xfrm>
            <a:off x="640080" y="3794760"/>
            <a:ext cx="8412480" cy="822960"/>
          </a:xfrm>
          <a:prstGeom prst="rect">
            <a:avLst/>
          </a:prstGeom>
          <a:noFill/>
          <a:ln/>
        </p:spPr>
        <p:txBody>
          <a:bodyPr wrap="square" lIns="0" tIns="0" rIns="0" bIns="0"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A real-time, generalizable Presentation Attack Detection architecture</a:t>
            </a:r>
            <a:endParaRPr lang="en-US" sz="1600" dirty="0"/>
          </a:p>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for voice authentication and multi-layer phishing defense</a:t>
            </a:r>
            <a:endParaRPr lang="en-US" sz="1600" dirty="0"/>
          </a:p>
        </p:txBody>
      </p:sp>
      <p:sp>
        <p:nvSpPr>
          <p:cNvPr id="7" name="Shape 3"/>
          <p:cNvSpPr/>
          <p:nvPr/>
        </p:nvSpPr>
        <p:spPr>
          <a:xfrm>
            <a:off x="640080" y="4892040"/>
            <a:ext cx="2011680" cy="0"/>
          </a:xfrm>
          <a:prstGeom prst="line">
            <a:avLst/>
          </a:prstGeom>
          <a:noFill/>
          <a:ln w="31750">
            <a:solidFill>
              <a:srgbClr val="E94F37"/>
            </a:solidFill>
            <a:prstDash val="solid"/>
          </a:ln>
        </p:spPr>
      </p:sp>
      <p:sp>
        <p:nvSpPr>
          <p:cNvPr id="8" name="Text 4"/>
          <p:cNvSpPr txBox="1"/>
          <p:nvPr/>
        </p:nvSpPr>
        <p:spPr>
          <a:xfrm>
            <a:off x="640080" y="5074920"/>
            <a:ext cx="7315200" cy="320040"/>
          </a:xfrm>
          <a:prstGeom prst="rect">
            <a:avLst/>
          </a:prstGeom>
          <a:noFill/>
          <a:ln/>
        </p:spPr>
        <p:txBody>
          <a:bodyPr wrap="square" lIns="0" tIns="0" rIns="0" bIns="0" rtlCol="0" anchor="ctr"/>
          <a:lstStyle/>
          <a:p>
            <a:pPr indent="0" marL="0">
              <a:buNone/>
            </a:pPr>
            <a:r>
              <a:rPr lang="en-US" sz="1200" dirty="0">
                <a:solidFill>
                  <a:srgbClr val="8792AC"/>
                </a:solidFill>
                <a:latin typeface="Calibri" pitchFamily="34" charset="0"/>
                <a:ea typeface="Calibri" pitchFamily="34" charset="-122"/>
                <a:cs typeface="Calibri" pitchFamily="34" charset="-120"/>
              </a:rPr>
              <a:t>Solution Proposal  ·  2-Day Sprint  ·  Panel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Voice cloning has outpaced voice defense</a:t>
            </a:r>
            <a:endParaRPr lang="en-US" sz="3000" dirty="0"/>
          </a:p>
        </p:txBody>
      </p:sp>
      <p:sp>
        <p:nvSpPr>
          <p:cNvPr id="4" name="Shape 2"/>
          <p:cNvSpPr/>
          <p:nvPr/>
        </p:nvSpPr>
        <p:spPr>
          <a:xfrm>
            <a:off x="548640" y="1600200"/>
            <a:ext cx="685800" cy="685800"/>
          </a:xfrm>
          <a:prstGeom prst="ellipse">
            <a:avLst/>
          </a:prstGeom>
          <a:solidFill>
            <a:srgbClr val="1E2761"/>
          </a:solidFill>
          <a:ln/>
        </p:spPr>
      </p:sp>
      <p:pic>
        <p:nvPicPr>
          <p:cNvPr id="5" name="Image 0" descr="/home/claude/deck/icons/mic_FFFFFF.png">    </p:cNvPr>
          <p:cNvPicPr>
            <a:picLocks noChangeAspect="1"/>
          </p:cNvPicPr>
          <p:nvPr/>
        </p:nvPicPr>
        <p:blipFill>
          <a:blip r:embed="rId1"/>
          <a:stretch>
            <a:fillRect/>
          </a:stretch>
        </p:blipFill>
        <p:spPr>
          <a:xfrm>
            <a:off x="708660" y="1760220"/>
            <a:ext cx="365760" cy="365760"/>
          </a:xfrm>
          <a:prstGeom prst="rect">
            <a:avLst/>
          </a:prstGeom>
        </p:spPr>
      </p:pic>
      <p:sp>
        <p:nvSpPr>
          <p:cNvPr id="6" name="Text 3"/>
          <p:cNvSpPr txBox="1"/>
          <p:nvPr/>
        </p:nvSpPr>
        <p:spPr>
          <a:xfrm>
            <a:off x="1463040" y="1554480"/>
            <a:ext cx="9875520" cy="365760"/>
          </a:xfrm>
          <a:prstGeom prst="rect">
            <a:avLst/>
          </a:prstGeom>
          <a:noFill/>
          <a:ln/>
        </p:spPr>
        <p:txBody>
          <a:bodyPr wrap="square" lIns="0" tIns="0" rIns="0" bIns="0" rtlCol="0" anchor="ctr"/>
          <a:lstStyle/>
          <a:p>
            <a:pPr indent="0" marL="0">
              <a:buNone/>
            </a:pPr>
            <a:r>
              <a:rPr lang="en-US" sz="1700" b="1" dirty="0">
                <a:solidFill>
                  <a:srgbClr val="1B1F3B"/>
                </a:solidFill>
                <a:latin typeface="Calibri" pitchFamily="34" charset="0"/>
                <a:ea typeface="Calibri" pitchFamily="34" charset="-122"/>
                <a:cs typeface="Calibri" pitchFamily="34" charset="-120"/>
              </a:rPr>
              <a:t>Cloning is now trivial</a:t>
            </a:r>
            <a:endParaRPr lang="en-US" sz="1700" dirty="0"/>
          </a:p>
        </p:txBody>
      </p:sp>
      <p:sp>
        <p:nvSpPr>
          <p:cNvPr id="7" name="Text 4"/>
          <p:cNvSpPr txBox="1"/>
          <p:nvPr/>
        </p:nvSpPr>
        <p:spPr>
          <a:xfrm>
            <a:off x="1463040" y="1920240"/>
            <a:ext cx="9875520" cy="640080"/>
          </a:xfrm>
          <a:prstGeom prst="rect">
            <a:avLst/>
          </a:prstGeom>
          <a:noFill/>
          <a:ln/>
        </p:spPr>
        <p:txBody>
          <a:bodyPr wrap="square" lIns="0" tIns="0" rIns="0" bIns="0" rtlCol="0" anchor="ctr"/>
          <a:lstStyle/>
          <a:p>
            <a:pPr indent="0" marL="0">
              <a:lnSpc>
                <a:spcPct val="125000"/>
              </a:lnSpc>
              <a:buNone/>
            </a:pPr>
            <a:r>
              <a:rPr lang="en-US" sz="1300" dirty="0">
                <a:solidFill>
                  <a:srgbClr val="44506B"/>
                </a:solidFill>
                <a:latin typeface="Calibri" pitchFamily="34" charset="0"/>
                <a:ea typeface="Calibri" pitchFamily="34" charset="-122"/>
                <a:cs typeface="Calibri" pitchFamily="34" charset="-120"/>
              </a:rPr>
              <a:t>Modern TTS and voice-conversion models synthesize realistic speech from a few minutes of source audio, lowering the bar for impersonation attacks.</a:t>
            </a:r>
            <a:endParaRPr lang="en-US" sz="1300" dirty="0"/>
          </a:p>
        </p:txBody>
      </p:sp>
      <p:sp>
        <p:nvSpPr>
          <p:cNvPr id="8" name="Shape 5"/>
          <p:cNvSpPr/>
          <p:nvPr/>
        </p:nvSpPr>
        <p:spPr>
          <a:xfrm>
            <a:off x="548640" y="3017520"/>
            <a:ext cx="685800" cy="685800"/>
          </a:xfrm>
          <a:prstGeom prst="ellipse">
            <a:avLst/>
          </a:prstGeom>
          <a:solidFill>
            <a:srgbClr val="1E2761"/>
          </a:solidFill>
          <a:ln/>
        </p:spPr>
      </p:sp>
      <p:pic>
        <p:nvPicPr>
          <p:cNvPr id="9" name="Image 1" descr="/home/claude/deck/icons/alert_FFFFFF.png">    </p:cNvPr>
          <p:cNvPicPr>
            <a:picLocks noChangeAspect="1"/>
          </p:cNvPicPr>
          <p:nvPr/>
        </p:nvPicPr>
        <p:blipFill>
          <a:blip r:embed="rId2"/>
          <a:stretch>
            <a:fillRect/>
          </a:stretch>
        </p:blipFill>
        <p:spPr>
          <a:xfrm>
            <a:off x="708660" y="3177540"/>
            <a:ext cx="365760" cy="365760"/>
          </a:xfrm>
          <a:prstGeom prst="rect">
            <a:avLst/>
          </a:prstGeom>
        </p:spPr>
      </p:pic>
      <p:sp>
        <p:nvSpPr>
          <p:cNvPr id="10" name="Text 6"/>
          <p:cNvSpPr txBox="1"/>
          <p:nvPr/>
        </p:nvSpPr>
        <p:spPr>
          <a:xfrm>
            <a:off x="1463040" y="2971800"/>
            <a:ext cx="9875520" cy="365760"/>
          </a:xfrm>
          <a:prstGeom prst="rect">
            <a:avLst/>
          </a:prstGeom>
          <a:noFill/>
          <a:ln/>
        </p:spPr>
        <p:txBody>
          <a:bodyPr wrap="square" lIns="0" tIns="0" rIns="0" bIns="0" rtlCol="0" anchor="ctr"/>
          <a:lstStyle/>
          <a:p>
            <a:pPr indent="0" marL="0">
              <a:buNone/>
            </a:pPr>
            <a:r>
              <a:rPr lang="en-US" sz="1700" b="1" dirty="0">
                <a:solidFill>
                  <a:srgbClr val="1B1F3B"/>
                </a:solidFill>
                <a:latin typeface="Calibri" pitchFamily="34" charset="0"/>
                <a:ea typeface="Calibri" pitchFamily="34" charset="-122"/>
                <a:cs typeface="Calibri" pitchFamily="34" charset="-120"/>
              </a:rPr>
              <a:t>Static detectors collapse on new generators</a:t>
            </a:r>
            <a:endParaRPr lang="en-US" sz="1700" dirty="0"/>
          </a:p>
        </p:txBody>
      </p:sp>
      <p:sp>
        <p:nvSpPr>
          <p:cNvPr id="11" name="Text 7"/>
          <p:cNvSpPr txBox="1"/>
          <p:nvPr/>
        </p:nvSpPr>
        <p:spPr>
          <a:xfrm>
            <a:off x="1463040" y="3337560"/>
            <a:ext cx="9875520" cy="640080"/>
          </a:xfrm>
          <a:prstGeom prst="rect">
            <a:avLst/>
          </a:prstGeom>
          <a:noFill/>
          <a:ln/>
        </p:spPr>
        <p:txBody>
          <a:bodyPr wrap="square" lIns="0" tIns="0" rIns="0" bIns="0" rtlCol="0" anchor="ctr"/>
          <a:lstStyle/>
          <a:p>
            <a:pPr indent="0" marL="0">
              <a:lnSpc>
                <a:spcPct val="125000"/>
              </a:lnSpc>
              <a:buNone/>
            </a:pPr>
            <a:r>
              <a:rPr lang="en-US" sz="1300" dirty="0">
                <a:solidFill>
                  <a:srgbClr val="44506B"/>
                </a:solidFill>
                <a:latin typeface="Calibri" pitchFamily="34" charset="0"/>
                <a:ea typeface="Calibri" pitchFamily="34" charset="-122"/>
                <a:cs typeface="Calibri" pitchFamily="34" charset="-120"/>
              </a:rPr>
              <a:t>Detection methods trained on known synthesis methods fail to generalize across diverse, unseen generative models (Li &amp; Chen, 2024).</a:t>
            </a:r>
            <a:endParaRPr lang="en-US" sz="1300" dirty="0"/>
          </a:p>
        </p:txBody>
      </p:sp>
      <p:sp>
        <p:nvSpPr>
          <p:cNvPr id="12" name="Shape 8"/>
          <p:cNvSpPr/>
          <p:nvPr/>
        </p:nvSpPr>
        <p:spPr>
          <a:xfrm>
            <a:off x="548640" y="4434840"/>
            <a:ext cx="685800" cy="685800"/>
          </a:xfrm>
          <a:prstGeom prst="ellipse">
            <a:avLst/>
          </a:prstGeom>
          <a:solidFill>
            <a:srgbClr val="1E2761"/>
          </a:solidFill>
          <a:ln/>
        </p:spPr>
      </p:sp>
      <p:pic>
        <p:nvPicPr>
          <p:cNvPr id="13" name="Image 2" descr="/home/claude/deck/icons/phoneoff_FFFFFF.png">    </p:cNvPr>
          <p:cNvPicPr>
            <a:picLocks noChangeAspect="1"/>
          </p:cNvPicPr>
          <p:nvPr/>
        </p:nvPicPr>
        <p:blipFill>
          <a:blip r:embed="rId3"/>
          <a:stretch>
            <a:fillRect/>
          </a:stretch>
        </p:blipFill>
        <p:spPr>
          <a:xfrm>
            <a:off x="708660" y="4594860"/>
            <a:ext cx="365760" cy="365760"/>
          </a:xfrm>
          <a:prstGeom prst="rect">
            <a:avLst/>
          </a:prstGeom>
        </p:spPr>
      </p:pic>
      <p:sp>
        <p:nvSpPr>
          <p:cNvPr id="14" name="Text 9"/>
          <p:cNvSpPr txBox="1"/>
          <p:nvPr/>
        </p:nvSpPr>
        <p:spPr>
          <a:xfrm>
            <a:off x="1463040" y="4389120"/>
            <a:ext cx="9875520" cy="365760"/>
          </a:xfrm>
          <a:prstGeom prst="rect">
            <a:avLst/>
          </a:prstGeom>
          <a:noFill/>
          <a:ln/>
        </p:spPr>
        <p:txBody>
          <a:bodyPr wrap="square" lIns="0" tIns="0" rIns="0" bIns="0" rtlCol="0" anchor="ctr"/>
          <a:lstStyle/>
          <a:p>
            <a:pPr indent="0" marL="0">
              <a:buNone/>
            </a:pPr>
            <a:r>
              <a:rPr lang="en-US" sz="1700" b="1" dirty="0">
                <a:solidFill>
                  <a:srgbClr val="1B1F3B"/>
                </a:solidFill>
                <a:latin typeface="Calibri" pitchFamily="34" charset="0"/>
                <a:ea typeface="Calibri" pitchFamily="34" charset="-122"/>
                <a:cs typeface="Calibri" pitchFamily="34" charset="-120"/>
              </a:rPr>
              <a:t>The stakes sit at the authentication layer</a:t>
            </a:r>
            <a:endParaRPr lang="en-US" sz="1700" dirty="0"/>
          </a:p>
        </p:txBody>
      </p:sp>
      <p:sp>
        <p:nvSpPr>
          <p:cNvPr id="15" name="Text 10"/>
          <p:cNvSpPr txBox="1"/>
          <p:nvPr/>
        </p:nvSpPr>
        <p:spPr>
          <a:xfrm>
            <a:off x="1463040" y="4754880"/>
            <a:ext cx="9875520" cy="640080"/>
          </a:xfrm>
          <a:prstGeom prst="rect">
            <a:avLst/>
          </a:prstGeom>
          <a:noFill/>
          <a:ln/>
        </p:spPr>
        <p:txBody>
          <a:bodyPr wrap="square" lIns="0" tIns="0" rIns="0" bIns="0" rtlCol="0" anchor="ctr"/>
          <a:lstStyle/>
          <a:p>
            <a:pPr indent="0" marL="0">
              <a:lnSpc>
                <a:spcPct val="125000"/>
              </a:lnSpc>
              <a:buNone/>
            </a:pPr>
            <a:r>
              <a:rPr lang="en-US" sz="1300" dirty="0">
                <a:solidFill>
                  <a:srgbClr val="44506B"/>
                </a:solidFill>
                <a:latin typeface="Calibri" pitchFamily="34" charset="0"/>
                <a:ea typeface="Calibri" pitchFamily="34" charset="-122"/>
                <a:cs typeface="Calibri" pitchFamily="34" charset="-120"/>
              </a:rPr>
              <a:t>Voice authentication and call-center vishing sit directly in front of account access and fund transfers — a single miss is costly.</a:t>
            </a:r>
            <a:endParaRPr lang="en-US" sz="1300" dirty="0"/>
          </a:p>
        </p:txBody>
      </p:sp>
      <p:sp>
        <p:nvSpPr>
          <p:cNvPr id="16" name="Text 11"/>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17" name="Text 12"/>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CHALLENGE BRIEF</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What the panel is asking us to solve</a:t>
            </a:r>
            <a:endParaRPr lang="en-US" sz="3000" dirty="0"/>
          </a:p>
        </p:txBody>
      </p:sp>
      <p:sp>
        <p:nvSpPr>
          <p:cNvPr id="4" name="Shape 2"/>
          <p:cNvSpPr/>
          <p:nvPr/>
        </p:nvSpPr>
        <p:spPr>
          <a:xfrm>
            <a:off x="548640" y="1600200"/>
            <a:ext cx="5577840" cy="4434840"/>
          </a:xfrm>
          <a:prstGeom prst="roundRect">
            <a:avLst>
              <a:gd name="adj" fmla="val 1649"/>
            </a:avLst>
          </a:prstGeom>
          <a:solidFill>
            <a:srgbClr val="F4F6FC"/>
          </a:solidFill>
          <a:ln/>
        </p:spPr>
      </p:sp>
      <p:pic>
        <p:nvPicPr>
          <p:cNvPr id="5" name="Image 0" descr="/home/claude/deck/icons/target_1E2761.png">    </p:cNvPr>
          <p:cNvPicPr>
            <a:picLocks noChangeAspect="1"/>
          </p:cNvPicPr>
          <p:nvPr/>
        </p:nvPicPr>
        <p:blipFill>
          <a:blip r:embed="rId1"/>
          <a:stretch>
            <a:fillRect/>
          </a:stretch>
        </p:blipFill>
        <p:spPr>
          <a:xfrm>
            <a:off x="868680" y="1874520"/>
            <a:ext cx="457200" cy="457200"/>
          </a:xfrm>
          <a:prstGeom prst="rect">
            <a:avLst/>
          </a:prstGeom>
        </p:spPr>
      </p:pic>
      <p:sp>
        <p:nvSpPr>
          <p:cNvPr id="6" name="Text 3"/>
          <p:cNvSpPr txBox="1"/>
          <p:nvPr/>
        </p:nvSpPr>
        <p:spPr>
          <a:xfrm>
            <a:off x="1463040" y="1920240"/>
            <a:ext cx="4389120" cy="36576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Objective</a:t>
            </a:r>
            <a:endParaRPr lang="en-US" sz="1600" dirty="0"/>
          </a:p>
        </p:txBody>
      </p:sp>
      <p:sp>
        <p:nvSpPr>
          <p:cNvPr id="7" name="Text 4"/>
          <p:cNvSpPr txBox="1"/>
          <p:nvPr/>
        </p:nvSpPr>
        <p:spPr>
          <a:xfrm>
            <a:off x="868680" y="2514600"/>
            <a:ext cx="4937760" cy="1554480"/>
          </a:xfrm>
          <a:prstGeom prst="rect">
            <a:avLst/>
          </a:prstGeom>
          <a:noFill/>
          <a:ln/>
        </p:spPr>
        <p:txBody>
          <a:bodyPr wrap="square" lIns="0" tIns="0" rIns="0" bIns="0" rtlCol="0" anchor="ctr"/>
          <a:lstStyle/>
          <a:p>
            <a:pPr indent="0" marL="0">
              <a:lnSpc>
                <a:spcPct val="130000"/>
              </a:lnSpc>
              <a:buNone/>
            </a:pPr>
            <a:r>
              <a:rPr lang="en-US" sz="1300" dirty="0">
                <a:solidFill>
                  <a:srgbClr val="44506B"/>
                </a:solidFill>
                <a:latin typeface="Calibri" pitchFamily="34" charset="0"/>
                <a:ea typeface="Calibri" pitchFamily="34" charset="-122"/>
                <a:cs typeface="Calibri" pitchFamily="34" charset="-120"/>
              </a:rPr>
              <a:t>Develop and test a robust, generalized deep learning model for Presentation Attack Detection against modern audio deepfake and synthetic voice-spoofing techniques — improving voice authentication security while reducing multi-layer phishing risk.</a:t>
            </a:r>
            <a:endParaRPr lang="en-US" sz="1300" dirty="0"/>
          </a:p>
        </p:txBody>
      </p:sp>
      <p:sp>
        <p:nvSpPr>
          <p:cNvPr id="8" name="Shape 5"/>
          <p:cNvSpPr/>
          <p:nvPr/>
        </p:nvSpPr>
        <p:spPr>
          <a:xfrm>
            <a:off x="868680" y="4160520"/>
            <a:ext cx="4937760" cy="0"/>
          </a:xfrm>
          <a:prstGeom prst="line">
            <a:avLst/>
          </a:prstGeom>
          <a:noFill/>
          <a:ln w="19050">
            <a:solidFill>
              <a:srgbClr val="CADCFC"/>
            </a:solidFill>
            <a:prstDash val="solid"/>
          </a:ln>
        </p:spPr>
      </p:sp>
      <p:sp>
        <p:nvSpPr>
          <p:cNvPr id="9" name="Text 6"/>
          <p:cNvSpPr txBox="1"/>
          <p:nvPr/>
        </p:nvSpPr>
        <p:spPr>
          <a:xfrm>
            <a:off x="868680" y="4343400"/>
            <a:ext cx="4937760" cy="1463040"/>
          </a:xfrm>
          <a:prstGeom prst="rect">
            <a:avLst/>
          </a:prstGeom>
          <a:noFill/>
          <a:ln/>
        </p:spPr>
        <p:txBody>
          <a:bodyPr wrap="square" lIns="0" tIns="0" rIns="0" bIns="0" rtlCol="0" anchor="ctr"/>
          <a:lstStyle/>
          <a:p>
            <a:pPr indent="0" marL="0">
              <a:lnSpc>
                <a:spcPct val="130000"/>
              </a:lnSpc>
              <a:buNone/>
            </a:pPr>
            <a:r>
              <a:rPr lang="en-US" sz="1300" i="1" dirty="0">
                <a:solidFill>
                  <a:srgbClr val="1E2761"/>
                </a:solidFill>
                <a:latin typeface="Calibri" pitchFamily="34" charset="0"/>
                <a:ea typeface="Calibri" pitchFamily="34" charset="-122"/>
                <a:cs typeface="Calibri" pitchFamily="34" charset="-120"/>
              </a:rPr>
              <a:t>Success = accuracy that holds up on generators it has never seen — not just the ones it trained on.</a:t>
            </a:r>
            <a:endParaRPr lang="en-US" sz="1300" dirty="0"/>
          </a:p>
        </p:txBody>
      </p:sp>
      <p:sp>
        <p:nvSpPr>
          <p:cNvPr id="10" name="Shape 7"/>
          <p:cNvSpPr/>
          <p:nvPr/>
        </p:nvSpPr>
        <p:spPr>
          <a:xfrm>
            <a:off x="6400800" y="1600200"/>
            <a:ext cx="5212080" cy="960120"/>
          </a:xfrm>
          <a:prstGeom prst="roundRect">
            <a:avLst>
              <a:gd name="adj" fmla="val 5714"/>
            </a:avLst>
          </a:prstGeom>
          <a:solidFill>
            <a:srgbClr val="F4F6FC"/>
          </a:solidFill>
          <a:ln/>
        </p:spPr>
      </p:sp>
      <p:pic>
        <p:nvPicPr>
          <p:cNvPr id="11" name="Image 1" descr="/home/claude/deck/icons/clock_1E2761.png">    </p:cNvPr>
          <p:cNvPicPr>
            <a:picLocks noChangeAspect="1"/>
          </p:cNvPicPr>
          <p:nvPr/>
        </p:nvPicPr>
        <p:blipFill>
          <a:blip r:embed="rId2"/>
          <a:stretch>
            <a:fillRect/>
          </a:stretch>
        </p:blipFill>
        <p:spPr>
          <a:xfrm>
            <a:off x="6629400" y="1856232"/>
            <a:ext cx="438912" cy="438912"/>
          </a:xfrm>
          <a:prstGeom prst="rect">
            <a:avLst/>
          </a:prstGeom>
        </p:spPr>
      </p:pic>
      <p:sp>
        <p:nvSpPr>
          <p:cNvPr id="12" name="Text 8"/>
          <p:cNvSpPr txBox="1"/>
          <p:nvPr/>
        </p:nvSpPr>
        <p:spPr>
          <a:xfrm>
            <a:off x="7315200" y="1691640"/>
            <a:ext cx="4114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Real-time</a:t>
            </a:r>
            <a:endParaRPr lang="en-US" sz="1400" dirty="0"/>
          </a:p>
        </p:txBody>
      </p:sp>
      <p:sp>
        <p:nvSpPr>
          <p:cNvPr id="13" name="Text 9"/>
          <p:cNvSpPr txBox="1"/>
          <p:nvPr/>
        </p:nvSpPr>
        <p:spPr>
          <a:xfrm>
            <a:off x="7315200" y="2011680"/>
            <a:ext cx="4114800" cy="45720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Low enough latency for live-call integration</a:t>
            </a:r>
            <a:endParaRPr lang="en-US" sz="1150" dirty="0"/>
          </a:p>
        </p:txBody>
      </p:sp>
      <p:sp>
        <p:nvSpPr>
          <p:cNvPr id="14" name="Shape 10"/>
          <p:cNvSpPr/>
          <p:nvPr/>
        </p:nvSpPr>
        <p:spPr>
          <a:xfrm>
            <a:off x="6400800" y="2715768"/>
            <a:ext cx="5212080" cy="960120"/>
          </a:xfrm>
          <a:prstGeom prst="roundRect">
            <a:avLst>
              <a:gd name="adj" fmla="val 5714"/>
            </a:avLst>
          </a:prstGeom>
          <a:solidFill>
            <a:srgbClr val="F4F6FC"/>
          </a:solidFill>
          <a:ln/>
        </p:spPr>
      </p:sp>
      <p:pic>
        <p:nvPicPr>
          <p:cNvPr id="15" name="Image 2" descr="/home/claude/deck/icons/layers_1E2761.png">    </p:cNvPr>
          <p:cNvPicPr>
            <a:picLocks noChangeAspect="1"/>
          </p:cNvPicPr>
          <p:nvPr/>
        </p:nvPicPr>
        <p:blipFill>
          <a:blip r:embed="rId3"/>
          <a:stretch>
            <a:fillRect/>
          </a:stretch>
        </p:blipFill>
        <p:spPr>
          <a:xfrm>
            <a:off x="6629400" y="2971800"/>
            <a:ext cx="438912" cy="438912"/>
          </a:xfrm>
          <a:prstGeom prst="rect">
            <a:avLst/>
          </a:prstGeom>
        </p:spPr>
      </p:pic>
      <p:sp>
        <p:nvSpPr>
          <p:cNvPr id="16" name="Text 11"/>
          <p:cNvSpPr txBox="1"/>
          <p:nvPr/>
        </p:nvSpPr>
        <p:spPr>
          <a:xfrm>
            <a:off x="7315200" y="2807208"/>
            <a:ext cx="4114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Multi-layer ready</a:t>
            </a:r>
            <a:endParaRPr lang="en-US" sz="1400" dirty="0"/>
          </a:p>
        </p:txBody>
      </p:sp>
      <p:sp>
        <p:nvSpPr>
          <p:cNvPr id="17" name="Text 12"/>
          <p:cNvSpPr txBox="1"/>
          <p:nvPr/>
        </p:nvSpPr>
        <p:spPr>
          <a:xfrm>
            <a:off x="7315200" y="3127248"/>
            <a:ext cx="4114800" cy="45720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Feeds an adaptive phishing-defense stack</a:t>
            </a:r>
            <a:endParaRPr lang="en-US" sz="1150" dirty="0"/>
          </a:p>
        </p:txBody>
      </p:sp>
      <p:sp>
        <p:nvSpPr>
          <p:cNvPr id="18" name="Shape 13"/>
          <p:cNvSpPr/>
          <p:nvPr/>
        </p:nvSpPr>
        <p:spPr>
          <a:xfrm>
            <a:off x="6400800" y="3831336"/>
            <a:ext cx="5212080" cy="960120"/>
          </a:xfrm>
          <a:prstGeom prst="roundRect">
            <a:avLst>
              <a:gd name="adj" fmla="val 5714"/>
            </a:avLst>
          </a:prstGeom>
          <a:solidFill>
            <a:srgbClr val="F4F6FC"/>
          </a:solidFill>
          <a:ln/>
        </p:spPr>
      </p:sp>
      <p:pic>
        <p:nvPicPr>
          <p:cNvPr id="19" name="Image 3" descr="/home/claude/deck/icons/calendar_1E2761.png">    </p:cNvPr>
          <p:cNvPicPr>
            <a:picLocks noChangeAspect="1"/>
          </p:cNvPicPr>
          <p:nvPr/>
        </p:nvPicPr>
        <p:blipFill>
          <a:blip r:embed="rId4"/>
          <a:stretch>
            <a:fillRect/>
          </a:stretch>
        </p:blipFill>
        <p:spPr>
          <a:xfrm>
            <a:off x="6629400" y="4087368"/>
            <a:ext cx="438912" cy="438912"/>
          </a:xfrm>
          <a:prstGeom prst="rect">
            <a:avLst/>
          </a:prstGeom>
        </p:spPr>
      </p:pic>
      <p:sp>
        <p:nvSpPr>
          <p:cNvPr id="20" name="Text 14"/>
          <p:cNvSpPr txBox="1"/>
          <p:nvPr/>
        </p:nvSpPr>
        <p:spPr>
          <a:xfrm>
            <a:off x="7315200" y="3922776"/>
            <a:ext cx="4114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2-day sprint</a:t>
            </a:r>
            <a:endParaRPr lang="en-US" sz="1400" dirty="0"/>
          </a:p>
        </p:txBody>
      </p:sp>
      <p:sp>
        <p:nvSpPr>
          <p:cNvPr id="21" name="Text 15"/>
          <p:cNvSpPr txBox="1"/>
          <p:nvPr/>
        </p:nvSpPr>
        <p:spPr>
          <a:xfrm>
            <a:off x="7315200" y="4242816"/>
            <a:ext cx="4114800" cy="45720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Build, test, and prep an expert panel review</a:t>
            </a:r>
            <a:endParaRPr lang="en-US" sz="1150" dirty="0"/>
          </a:p>
        </p:txBody>
      </p:sp>
      <p:sp>
        <p:nvSpPr>
          <p:cNvPr id="22" name="Shape 16"/>
          <p:cNvSpPr/>
          <p:nvPr/>
        </p:nvSpPr>
        <p:spPr>
          <a:xfrm>
            <a:off x="6400800" y="4946904"/>
            <a:ext cx="5212080" cy="960120"/>
          </a:xfrm>
          <a:prstGeom prst="roundRect">
            <a:avLst>
              <a:gd name="adj" fmla="val 5714"/>
            </a:avLst>
          </a:prstGeom>
          <a:solidFill>
            <a:srgbClr val="F4F6FC"/>
          </a:solidFill>
          <a:ln/>
        </p:spPr>
      </p:sp>
      <p:pic>
        <p:nvPicPr>
          <p:cNvPr id="23" name="Image 4" descr="/home/claude/deck/icons/check_1E2761.png">    </p:cNvPr>
          <p:cNvPicPr>
            <a:picLocks noChangeAspect="1"/>
          </p:cNvPicPr>
          <p:nvPr/>
        </p:nvPicPr>
        <p:blipFill>
          <a:blip r:embed="rId5"/>
          <a:stretch>
            <a:fillRect/>
          </a:stretch>
        </p:blipFill>
        <p:spPr>
          <a:xfrm>
            <a:off x="6629400" y="5202936"/>
            <a:ext cx="438912" cy="438912"/>
          </a:xfrm>
          <a:prstGeom prst="rect">
            <a:avLst/>
          </a:prstGeom>
        </p:spPr>
      </p:pic>
      <p:sp>
        <p:nvSpPr>
          <p:cNvPr id="24" name="Text 17"/>
          <p:cNvSpPr txBox="1"/>
          <p:nvPr/>
        </p:nvSpPr>
        <p:spPr>
          <a:xfrm>
            <a:off x="7315200" y="5038344"/>
            <a:ext cx="4114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20-min readout</a:t>
            </a:r>
            <a:endParaRPr lang="en-US" sz="1400" dirty="0"/>
          </a:p>
        </p:txBody>
      </p:sp>
      <p:sp>
        <p:nvSpPr>
          <p:cNvPr id="25" name="Text 18"/>
          <p:cNvSpPr txBox="1"/>
          <p:nvPr/>
        </p:nvSpPr>
        <p:spPr>
          <a:xfrm>
            <a:off x="7315200" y="5358384"/>
            <a:ext cx="4114800" cy="45720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Findings + proposed solution to the panel</a:t>
            </a:r>
            <a:endParaRPr lang="en-US" sz="1150" dirty="0"/>
          </a:p>
        </p:txBody>
      </p:sp>
      <p:sp>
        <p:nvSpPr>
          <p:cNvPr id="26" name="Text 19"/>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7" name="Text 20"/>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DESIGN INSIGHT</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The core bet: foundation models, not detectors from scratch</a:t>
            </a:r>
            <a:endParaRPr lang="en-US" sz="3000" dirty="0"/>
          </a:p>
        </p:txBody>
      </p:sp>
      <p:sp>
        <p:nvSpPr>
          <p:cNvPr id="4" name="Text 2"/>
          <p:cNvSpPr txBox="1"/>
          <p:nvPr/>
        </p:nvSpPr>
        <p:spPr>
          <a:xfrm>
            <a:off x="548640" y="1417320"/>
            <a:ext cx="11064240" cy="685800"/>
          </a:xfrm>
          <a:prstGeom prst="rect">
            <a:avLst/>
          </a:prstGeom>
          <a:noFill/>
          <a:ln/>
        </p:spPr>
        <p:txBody>
          <a:bodyPr wrap="square" lIns="0" tIns="0" rIns="0" bIns="0" rtlCol="0" anchor="ctr"/>
          <a:lstStyle/>
          <a:p>
            <a:pPr indent="0" marL="0">
              <a:lnSpc>
                <a:spcPct val="130000"/>
              </a:lnSpc>
              <a:buNone/>
            </a:pPr>
            <a:r>
              <a:rPr lang="en-US" sz="1350" dirty="0">
                <a:solidFill>
                  <a:srgbClr val="44506B"/>
                </a:solidFill>
                <a:latin typeface="Calibri" pitchFamily="34" charset="0"/>
                <a:ea typeface="Calibri" pitchFamily="34" charset="-122"/>
                <a:cs typeface="Calibri" pitchFamily="34" charset="-120"/>
              </a:rPr>
              <a:t>Systematic benchmarking across generators shows traditional detectors overfit to the synthesis methods they trained on — while large pretrained speech foundation models generalize far better, including across languages they were never fine-tuned on.</a:t>
            </a:r>
            <a:endParaRPr lang="en-US" sz="1350" dirty="0"/>
          </a:p>
        </p:txBody>
      </p:sp>
      <p:sp>
        <p:nvSpPr>
          <p:cNvPr id="5" name="Shape 3"/>
          <p:cNvSpPr/>
          <p:nvPr/>
        </p:nvSpPr>
        <p:spPr>
          <a:xfrm>
            <a:off x="548640" y="2331720"/>
            <a:ext cx="5349240" cy="3703320"/>
          </a:xfrm>
          <a:prstGeom prst="roundRect">
            <a:avLst>
              <a:gd name="adj" fmla="val 1975"/>
            </a:avLst>
          </a:prstGeom>
          <a:solidFill>
            <a:srgbClr val="F4F6FC"/>
          </a:solidFill>
          <a:ln w="12700">
            <a:solidFill>
              <a:srgbClr val="CADCFC"/>
            </a:solidFill>
            <a:prstDash val="solid"/>
          </a:ln>
        </p:spPr>
      </p:sp>
      <p:sp>
        <p:nvSpPr>
          <p:cNvPr id="6" name="Text 4"/>
          <p:cNvSpPr txBox="1"/>
          <p:nvPr/>
        </p:nvSpPr>
        <p:spPr>
          <a:xfrm>
            <a:off x="868680" y="2606040"/>
            <a:ext cx="4754880" cy="457200"/>
          </a:xfrm>
          <a:prstGeom prst="rect">
            <a:avLst/>
          </a:prstGeom>
          <a:noFill/>
          <a:ln/>
        </p:spPr>
        <p:txBody>
          <a:bodyPr wrap="square" lIns="0" tIns="0" rIns="0" bIns="0" rtlCol="0" anchor="ctr"/>
          <a:lstStyle/>
          <a:p>
            <a:pPr indent="0" marL="0">
              <a:buNone/>
            </a:pPr>
            <a:r>
              <a:rPr lang="en-US" sz="1600" b="1" dirty="0">
                <a:solidFill>
                  <a:srgbClr val="8792AC"/>
                </a:solidFill>
                <a:latin typeface="Calibri" pitchFamily="34" charset="0"/>
                <a:ea typeface="Calibri" pitchFamily="34" charset="-122"/>
                <a:cs typeface="Calibri" pitchFamily="34" charset="-120"/>
              </a:rPr>
              <a:t>Traditional CNN / RNN Detectors</a:t>
            </a:r>
            <a:endParaRPr lang="en-US" sz="1600" dirty="0"/>
          </a:p>
        </p:txBody>
      </p:sp>
      <p:sp>
        <p:nvSpPr>
          <p:cNvPr id="7" name="Text 5"/>
          <p:cNvSpPr txBox="1"/>
          <p:nvPr/>
        </p:nvSpPr>
        <p:spPr>
          <a:xfrm>
            <a:off x="868680" y="3200400"/>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44506B"/>
                </a:solidFill>
                <a:latin typeface="Calibri" pitchFamily="34" charset="0"/>
                <a:ea typeface="Calibri" pitchFamily="34" charset="-122"/>
                <a:cs typeface="Calibri" pitchFamily="34" charset="-120"/>
              </a:rPr>
              <a:t>Trained end-to-end on spectrograms from known vocoders</a:t>
            </a:r>
            <a:endParaRPr lang="en-US" sz="1250" dirty="0"/>
          </a:p>
        </p:txBody>
      </p:sp>
      <p:sp>
        <p:nvSpPr>
          <p:cNvPr id="8" name="Text 6"/>
          <p:cNvSpPr txBox="1"/>
          <p:nvPr/>
        </p:nvSpPr>
        <p:spPr>
          <a:xfrm>
            <a:off x="868680" y="3858768"/>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44506B"/>
                </a:solidFill>
                <a:latin typeface="Calibri" pitchFamily="34" charset="0"/>
                <a:ea typeface="Calibri" pitchFamily="34" charset="-122"/>
                <a:cs typeface="Calibri" pitchFamily="34" charset="-120"/>
              </a:rPr>
              <a:t>Strong on in-distribution benchmarks</a:t>
            </a:r>
            <a:endParaRPr lang="en-US" sz="1250" dirty="0"/>
          </a:p>
        </p:txBody>
      </p:sp>
      <p:sp>
        <p:nvSpPr>
          <p:cNvPr id="9" name="Text 7"/>
          <p:cNvSpPr txBox="1"/>
          <p:nvPr/>
        </p:nvSpPr>
        <p:spPr>
          <a:xfrm>
            <a:off x="868680" y="4517136"/>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44506B"/>
                </a:solidFill>
                <a:latin typeface="Calibri" pitchFamily="34" charset="0"/>
                <a:ea typeface="Calibri" pitchFamily="34" charset="-122"/>
                <a:cs typeface="Calibri" pitchFamily="34" charset="-120"/>
              </a:rPr>
              <a:t>Accuracy drops sharply on unseen generator families</a:t>
            </a:r>
            <a:endParaRPr lang="en-US" sz="1250" dirty="0"/>
          </a:p>
        </p:txBody>
      </p:sp>
      <p:sp>
        <p:nvSpPr>
          <p:cNvPr id="10" name="Text 8"/>
          <p:cNvSpPr txBox="1"/>
          <p:nvPr/>
        </p:nvSpPr>
        <p:spPr>
          <a:xfrm>
            <a:off x="868680" y="5175504"/>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44506B"/>
                </a:solidFill>
                <a:latin typeface="Calibri" pitchFamily="34" charset="0"/>
                <a:ea typeface="Calibri" pitchFamily="34" charset="-122"/>
                <a:cs typeface="Calibri" pitchFamily="34" charset="-120"/>
              </a:rPr>
              <a:t>Little transfer across languages or channel conditions</a:t>
            </a:r>
            <a:endParaRPr lang="en-US" sz="1250" dirty="0"/>
          </a:p>
        </p:txBody>
      </p:sp>
      <p:sp>
        <p:nvSpPr>
          <p:cNvPr id="11" name="Shape 9"/>
          <p:cNvSpPr/>
          <p:nvPr/>
        </p:nvSpPr>
        <p:spPr>
          <a:xfrm>
            <a:off x="6263640" y="2331720"/>
            <a:ext cx="5349240" cy="3703320"/>
          </a:xfrm>
          <a:prstGeom prst="roundRect">
            <a:avLst>
              <a:gd name="adj" fmla="val 1975"/>
            </a:avLst>
          </a:prstGeom>
          <a:solidFill>
            <a:srgbClr val="1E2761"/>
          </a:solidFill>
          <a:ln/>
        </p:spPr>
      </p:sp>
      <p:sp>
        <p:nvSpPr>
          <p:cNvPr id="12" name="Text 10"/>
          <p:cNvSpPr txBox="1"/>
          <p:nvPr/>
        </p:nvSpPr>
        <p:spPr>
          <a:xfrm>
            <a:off x="6583680" y="2606040"/>
            <a:ext cx="475488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SSL Foundation Models (Wav2Vec2 / WavLM)</a:t>
            </a:r>
            <a:endParaRPr lang="en-US" sz="1600" dirty="0"/>
          </a:p>
        </p:txBody>
      </p:sp>
      <p:sp>
        <p:nvSpPr>
          <p:cNvPr id="13" name="Text 11"/>
          <p:cNvSpPr txBox="1"/>
          <p:nvPr/>
        </p:nvSpPr>
        <p:spPr>
          <a:xfrm>
            <a:off x="6583680" y="3200400"/>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CADCFC"/>
                </a:solidFill>
                <a:latin typeface="Calibri" pitchFamily="34" charset="0"/>
                <a:ea typeface="Calibri" pitchFamily="34" charset="-122"/>
                <a:cs typeface="Calibri" pitchFamily="34" charset="-120"/>
              </a:rPr>
              <a:t>Large-scale pretraining gives richer, more general speech representations</a:t>
            </a:r>
            <a:endParaRPr lang="en-US" sz="1250" dirty="0"/>
          </a:p>
        </p:txBody>
      </p:sp>
      <p:sp>
        <p:nvSpPr>
          <p:cNvPr id="14" name="Text 12"/>
          <p:cNvSpPr txBox="1"/>
          <p:nvPr/>
        </p:nvSpPr>
        <p:spPr>
          <a:xfrm>
            <a:off x="6583680" y="3858768"/>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CADCFC"/>
                </a:solidFill>
                <a:latin typeface="Calibri" pitchFamily="34" charset="0"/>
                <a:ea typeface="Calibri" pitchFamily="34" charset="-122"/>
                <a:cs typeface="Calibri" pitchFamily="34" charset="-120"/>
              </a:rPr>
              <a:t>Demonstrated cross-generator generalization in benchmark studies</a:t>
            </a:r>
            <a:endParaRPr lang="en-US" sz="1250" dirty="0"/>
          </a:p>
        </p:txBody>
      </p:sp>
      <p:sp>
        <p:nvSpPr>
          <p:cNvPr id="15" name="Text 13"/>
          <p:cNvSpPr txBox="1"/>
          <p:nvPr/>
        </p:nvSpPr>
        <p:spPr>
          <a:xfrm>
            <a:off x="6583680" y="4517136"/>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CADCFC"/>
                </a:solidFill>
                <a:latin typeface="Calibri" pitchFamily="34" charset="0"/>
                <a:ea typeface="Calibri" pitchFamily="34" charset="-122"/>
                <a:cs typeface="Calibri" pitchFamily="34" charset="-120"/>
              </a:rPr>
              <a:t>Robust cross-lingual performance despite English-only fine-tuning</a:t>
            </a:r>
            <a:endParaRPr lang="en-US" sz="1250" dirty="0"/>
          </a:p>
        </p:txBody>
      </p:sp>
      <p:sp>
        <p:nvSpPr>
          <p:cNvPr id="16" name="Text 14"/>
          <p:cNvSpPr txBox="1"/>
          <p:nvPr/>
        </p:nvSpPr>
        <p:spPr>
          <a:xfrm>
            <a:off x="6583680" y="5175504"/>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CADCFC"/>
                </a:solidFill>
                <a:latin typeface="Calibri" pitchFamily="34" charset="0"/>
                <a:ea typeface="Calibri" pitchFamily="34" charset="-122"/>
                <a:cs typeface="Calibri" pitchFamily="34" charset="-120"/>
              </a:rPr>
              <a:t>Supports few-shot adaptation for high-value protected identities</a:t>
            </a:r>
            <a:endParaRPr lang="en-US" sz="1250" dirty="0"/>
          </a:p>
        </p:txBody>
      </p:sp>
      <p:sp>
        <p:nvSpPr>
          <p:cNvPr id="17" name="Text 15"/>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18" name="Text 16"/>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PROPOSED SYSTEM</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Detection pipeline, end to end</a:t>
            </a:r>
            <a:endParaRPr lang="en-US" sz="3000" dirty="0"/>
          </a:p>
        </p:txBody>
      </p:sp>
      <p:sp>
        <p:nvSpPr>
          <p:cNvPr id="4" name="Shape 2"/>
          <p:cNvSpPr/>
          <p:nvPr/>
        </p:nvSpPr>
        <p:spPr>
          <a:xfrm>
            <a:off x="548640" y="2331720"/>
            <a:ext cx="2331720" cy="2194560"/>
          </a:xfrm>
          <a:prstGeom prst="roundRect">
            <a:avLst>
              <a:gd name="adj" fmla="val 3333"/>
            </a:avLst>
          </a:prstGeom>
          <a:solidFill>
            <a:srgbClr val="F4F6FC"/>
          </a:solidFill>
          <a:ln/>
        </p:spPr>
      </p:sp>
      <p:pic>
        <p:nvPicPr>
          <p:cNvPr id="5" name="Image 0" descr="/home/claude/deck/icons/mic_1E2761.png">    </p:cNvPr>
          <p:cNvPicPr>
            <a:picLocks noChangeAspect="1"/>
          </p:cNvPicPr>
          <p:nvPr/>
        </p:nvPicPr>
        <p:blipFill>
          <a:blip r:embed="rId1"/>
          <a:stretch>
            <a:fillRect/>
          </a:stretch>
        </p:blipFill>
        <p:spPr>
          <a:xfrm>
            <a:off x="1440180" y="2587752"/>
            <a:ext cx="548640" cy="548640"/>
          </a:xfrm>
          <a:prstGeom prst="rect">
            <a:avLst/>
          </a:prstGeom>
        </p:spPr>
      </p:pic>
      <p:sp>
        <p:nvSpPr>
          <p:cNvPr id="6" name="Text 3"/>
          <p:cNvSpPr txBox="1"/>
          <p:nvPr/>
        </p:nvSpPr>
        <p:spPr>
          <a:xfrm>
            <a:off x="685800" y="3246120"/>
            <a:ext cx="2057400" cy="457200"/>
          </a:xfrm>
          <a:prstGeom prst="rect">
            <a:avLst/>
          </a:prstGeom>
          <a:noFill/>
          <a:ln/>
        </p:spPr>
        <p:txBody>
          <a:bodyPr wrap="square" lIns="0" tIns="0" rIns="0" bIns="0" rtlCol="0" anchor="ctr"/>
          <a:lstStyle/>
          <a:p>
            <a:pPr algn="ctr" indent="0" marL="0">
              <a:buNone/>
            </a:pPr>
            <a:r>
              <a:rPr lang="en-US" sz="1350" b="1" dirty="0">
                <a:solidFill>
                  <a:srgbClr val="1B1F3B"/>
                </a:solidFill>
                <a:latin typeface="Calibri" pitchFamily="34" charset="0"/>
                <a:ea typeface="Calibri" pitchFamily="34" charset="-122"/>
                <a:cs typeface="Calibri" pitchFamily="34" charset="-120"/>
              </a:rPr>
              <a:t>Audio Stream</a:t>
            </a:r>
            <a:endParaRPr lang="en-US" sz="1350" dirty="0"/>
          </a:p>
        </p:txBody>
      </p:sp>
      <p:sp>
        <p:nvSpPr>
          <p:cNvPr id="7" name="Text 4"/>
          <p:cNvSpPr txBox="1"/>
          <p:nvPr/>
        </p:nvSpPr>
        <p:spPr>
          <a:xfrm>
            <a:off x="685800" y="3657600"/>
            <a:ext cx="2057400" cy="822960"/>
          </a:xfrm>
          <a:prstGeom prst="rect">
            <a:avLst/>
          </a:prstGeom>
          <a:noFill/>
          <a:ln/>
        </p:spPr>
        <p:txBody>
          <a:bodyPr wrap="square" lIns="0" tIns="0" rIns="0" bIns="0" rtlCol="0" anchor="ctr"/>
          <a:lstStyle/>
          <a:p>
            <a:pPr algn="ctr" indent="0" marL="0">
              <a:lnSpc>
                <a:spcPct val="115000"/>
              </a:lnSpc>
              <a:buNone/>
            </a:pPr>
            <a:r>
              <a:rPr lang="en-US" sz="1050" dirty="0">
                <a:solidFill>
                  <a:srgbClr val="44506B"/>
                </a:solidFill>
                <a:latin typeface="Calibri" pitchFamily="34" charset="0"/>
                <a:ea typeface="Calibri" pitchFamily="34" charset="-122"/>
                <a:cs typeface="Calibri" pitchFamily="34" charset="-120"/>
              </a:rPr>
              <a:t>Live call audio, chunked into overlapping 1–2s windows</a:t>
            </a:r>
            <a:endParaRPr lang="en-US" sz="1050" dirty="0"/>
          </a:p>
        </p:txBody>
      </p:sp>
      <p:sp>
        <p:nvSpPr>
          <p:cNvPr id="8" name="Text 5"/>
          <p:cNvSpPr txBox="1"/>
          <p:nvPr/>
        </p:nvSpPr>
        <p:spPr>
          <a:xfrm>
            <a:off x="2880360" y="3108960"/>
            <a:ext cx="384048" cy="640080"/>
          </a:xfrm>
          <a:prstGeom prst="rect">
            <a:avLst/>
          </a:prstGeom>
          <a:noFill/>
          <a:ln/>
        </p:spPr>
        <p:txBody>
          <a:bodyPr wrap="square" lIns="0" tIns="0" rIns="0" bIns="0" rtlCol="0" anchor="ctr"/>
          <a:lstStyle/>
          <a:p>
            <a:pPr algn="ctr" indent="0" marL="0">
              <a:buNone/>
            </a:pPr>
            <a:r>
              <a:rPr lang="en-US" sz="2600" b="1" dirty="0">
                <a:solidFill>
                  <a:srgbClr val="E94F37"/>
                </a:solidFill>
                <a:latin typeface="Arial" pitchFamily="34" charset="0"/>
                <a:ea typeface="Arial" pitchFamily="34" charset="-122"/>
                <a:cs typeface="Arial" pitchFamily="34" charset="-120"/>
              </a:rPr>
              <a:t>→</a:t>
            </a:r>
            <a:endParaRPr lang="en-US" sz="2600" dirty="0"/>
          </a:p>
        </p:txBody>
      </p:sp>
      <p:sp>
        <p:nvSpPr>
          <p:cNvPr id="9" name="Shape 6"/>
          <p:cNvSpPr/>
          <p:nvPr/>
        </p:nvSpPr>
        <p:spPr>
          <a:xfrm>
            <a:off x="3264408" y="2331720"/>
            <a:ext cx="2331720" cy="2194560"/>
          </a:xfrm>
          <a:prstGeom prst="roundRect">
            <a:avLst>
              <a:gd name="adj" fmla="val 3333"/>
            </a:avLst>
          </a:prstGeom>
          <a:solidFill>
            <a:srgbClr val="F4F6FC"/>
          </a:solidFill>
          <a:ln/>
        </p:spPr>
      </p:sp>
      <p:pic>
        <p:nvPicPr>
          <p:cNvPr id="10" name="Image 1" descr="/home/claude/deck/icons/layers_1E2761.png">    </p:cNvPr>
          <p:cNvPicPr>
            <a:picLocks noChangeAspect="1"/>
          </p:cNvPicPr>
          <p:nvPr/>
        </p:nvPicPr>
        <p:blipFill>
          <a:blip r:embed="rId2"/>
          <a:stretch>
            <a:fillRect/>
          </a:stretch>
        </p:blipFill>
        <p:spPr>
          <a:xfrm>
            <a:off x="4155948" y="2587752"/>
            <a:ext cx="548640" cy="548640"/>
          </a:xfrm>
          <a:prstGeom prst="rect">
            <a:avLst/>
          </a:prstGeom>
        </p:spPr>
      </p:pic>
      <p:sp>
        <p:nvSpPr>
          <p:cNvPr id="11" name="Text 7"/>
          <p:cNvSpPr txBox="1"/>
          <p:nvPr/>
        </p:nvSpPr>
        <p:spPr>
          <a:xfrm>
            <a:off x="3401568" y="3246120"/>
            <a:ext cx="2057400" cy="457200"/>
          </a:xfrm>
          <a:prstGeom prst="rect">
            <a:avLst/>
          </a:prstGeom>
          <a:noFill/>
          <a:ln/>
        </p:spPr>
        <p:txBody>
          <a:bodyPr wrap="square" lIns="0" tIns="0" rIns="0" bIns="0" rtlCol="0" anchor="ctr"/>
          <a:lstStyle/>
          <a:p>
            <a:pPr algn="ctr" indent="0" marL="0">
              <a:buNone/>
            </a:pPr>
            <a:r>
              <a:rPr lang="en-US" sz="1350" b="1" dirty="0">
                <a:solidFill>
                  <a:srgbClr val="1B1F3B"/>
                </a:solidFill>
                <a:latin typeface="Calibri" pitchFamily="34" charset="0"/>
                <a:ea typeface="Calibri" pitchFamily="34" charset="-122"/>
                <a:cs typeface="Calibri" pitchFamily="34" charset="-120"/>
              </a:rPr>
              <a:t>Feature Front-End</a:t>
            </a:r>
            <a:endParaRPr lang="en-US" sz="1350" dirty="0"/>
          </a:p>
        </p:txBody>
      </p:sp>
      <p:sp>
        <p:nvSpPr>
          <p:cNvPr id="12" name="Text 8"/>
          <p:cNvSpPr txBox="1"/>
          <p:nvPr/>
        </p:nvSpPr>
        <p:spPr>
          <a:xfrm>
            <a:off x="3401568" y="3657600"/>
            <a:ext cx="2057400" cy="822960"/>
          </a:xfrm>
          <a:prstGeom prst="rect">
            <a:avLst/>
          </a:prstGeom>
          <a:noFill/>
          <a:ln/>
        </p:spPr>
        <p:txBody>
          <a:bodyPr wrap="square" lIns="0" tIns="0" rIns="0" bIns="0" rtlCol="0" anchor="ctr"/>
          <a:lstStyle/>
          <a:p>
            <a:pPr algn="ctr" indent="0" marL="0">
              <a:lnSpc>
                <a:spcPct val="115000"/>
              </a:lnSpc>
              <a:buNone/>
            </a:pPr>
            <a:r>
              <a:rPr lang="en-US" sz="1050" dirty="0">
                <a:solidFill>
                  <a:srgbClr val="44506B"/>
                </a:solidFill>
                <a:latin typeface="Calibri" pitchFamily="34" charset="0"/>
                <a:ea typeface="Calibri" pitchFamily="34" charset="-122"/>
                <a:cs typeface="Calibri" pitchFamily="34" charset="-120"/>
              </a:rPr>
              <a:t>SSL embeddings (Wav2Vec2/WavLM) + CQT/LFCC + pitch &amp; phase artifacts</a:t>
            </a:r>
            <a:endParaRPr lang="en-US" sz="1050" dirty="0"/>
          </a:p>
        </p:txBody>
      </p:sp>
      <p:sp>
        <p:nvSpPr>
          <p:cNvPr id="13" name="Text 9"/>
          <p:cNvSpPr txBox="1"/>
          <p:nvPr/>
        </p:nvSpPr>
        <p:spPr>
          <a:xfrm>
            <a:off x="5596128" y="3108960"/>
            <a:ext cx="384048" cy="640080"/>
          </a:xfrm>
          <a:prstGeom prst="rect">
            <a:avLst/>
          </a:prstGeom>
          <a:noFill/>
          <a:ln/>
        </p:spPr>
        <p:txBody>
          <a:bodyPr wrap="square" lIns="0" tIns="0" rIns="0" bIns="0" rtlCol="0" anchor="ctr"/>
          <a:lstStyle/>
          <a:p>
            <a:pPr algn="ctr" indent="0" marL="0">
              <a:buNone/>
            </a:pPr>
            <a:r>
              <a:rPr lang="en-US" sz="2600" b="1" dirty="0">
                <a:solidFill>
                  <a:srgbClr val="E94F37"/>
                </a:solidFill>
                <a:latin typeface="Arial" pitchFamily="34" charset="0"/>
                <a:ea typeface="Arial" pitchFamily="34" charset="-122"/>
                <a:cs typeface="Arial" pitchFamily="34" charset="-120"/>
              </a:rPr>
              <a:t>→</a:t>
            </a:r>
            <a:endParaRPr lang="en-US" sz="2600" dirty="0"/>
          </a:p>
        </p:txBody>
      </p:sp>
      <p:sp>
        <p:nvSpPr>
          <p:cNvPr id="14" name="Shape 10"/>
          <p:cNvSpPr/>
          <p:nvPr/>
        </p:nvSpPr>
        <p:spPr>
          <a:xfrm>
            <a:off x="5980176" y="2331720"/>
            <a:ext cx="2331720" cy="2194560"/>
          </a:xfrm>
          <a:prstGeom prst="roundRect">
            <a:avLst>
              <a:gd name="adj" fmla="val 3333"/>
            </a:avLst>
          </a:prstGeom>
          <a:solidFill>
            <a:srgbClr val="1E2761"/>
          </a:solidFill>
          <a:ln/>
        </p:spPr>
      </p:sp>
      <p:pic>
        <p:nvPicPr>
          <p:cNvPr id="15" name="Image 2" descr="/home/claude/deck/icons/cpu_FFFFFF.png">    </p:cNvPr>
          <p:cNvPicPr>
            <a:picLocks noChangeAspect="1"/>
          </p:cNvPicPr>
          <p:nvPr/>
        </p:nvPicPr>
        <p:blipFill>
          <a:blip r:embed="rId3"/>
          <a:stretch>
            <a:fillRect/>
          </a:stretch>
        </p:blipFill>
        <p:spPr>
          <a:xfrm>
            <a:off x="6871716" y="2587752"/>
            <a:ext cx="548640" cy="548640"/>
          </a:xfrm>
          <a:prstGeom prst="rect">
            <a:avLst/>
          </a:prstGeom>
        </p:spPr>
      </p:pic>
      <p:sp>
        <p:nvSpPr>
          <p:cNvPr id="16" name="Text 11"/>
          <p:cNvSpPr txBox="1"/>
          <p:nvPr/>
        </p:nvSpPr>
        <p:spPr>
          <a:xfrm>
            <a:off x="6117336" y="3246120"/>
            <a:ext cx="20574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Lightweight Attention Head</a:t>
            </a:r>
            <a:endParaRPr lang="en-US" sz="1350" dirty="0"/>
          </a:p>
        </p:txBody>
      </p:sp>
      <p:sp>
        <p:nvSpPr>
          <p:cNvPr id="17" name="Text 12"/>
          <p:cNvSpPr txBox="1"/>
          <p:nvPr/>
        </p:nvSpPr>
        <p:spPr>
          <a:xfrm>
            <a:off x="6117336" y="3657600"/>
            <a:ext cx="2057400" cy="822960"/>
          </a:xfrm>
          <a:prstGeom prst="rect">
            <a:avLst/>
          </a:prstGeom>
          <a:noFill/>
          <a:ln/>
        </p:spPr>
        <p:txBody>
          <a:bodyPr wrap="square" lIns="0" tIns="0" rIns="0" bIns="0" rtlCol="0" anchor="ctr"/>
          <a:lstStyle/>
          <a:p>
            <a:pPr algn="ctr" indent="0" marL="0">
              <a:lnSpc>
                <a:spcPct val="115000"/>
              </a:lnSpc>
              <a:buNone/>
            </a:pPr>
            <a:r>
              <a:rPr lang="en-US" sz="1050" dirty="0">
                <a:solidFill>
                  <a:srgbClr val="CADCFC"/>
                </a:solidFill>
                <a:latin typeface="Calibri" pitchFamily="34" charset="0"/>
                <a:ea typeface="Calibri" pitchFamily="34" charset="-122"/>
                <a:cs typeface="Calibri" pitchFamily="34" charset="-120"/>
              </a:rPr>
              <a:t>Compact spectro-temporal attention classifier on top of frozen/LoRA backbone</a:t>
            </a:r>
            <a:endParaRPr lang="en-US" sz="1050" dirty="0"/>
          </a:p>
        </p:txBody>
      </p:sp>
      <p:sp>
        <p:nvSpPr>
          <p:cNvPr id="18" name="Text 13"/>
          <p:cNvSpPr txBox="1"/>
          <p:nvPr/>
        </p:nvSpPr>
        <p:spPr>
          <a:xfrm>
            <a:off x="8311896" y="3108960"/>
            <a:ext cx="384048" cy="640080"/>
          </a:xfrm>
          <a:prstGeom prst="rect">
            <a:avLst/>
          </a:prstGeom>
          <a:noFill/>
          <a:ln/>
        </p:spPr>
        <p:txBody>
          <a:bodyPr wrap="square" lIns="0" tIns="0" rIns="0" bIns="0" rtlCol="0" anchor="ctr"/>
          <a:lstStyle/>
          <a:p>
            <a:pPr algn="ctr" indent="0" marL="0">
              <a:buNone/>
            </a:pPr>
            <a:r>
              <a:rPr lang="en-US" sz="2600" b="1" dirty="0">
                <a:solidFill>
                  <a:srgbClr val="E94F37"/>
                </a:solidFill>
                <a:latin typeface="Arial" pitchFamily="34" charset="0"/>
                <a:ea typeface="Arial" pitchFamily="34" charset="-122"/>
                <a:cs typeface="Arial" pitchFamily="34" charset="-120"/>
              </a:rPr>
              <a:t>→</a:t>
            </a:r>
            <a:endParaRPr lang="en-US" sz="2600" dirty="0"/>
          </a:p>
        </p:txBody>
      </p:sp>
      <p:sp>
        <p:nvSpPr>
          <p:cNvPr id="19" name="Shape 14"/>
          <p:cNvSpPr/>
          <p:nvPr/>
        </p:nvSpPr>
        <p:spPr>
          <a:xfrm>
            <a:off x="8695944" y="2331720"/>
            <a:ext cx="2331720" cy="2194560"/>
          </a:xfrm>
          <a:prstGeom prst="roundRect">
            <a:avLst>
              <a:gd name="adj" fmla="val 3333"/>
            </a:avLst>
          </a:prstGeom>
          <a:solidFill>
            <a:srgbClr val="F4F6FC"/>
          </a:solidFill>
          <a:ln/>
        </p:spPr>
      </p:sp>
      <p:pic>
        <p:nvPicPr>
          <p:cNvPr id="20" name="Image 3" descr="/home/claude/deck/icons/target_1E2761.png">    </p:cNvPr>
          <p:cNvPicPr>
            <a:picLocks noChangeAspect="1"/>
          </p:cNvPicPr>
          <p:nvPr/>
        </p:nvPicPr>
        <p:blipFill>
          <a:blip r:embed="rId4"/>
          <a:stretch>
            <a:fillRect/>
          </a:stretch>
        </p:blipFill>
        <p:spPr>
          <a:xfrm>
            <a:off x="9587484" y="2587752"/>
            <a:ext cx="548640" cy="548640"/>
          </a:xfrm>
          <a:prstGeom prst="rect">
            <a:avLst/>
          </a:prstGeom>
        </p:spPr>
      </p:pic>
      <p:sp>
        <p:nvSpPr>
          <p:cNvPr id="21" name="Text 15"/>
          <p:cNvSpPr txBox="1"/>
          <p:nvPr/>
        </p:nvSpPr>
        <p:spPr>
          <a:xfrm>
            <a:off x="8833104" y="3246120"/>
            <a:ext cx="2057400" cy="457200"/>
          </a:xfrm>
          <a:prstGeom prst="rect">
            <a:avLst/>
          </a:prstGeom>
          <a:noFill/>
          <a:ln/>
        </p:spPr>
        <p:txBody>
          <a:bodyPr wrap="square" lIns="0" tIns="0" rIns="0" bIns="0" rtlCol="0" anchor="ctr"/>
          <a:lstStyle/>
          <a:p>
            <a:pPr algn="ctr" indent="0" marL="0">
              <a:buNone/>
            </a:pPr>
            <a:r>
              <a:rPr lang="en-US" sz="1350" b="1" dirty="0">
                <a:solidFill>
                  <a:srgbClr val="1B1F3B"/>
                </a:solidFill>
                <a:latin typeface="Calibri" pitchFamily="34" charset="0"/>
                <a:ea typeface="Calibri" pitchFamily="34" charset="-122"/>
                <a:cs typeface="Calibri" pitchFamily="34" charset="-120"/>
              </a:rPr>
              <a:t>Trust Score</a:t>
            </a:r>
            <a:endParaRPr lang="en-US" sz="1350" dirty="0"/>
          </a:p>
        </p:txBody>
      </p:sp>
      <p:sp>
        <p:nvSpPr>
          <p:cNvPr id="22" name="Text 16"/>
          <p:cNvSpPr txBox="1"/>
          <p:nvPr/>
        </p:nvSpPr>
        <p:spPr>
          <a:xfrm>
            <a:off x="8833104" y="3657600"/>
            <a:ext cx="2057400" cy="822960"/>
          </a:xfrm>
          <a:prstGeom prst="rect">
            <a:avLst/>
          </a:prstGeom>
          <a:noFill/>
          <a:ln/>
        </p:spPr>
        <p:txBody>
          <a:bodyPr wrap="square" lIns="0" tIns="0" rIns="0" bIns="0" rtlCol="0" anchor="ctr"/>
          <a:lstStyle/>
          <a:p>
            <a:pPr algn="ctr" indent="0" marL="0">
              <a:lnSpc>
                <a:spcPct val="115000"/>
              </a:lnSpc>
              <a:buNone/>
            </a:pPr>
            <a:r>
              <a:rPr lang="en-US" sz="1050" dirty="0">
                <a:solidFill>
                  <a:srgbClr val="44506B"/>
                </a:solidFill>
                <a:latin typeface="Calibri" pitchFamily="34" charset="0"/>
                <a:ea typeface="Calibri" pitchFamily="34" charset="-122"/>
                <a:cs typeface="Calibri" pitchFamily="34" charset="-120"/>
              </a:rPr>
              <a:t>Running per-segment authenticity score, streamed continuously</a:t>
            </a:r>
            <a:endParaRPr lang="en-US" sz="1050" dirty="0"/>
          </a:p>
        </p:txBody>
      </p:sp>
      <p:sp>
        <p:nvSpPr>
          <p:cNvPr id="23" name="Shape 17"/>
          <p:cNvSpPr/>
          <p:nvPr/>
        </p:nvSpPr>
        <p:spPr>
          <a:xfrm>
            <a:off x="548640" y="4983480"/>
            <a:ext cx="11064240" cy="1051560"/>
          </a:xfrm>
          <a:prstGeom prst="roundRect">
            <a:avLst>
              <a:gd name="adj" fmla="val 6957"/>
            </a:avLst>
          </a:prstGeom>
          <a:solidFill>
            <a:srgbClr val="FFF3F1"/>
          </a:solidFill>
          <a:ln w="12700">
            <a:solidFill>
              <a:srgbClr val="E94F37"/>
            </a:solidFill>
            <a:prstDash val="solid"/>
          </a:ln>
        </p:spPr>
      </p:sp>
      <p:pic>
        <p:nvPicPr>
          <p:cNvPr id="24" name="Image 4" descr="/home/claude/deck/icons/alert_1E2761.png">    </p:cNvPr>
          <p:cNvPicPr>
            <a:picLocks noChangeAspect="1"/>
          </p:cNvPicPr>
          <p:nvPr/>
        </p:nvPicPr>
        <p:blipFill>
          <a:blip r:embed="rId5"/>
          <a:stretch>
            <a:fillRect/>
          </a:stretch>
        </p:blipFill>
        <p:spPr>
          <a:xfrm>
            <a:off x="822960" y="5230368"/>
            <a:ext cx="502920" cy="502920"/>
          </a:xfrm>
          <a:prstGeom prst="rect">
            <a:avLst/>
          </a:prstGeom>
        </p:spPr>
      </p:pic>
      <p:sp>
        <p:nvSpPr>
          <p:cNvPr id="25" name="Text 18"/>
          <p:cNvSpPr txBox="1"/>
          <p:nvPr/>
        </p:nvSpPr>
        <p:spPr>
          <a:xfrm>
            <a:off x="1463040" y="5138928"/>
            <a:ext cx="9875520" cy="685800"/>
          </a:xfrm>
          <a:prstGeom prst="rect">
            <a:avLst/>
          </a:prstGeom>
          <a:noFill/>
          <a:ln/>
        </p:spPr>
        <p:txBody>
          <a:bodyPr wrap="square" lIns="0" tIns="0" rIns="0" bIns="0" rtlCol="0" anchor="ctr"/>
          <a:lstStyle/>
          <a:p>
            <a:pPr indent="0" marL="0">
              <a:lnSpc>
                <a:spcPct val="120000"/>
              </a:lnSpc>
              <a:buNone/>
            </a:pPr>
            <a:r>
              <a:rPr lang="en-US" sz="1250" dirty="0">
                <a:solidFill>
                  <a:srgbClr val="1B1F3B"/>
                </a:solidFill>
                <a:latin typeface="Calibri" pitchFamily="34" charset="0"/>
                <a:ea typeface="Calibri" pitchFamily="34" charset="-122"/>
                <a:cs typeface="Calibri" pitchFamily="34" charset="-120"/>
              </a:rPr>
              <a:t>Decision layer: trust score is thresholded for real-time block/allow, and passed upstream as a signal into the multi-layer phishing-defense stack (see next).</a:t>
            </a:r>
            <a:endParaRPr lang="en-US" sz="1250" dirty="0"/>
          </a:p>
        </p:txBody>
      </p:sp>
      <p:sp>
        <p:nvSpPr>
          <p:cNvPr id="26" name="Text 19"/>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7" name="Text 20"/>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SYSTEMS ENGINEERING</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Making it real-time, not just accurate</a:t>
            </a:r>
            <a:endParaRPr lang="en-US" sz="3000" dirty="0"/>
          </a:p>
        </p:txBody>
      </p:sp>
      <p:sp>
        <p:nvSpPr>
          <p:cNvPr id="4" name="Shape 2"/>
          <p:cNvSpPr/>
          <p:nvPr/>
        </p:nvSpPr>
        <p:spPr>
          <a:xfrm>
            <a:off x="548640" y="1600200"/>
            <a:ext cx="5349240" cy="2103120"/>
          </a:xfrm>
          <a:prstGeom prst="roundRect">
            <a:avLst>
              <a:gd name="adj" fmla="val 3478"/>
            </a:avLst>
          </a:prstGeom>
          <a:solidFill>
            <a:srgbClr val="F4F6FC"/>
          </a:solidFill>
          <a:ln/>
        </p:spPr>
      </p:sp>
      <p:sp>
        <p:nvSpPr>
          <p:cNvPr id="5" name="Shape 3"/>
          <p:cNvSpPr/>
          <p:nvPr/>
        </p:nvSpPr>
        <p:spPr>
          <a:xfrm>
            <a:off x="822960" y="1874520"/>
            <a:ext cx="594360" cy="594360"/>
          </a:xfrm>
          <a:prstGeom prst="ellipse">
            <a:avLst/>
          </a:prstGeom>
          <a:solidFill>
            <a:srgbClr val="1E2761"/>
          </a:solidFill>
          <a:ln/>
        </p:spPr>
      </p:sp>
      <p:pic>
        <p:nvPicPr>
          <p:cNvPr id="6" name="Image 0" descr="/home/claude/deck/icons/activity_FFFFFF.png">    </p:cNvPr>
          <p:cNvPicPr>
            <a:picLocks noChangeAspect="1"/>
          </p:cNvPicPr>
          <p:nvPr/>
        </p:nvPicPr>
        <p:blipFill>
          <a:blip r:embed="rId1"/>
          <a:stretch>
            <a:fillRect/>
          </a:stretch>
        </p:blipFill>
        <p:spPr>
          <a:xfrm>
            <a:off x="969264" y="2020824"/>
            <a:ext cx="301752" cy="301752"/>
          </a:xfrm>
          <a:prstGeom prst="rect">
            <a:avLst/>
          </a:prstGeom>
        </p:spPr>
      </p:pic>
      <p:sp>
        <p:nvSpPr>
          <p:cNvPr id="7" name="Text 4"/>
          <p:cNvSpPr txBox="1"/>
          <p:nvPr/>
        </p:nvSpPr>
        <p:spPr>
          <a:xfrm>
            <a:off x="1600200" y="1874520"/>
            <a:ext cx="4069080" cy="411480"/>
          </a:xfrm>
          <a:prstGeom prst="rect">
            <a:avLst/>
          </a:prstGeom>
          <a:noFill/>
          <a:ln/>
        </p:spPr>
        <p:txBody>
          <a:bodyPr wrap="square" lIns="0" tIns="0" rIns="0" bIns="0"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Streaming inference</a:t>
            </a:r>
            <a:endParaRPr lang="en-US" sz="1450" dirty="0"/>
          </a:p>
        </p:txBody>
      </p:sp>
      <p:sp>
        <p:nvSpPr>
          <p:cNvPr id="8" name="Text 5"/>
          <p:cNvSpPr txBox="1"/>
          <p:nvPr/>
        </p:nvSpPr>
        <p:spPr>
          <a:xfrm>
            <a:off x="822960" y="2560320"/>
            <a:ext cx="4800600" cy="100584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Sliding 1–2s windows with overlap; running trust score updates instead of waiting for a full call.</a:t>
            </a:r>
            <a:endParaRPr lang="en-US" sz="1200" dirty="0"/>
          </a:p>
        </p:txBody>
      </p:sp>
      <p:sp>
        <p:nvSpPr>
          <p:cNvPr id="9" name="Shape 6"/>
          <p:cNvSpPr/>
          <p:nvPr/>
        </p:nvSpPr>
        <p:spPr>
          <a:xfrm>
            <a:off x="6263640" y="1600200"/>
            <a:ext cx="5349240" cy="2103120"/>
          </a:xfrm>
          <a:prstGeom prst="roundRect">
            <a:avLst>
              <a:gd name="adj" fmla="val 3478"/>
            </a:avLst>
          </a:prstGeom>
          <a:solidFill>
            <a:srgbClr val="F4F6FC"/>
          </a:solidFill>
          <a:ln/>
        </p:spPr>
      </p:sp>
      <p:sp>
        <p:nvSpPr>
          <p:cNvPr id="10" name="Shape 7"/>
          <p:cNvSpPr/>
          <p:nvPr/>
        </p:nvSpPr>
        <p:spPr>
          <a:xfrm>
            <a:off x="6537960" y="1874520"/>
            <a:ext cx="594360" cy="594360"/>
          </a:xfrm>
          <a:prstGeom prst="ellipse">
            <a:avLst/>
          </a:prstGeom>
          <a:solidFill>
            <a:srgbClr val="1E2761"/>
          </a:solidFill>
          <a:ln/>
        </p:spPr>
      </p:sp>
      <p:pic>
        <p:nvPicPr>
          <p:cNvPr id="11" name="Image 1" descr="/home/claude/deck/icons/cpu_FFFFFF.png">    </p:cNvPr>
          <p:cNvPicPr>
            <a:picLocks noChangeAspect="1"/>
          </p:cNvPicPr>
          <p:nvPr/>
        </p:nvPicPr>
        <p:blipFill>
          <a:blip r:embed="rId2"/>
          <a:stretch>
            <a:fillRect/>
          </a:stretch>
        </p:blipFill>
        <p:spPr>
          <a:xfrm>
            <a:off x="6684264" y="2020824"/>
            <a:ext cx="301752" cy="301752"/>
          </a:xfrm>
          <a:prstGeom prst="rect">
            <a:avLst/>
          </a:prstGeom>
        </p:spPr>
      </p:pic>
      <p:sp>
        <p:nvSpPr>
          <p:cNvPr id="12" name="Text 8"/>
          <p:cNvSpPr txBox="1"/>
          <p:nvPr/>
        </p:nvSpPr>
        <p:spPr>
          <a:xfrm>
            <a:off x="7315200" y="1874520"/>
            <a:ext cx="4069080" cy="411480"/>
          </a:xfrm>
          <a:prstGeom prst="rect">
            <a:avLst/>
          </a:prstGeom>
          <a:noFill/>
          <a:ln/>
        </p:spPr>
        <p:txBody>
          <a:bodyPr wrap="square" lIns="0" tIns="0" rIns="0" bIns="0"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Model compression</a:t>
            </a:r>
            <a:endParaRPr lang="en-US" sz="1450" dirty="0"/>
          </a:p>
        </p:txBody>
      </p:sp>
      <p:sp>
        <p:nvSpPr>
          <p:cNvPr id="13" name="Text 9"/>
          <p:cNvSpPr txBox="1"/>
          <p:nvPr/>
        </p:nvSpPr>
        <p:spPr>
          <a:xfrm>
            <a:off x="6537960" y="2560320"/>
            <a:ext cx="4800600" cy="100584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Quantize/distill the SSL backbone (INT8, distilled student) to target sub-200ms latency per chunk.</a:t>
            </a:r>
            <a:endParaRPr lang="en-US" sz="1200" dirty="0"/>
          </a:p>
        </p:txBody>
      </p:sp>
      <p:sp>
        <p:nvSpPr>
          <p:cNvPr id="14" name="Shape 10"/>
          <p:cNvSpPr/>
          <p:nvPr/>
        </p:nvSpPr>
        <p:spPr>
          <a:xfrm>
            <a:off x="548640" y="3977640"/>
            <a:ext cx="5349240" cy="2103120"/>
          </a:xfrm>
          <a:prstGeom prst="roundRect">
            <a:avLst>
              <a:gd name="adj" fmla="val 3478"/>
            </a:avLst>
          </a:prstGeom>
          <a:solidFill>
            <a:srgbClr val="F4F6FC"/>
          </a:solidFill>
          <a:ln/>
        </p:spPr>
      </p:sp>
      <p:sp>
        <p:nvSpPr>
          <p:cNvPr id="15" name="Shape 11"/>
          <p:cNvSpPr/>
          <p:nvPr/>
        </p:nvSpPr>
        <p:spPr>
          <a:xfrm>
            <a:off x="822960" y="4251960"/>
            <a:ext cx="594360" cy="594360"/>
          </a:xfrm>
          <a:prstGeom prst="ellipse">
            <a:avLst/>
          </a:prstGeom>
          <a:solidFill>
            <a:srgbClr val="1E2761"/>
          </a:solidFill>
          <a:ln/>
        </p:spPr>
      </p:sp>
      <p:pic>
        <p:nvPicPr>
          <p:cNvPr id="16" name="Image 2" descr="/home/claude/deck/icons/phoneoff_FFFFFF.png">    </p:cNvPr>
          <p:cNvPicPr>
            <a:picLocks noChangeAspect="1"/>
          </p:cNvPicPr>
          <p:nvPr/>
        </p:nvPicPr>
        <p:blipFill>
          <a:blip r:embed="rId3"/>
          <a:stretch>
            <a:fillRect/>
          </a:stretch>
        </p:blipFill>
        <p:spPr>
          <a:xfrm>
            <a:off x="969264" y="4398264"/>
            <a:ext cx="301752" cy="301752"/>
          </a:xfrm>
          <a:prstGeom prst="rect">
            <a:avLst/>
          </a:prstGeom>
        </p:spPr>
      </p:pic>
      <p:sp>
        <p:nvSpPr>
          <p:cNvPr id="17" name="Text 12"/>
          <p:cNvSpPr txBox="1"/>
          <p:nvPr/>
        </p:nvSpPr>
        <p:spPr>
          <a:xfrm>
            <a:off x="1600200" y="4251960"/>
            <a:ext cx="4069080" cy="411480"/>
          </a:xfrm>
          <a:prstGeom prst="rect">
            <a:avLst/>
          </a:prstGeom>
          <a:noFill/>
          <a:ln/>
        </p:spPr>
        <p:txBody>
          <a:bodyPr wrap="square" lIns="0" tIns="0" rIns="0" bIns="0"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Degraded-channel robustness</a:t>
            </a:r>
            <a:endParaRPr lang="en-US" sz="1450" dirty="0"/>
          </a:p>
        </p:txBody>
      </p:sp>
      <p:sp>
        <p:nvSpPr>
          <p:cNvPr id="18" name="Text 13"/>
          <p:cNvSpPr txBox="1"/>
          <p:nvPr/>
        </p:nvSpPr>
        <p:spPr>
          <a:xfrm>
            <a:off x="822960" y="4937760"/>
            <a:ext cx="4800600" cy="100584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Train with codec compression, packet loss, and 8kHz narrowband telephony — the real conditions vishing calls arrive on.</a:t>
            </a:r>
            <a:endParaRPr lang="en-US" sz="1200" dirty="0"/>
          </a:p>
        </p:txBody>
      </p:sp>
      <p:sp>
        <p:nvSpPr>
          <p:cNvPr id="19" name="Shape 14"/>
          <p:cNvSpPr/>
          <p:nvPr/>
        </p:nvSpPr>
        <p:spPr>
          <a:xfrm>
            <a:off x="6263640" y="3977640"/>
            <a:ext cx="5349240" cy="2103120"/>
          </a:xfrm>
          <a:prstGeom prst="roundRect">
            <a:avLst>
              <a:gd name="adj" fmla="val 3478"/>
            </a:avLst>
          </a:prstGeom>
          <a:solidFill>
            <a:srgbClr val="F4F6FC"/>
          </a:solidFill>
          <a:ln/>
        </p:spPr>
      </p:sp>
      <p:sp>
        <p:nvSpPr>
          <p:cNvPr id="20" name="Shape 15"/>
          <p:cNvSpPr/>
          <p:nvPr/>
        </p:nvSpPr>
        <p:spPr>
          <a:xfrm>
            <a:off x="6537960" y="4251960"/>
            <a:ext cx="594360" cy="594360"/>
          </a:xfrm>
          <a:prstGeom prst="ellipse">
            <a:avLst/>
          </a:prstGeom>
          <a:solidFill>
            <a:srgbClr val="1E2761"/>
          </a:solidFill>
          <a:ln/>
        </p:spPr>
      </p:sp>
      <p:pic>
        <p:nvPicPr>
          <p:cNvPr id="21" name="Image 3" descr="/home/claude/deck/icons/layers_FFFFFF.png">    </p:cNvPr>
          <p:cNvPicPr>
            <a:picLocks noChangeAspect="1"/>
          </p:cNvPicPr>
          <p:nvPr/>
        </p:nvPicPr>
        <p:blipFill>
          <a:blip r:embed="rId4"/>
          <a:stretch>
            <a:fillRect/>
          </a:stretch>
        </p:blipFill>
        <p:spPr>
          <a:xfrm>
            <a:off x="6684264" y="4398264"/>
            <a:ext cx="301752" cy="301752"/>
          </a:xfrm>
          <a:prstGeom prst="rect">
            <a:avLst/>
          </a:prstGeom>
        </p:spPr>
      </p:pic>
      <p:sp>
        <p:nvSpPr>
          <p:cNvPr id="22" name="Text 16"/>
          <p:cNvSpPr txBox="1"/>
          <p:nvPr/>
        </p:nvSpPr>
        <p:spPr>
          <a:xfrm>
            <a:off x="7315200" y="4251960"/>
            <a:ext cx="4069080" cy="411480"/>
          </a:xfrm>
          <a:prstGeom prst="rect">
            <a:avLst/>
          </a:prstGeom>
          <a:noFill/>
          <a:ln/>
        </p:spPr>
        <p:txBody>
          <a:bodyPr wrap="square" lIns="0" tIns="0" rIns="0" bIns="0"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Edge / cloud split</a:t>
            </a:r>
            <a:endParaRPr lang="en-US" sz="1450" dirty="0"/>
          </a:p>
        </p:txBody>
      </p:sp>
      <p:sp>
        <p:nvSpPr>
          <p:cNvPr id="23" name="Text 17"/>
          <p:cNvSpPr txBox="1"/>
          <p:nvPr/>
        </p:nvSpPr>
        <p:spPr>
          <a:xfrm>
            <a:off x="6537960" y="4937760"/>
            <a:ext cx="4800600" cy="100584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Fast handcrafted-feature triage at the gateway for an instant first pass; heavier backbone confirms asynchronously.</a:t>
            </a:r>
            <a:endParaRPr lang="en-US" sz="1200" dirty="0"/>
          </a:p>
        </p:txBody>
      </p:sp>
      <p:sp>
        <p:nvSpPr>
          <p:cNvPr id="24" name="Text 18"/>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5" name="Text 19"/>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INTEGRATION</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One signal in a multi-layer phishing defense</a:t>
            </a:r>
            <a:endParaRPr lang="en-US" sz="3000" dirty="0"/>
          </a:p>
        </p:txBody>
      </p:sp>
      <p:sp>
        <p:nvSpPr>
          <p:cNvPr id="4" name="Shape 2"/>
          <p:cNvSpPr/>
          <p:nvPr/>
        </p:nvSpPr>
        <p:spPr>
          <a:xfrm>
            <a:off x="548640" y="1691640"/>
            <a:ext cx="10515600" cy="1234440"/>
          </a:xfrm>
          <a:prstGeom prst="roundRect">
            <a:avLst>
              <a:gd name="adj" fmla="val 5926"/>
            </a:avLst>
          </a:prstGeom>
          <a:solidFill>
            <a:srgbClr val="1E2761"/>
          </a:solidFill>
          <a:ln/>
        </p:spPr>
      </p:sp>
      <p:sp>
        <p:nvSpPr>
          <p:cNvPr id="5" name="Shape 3"/>
          <p:cNvSpPr/>
          <p:nvPr/>
        </p:nvSpPr>
        <p:spPr>
          <a:xfrm>
            <a:off x="822960" y="2011680"/>
            <a:ext cx="594360" cy="594360"/>
          </a:xfrm>
          <a:prstGeom prst="ellipse">
            <a:avLst/>
          </a:prstGeom>
          <a:solidFill>
            <a:srgbClr val="FFFFFF"/>
          </a:solidFill>
          <a:ln/>
        </p:spPr>
      </p:sp>
      <p:pic>
        <p:nvPicPr>
          <p:cNvPr id="6" name="Image 0" descr="/home/claude/deck/icons/mic_1E2761.png">    </p:cNvPr>
          <p:cNvPicPr>
            <a:picLocks noChangeAspect="1"/>
          </p:cNvPicPr>
          <p:nvPr/>
        </p:nvPicPr>
        <p:blipFill>
          <a:blip r:embed="rId1"/>
          <a:stretch>
            <a:fillRect/>
          </a:stretch>
        </p:blipFill>
        <p:spPr>
          <a:xfrm>
            <a:off x="969264" y="2157984"/>
            <a:ext cx="301752" cy="301752"/>
          </a:xfrm>
          <a:prstGeom prst="rect">
            <a:avLst/>
          </a:prstGeom>
        </p:spPr>
      </p:pic>
      <p:sp>
        <p:nvSpPr>
          <p:cNvPr id="7" name="Text 4"/>
          <p:cNvSpPr txBox="1"/>
          <p:nvPr/>
        </p:nvSpPr>
        <p:spPr>
          <a:xfrm>
            <a:off x="1600200" y="1837944"/>
            <a:ext cx="8686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Layer 1 — Voice PAD</a:t>
            </a:r>
            <a:endParaRPr lang="en-US" sz="1500" dirty="0"/>
          </a:p>
        </p:txBody>
      </p:sp>
      <p:sp>
        <p:nvSpPr>
          <p:cNvPr id="8" name="Text 5"/>
          <p:cNvSpPr txBox="1"/>
          <p:nvPr/>
        </p:nvSpPr>
        <p:spPr>
          <a:xfrm>
            <a:off x="1600200" y="2221992"/>
            <a:ext cx="8686800" cy="6400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Real vs. synthetic score per call segment (this project's deliverable)</a:t>
            </a:r>
            <a:endParaRPr lang="en-US" sz="1150" dirty="0"/>
          </a:p>
        </p:txBody>
      </p:sp>
      <p:sp>
        <p:nvSpPr>
          <p:cNvPr id="9" name="Shape 6"/>
          <p:cNvSpPr/>
          <p:nvPr/>
        </p:nvSpPr>
        <p:spPr>
          <a:xfrm>
            <a:off x="1051560" y="3154680"/>
            <a:ext cx="9509760" cy="1234440"/>
          </a:xfrm>
          <a:prstGeom prst="roundRect">
            <a:avLst>
              <a:gd name="adj" fmla="val 5926"/>
            </a:avLst>
          </a:prstGeom>
          <a:solidFill>
            <a:srgbClr val="3E4A85"/>
          </a:solidFill>
          <a:ln/>
        </p:spPr>
      </p:sp>
      <p:sp>
        <p:nvSpPr>
          <p:cNvPr id="10" name="Shape 7"/>
          <p:cNvSpPr/>
          <p:nvPr/>
        </p:nvSpPr>
        <p:spPr>
          <a:xfrm>
            <a:off x="1325880" y="3474720"/>
            <a:ext cx="594360" cy="594360"/>
          </a:xfrm>
          <a:prstGeom prst="ellipse">
            <a:avLst/>
          </a:prstGeom>
          <a:solidFill>
            <a:srgbClr val="FFFFFF"/>
          </a:solidFill>
          <a:ln/>
        </p:spPr>
      </p:sp>
      <p:pic>
        <p:nvPicPr>
          <p:cNvPr id="11" name="Image 1" descr="/home/claude/deck/icons/activity_1E2761.png">    </p:cNvPr>
          <p:cNvPicPr>
            <a:picLocks noChangeAspect="1"/>
          </p:cNvPicPr>
          <p:nvPr/>
        </p:nvPicPr>
        <p:blipFill>
          <a:blip r:embed="rId2"/>
          <a:stretch>
            <a:fillRect/>
          </a:stretch>
        </p:blipFill>
        <p:spPr>
          <a:xfrm>
            <a:off x="1472184" y="3621024"/>
            <a:ext cx="301752" cy="301752"/>
          </a:xfrm>
          <a:prstGeom prst="rect">
            <a:avLst/>
          </a:prstGeom>
        </p:spPr>
      </p:pic>
      <p:sp>
        <p:nvSpPr>
          <p:cNvPr id="12" name="Text 8"/>
          <p:cNvSpPr txBox="1"/>
          <p:nvPr/>
        </p:nvSpPr>
        <p:spPr>
          <a:xfrm>
            <a:off x="2103120" y="3300984"/>
            <a:ext cx="76809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Layer 2 — Behavioral &amp; Context</a:t>
            </a:r>
            <a:endParaRPr lang="en-US" sz="1500" dirty="0"/>
          </a:p>
        </p:txBody>
      </p:sp>
      <p:sp>
        <p:nvSpPr>
          <p:cNvPr id="13" name="Text 9"/>
          <p:cNvSpPr txBox="1"/>
          <p:nvPr/>
        </p:nvSpPr>
        <p:spPr>
          <a:xfrm>
            <a:off x="2103120" y="3685032"/>
            <a:ext cx="7680960" cy="6400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Caller-ID spoofing signals, call metadata anomalies, urgency / funds-transfer request patterns typical of vishing scripts</a:t>
            </a:r>
            <a:endParaRPr lang="en-US" sz="1150" dirty="0"/>
          </a:p>
        </p:txBody>
      </p:sp>
      <p:sp>
        <p:nvSpPr>
          <p:cNvPr id="14" name="Shape 10"/>
          <p:cNvSpPr/>
          <p:nvPr/>
        </p:nvSpPr>
        <p:spPr>
          <a:xfrm>
            <a:off x="1554480" y="4617720"/>
            <a:ext cx="8503920" cy="1234440"/>
          </a:xfrm>
          <a:prstGeom prst="roundRect">
            <a:avLst>
              <a:gd name="adj" fmla="val 5926"/>
            </a:avLst>
          </a:prstGeom>
          <a:solidFill>
            <a:srgbClr val="6470B3"/>
          </a:solidFill>
          <a:ln/>
        </p:spPr>
      </p:sp>
      <p:sp>
        <p:nvSpPr>
          <p:cNvPr id="15" name="Shape 11"/>
          <p:cNvSpPr/>
          <p:nvPr/>
        </p:nvSpPr>
        <p:spPr>
          <a:xfrm>
            <a:off x="1828800" y="4937760"/>
            <a:ext cx="594360" cy="594360"/>
          </a:xfrm>
          <a:prstGeom prst="ellipse">
            <a:avLst/>
          </a:prstGeom>
          <a:solidFill>
            <a:srgbClr val="FFFFFF"/>
          </a:solidFill>
          <a:ln/>
        </p:spPr>
      </p:sp>
      <p:pic>
        <p:nvPicPr>
          <p:cNvPr id="16" name="Image 2" descr="/home/claude/deck/icons/layers_1E2761.png">    </p:cNvPr>
          <p:cNvPicPr>
            <a:picLocks noChangeAspect="1"/>
          </p:cNvPicPr>
          <p:nvPr/>
        </p:nvPicPr>
        <p:blipFill>
          <a:blip r:embed="rId3"/>
          <a:stretch>
            <a:fillRect/>
          </a:stretch>
        </p:blipFill>
        <p:spPr>
          <a:xfrm>
            <a:off x="1975104" y="5084064"/>
            <a:ext cx="301752" cy="301752"/>
          </a:xfrm>
          <a:prstGeom prst="rect">
            <a:avLst/>
          </a:prstGeom>
        </p:spPr>
      </p:pic>
      <p:sp>
        <p:nvSpPr>
          <p:cNvPr id="17" name="Text 12"/>
          <p:cNvSpPr txBox="1"/>
          <p:nvPr/>
        </p:nvSpPr>
        <p:spPr>
          <a:xfrm>
            <a:off x="2606040" y="4764024"/>
            <a:ext cx="6675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Layer 3 — Fusion &amp; Adaptive Decision</a:t>
            </a:r>
            <a:endParaRPr lang="en-US" sz="1500" dirty="0"/>
          </a:p>
        </p:txBody>
      </p:sp>
      <p:sp>
        <p:nvSpPr>
          <p:cNvPr id="18" name="Text 13"/>
          <p:cNvSpPr txBox="1"/>
          <p:nvPr/>
        </p:nvSpPr>
        <p:spPr>
          <a:xfrm>
            <a:off x="2606040" y="5148072"/>
            <a:ext cx="6675120" cy="6400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Combines PAD score with contextual risk; borderline voice + high-risk context triggers step-up auth, high-confidence spoof triggers an immediate block</a:t>
            </a:r>
            <a:endParaRPr lang="en-US" sz="1150" dirty="0"/>
          </a:p>
        </p:txBody>
      </p:sp>
      <p:sp>
        <p:nvSpPr>
          <p:cNvPr id="19" name="Text 14"/>
          <p:cNvSpPr txBox="1"/>
          <p:nvPr/>
        </p:nvSpPr>
        <p:spPr>
          <a:xfrm>
            <a:off x="548640" y="6263640"/>
            <a:ext cx="10881360" cy="274320"/>
          </a:xfrm>
          <a:prstGeom prst="rect">
            <a:avLst/>
          </a:prstGeom>
          <a:noFill/>
          <a:ln/>
        </p:spPr>
        <p:txBody>
          <a:bodyPr wrap="square" lIns="0" tIns="0" rIns="0" bIns="0" rtlCol="0" anchor="ctr"/>
          <a:lstStyle/>
          <a:p>
            <a:pPr indent="0" marL="0">
              <a:buNone/>
            </a:pPr>
            <a:r>
              <a:rPr lang="en-US" sz="1050" i="1" dirty="0">
                <a:solidFill>
                  <a:srgbClr val="8792AC"/>
                </a:solidFill>
                <a:latin typeface="Calibri" pitchFamily="34" charset="0"/>
                <a:ea typeface="Calibri" pitchFamily="34" charset="-122"/>
                <a:cs typeface="Calibri" pitchFamily="34" charset="-120"/>
              </a:rPr>
              <a:t>Grounded in a multi-layer adaptive framework for phishing-attack detection (Ige, Kiekintveld &amp; Piplai, 2024).</a:t>
            </a:r>
            <a:endParaRPr lang="en-US" sz="1050" dirty="0"/>
          </a:p>
        </p:txBody>
      </p:sp>
      <p:sp>
        <p:nvSpPr>
          <p:cNvPr id="20" name="Text 15"/>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1" name="Text 16"/>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EVALUATION PLAN</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Proving generalization, not just accuracy</a:t>
            </a:r>
            <a:endParaRPr lang="en-US" sz="3000" dirty="0"/>
          </a:p>
        </p:txBody>
      </p:sp>
      <p:sp>
        <p:nvSpPr>
          <p:cNvPr id="4" name="Shape 2"/>
          <p:cNvSpPr/>
          <p:nvPr/>
        </p:nvSpPr>
        <p:spPr>
          <a:xfrm>
            <a:off x="548640" y="1600200"/>
            <a:ext cx="5349240" cy="1353312"/>
          </a:xfrm>
          <a:prstGeom prst="roundRect">
            <a:avLst>
              <a:gd name="adj" fmla="val 5405"/>
            </a:avLst>
          </a:prstGeom>
          <a:solidFill>
            <a:srgbClr val="F4F6FC"/>
          </a:solidFill>
          <a:ln/>
        </p:spPr>
      </p:sp>
      <p:pic>
        <p:nvPicPr>
          <p:cNvPr id="5" name="Image 0" descr="/home/claude/deck/icons/chart_1E2761.png">    </p:cNvPr>
          <p:cNvPicPr>
            <a:picLocks noChangeAspect="1"/>
          </p:cNvPicPr>
          <p:nvPr/>
        </p:nvPicPr>
        <p:blipFill>
          <a:blip r:embed="rId1"/>
          <a:stretch>
            <a:fillRect/>
          </a:stretch>
        </p:blipFill>
        <p:spPr>
          <a:xfrm>
            <a:off x="822960" y="1819656"/>
            <a:ext cx="438912" cy="438912"/>
          </a:xfrm>
          <a:prstGeom prst="rect">
            <a:avLst/>
          </a:prstGeom>
        </p:spPr>
      </p:pic>
      <p:sp>
        <p:nvSpPr>
          <p:cNvPr id="6" name="Text 3"/>
          <p:cNvSpPr txBox="1"/>
          <p:nvPr/>
        </p:nvSpPr>
        <p:spPr>
          <a:xfrm>
            <a:off x="1463040" y="1764792"/>
            <a:ext cx="4206240" cy="36576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EER &amp; min t-DCF</a:t>
            </a:r>
            <a:endParaRPr lang="en-US" sz="1400" dirty="0"/>
          </a:p>
        </p:txBody>
      </p:sp>
      <p:sp>
        <p:nvSpPr>
          <p:cNvPr id="7" name="Text 4"/>
          <p:cNvSpPr txBox="1"/>
          <p:nvPr/>
        </p:nvSpPr>
        <p:spPr>
          <a:xfrm>
            <a:off x="1463040" y="2130552"/>
            <a:ext cx="4206240" cy="777240"/>
          </a:xfrm>
          <a:prstGeom prst="rect">
            <a:avLst/>
          </a:prstGeom>
          <a:noFill/>
          <a:ln/>
        </p:spPr>
        <p:txBody>
          <a:bodyPr wrap="square" lIns="0" tIns="0" rIns="0" bIns="0" rtlCol="0" anchor="ctr"/>
          <a:lstStyle/>
          <a:p>
            <a:pPr indent="0" marL="0">
              <a:lnSpc>
                <a:spcPct val="120000"/>
              </a:lnSpc>
              <a:buNone/>
            </a:pPr>
            <a:r>
              <a:rPr lang="en-US" sz="1150" dirty="0">
                <a:solidFill>
                  <a:srgbClr val="44506B"/>
                </a:solidFill>
                <a:latin typeface="Calibri" pitchFamily="34" charset="0"/>
                <a:ea typeface="Calibri" pitchFamily="34" charset="-122"/>
                <a:cs typeface="Calibri" pitchFamily="34" charset="-120"/>
              </a:rPr>
              <a:t>Standard PAD metrics, not raw accuracy — tracked on held-out benchmark splits.</a:t>
            </a:r>
            <a:endParaRPr lang="en-US" sz="1150" dirty="0"/>
          </a:p>
        </p:txBody>
      </p:sp>
      <p:sp>
        <p:nvSpPr>
          <p:cNvPr id="8" name="Shape 5"/>
          <p:cNvSpPr/>
          <p:nvPr/>
        </p:nvSpPr>
        <p:spPr>
          <a:xfrm>
            <a:off x="548640" y="3118104"/>
            <a:ext cx="5349240" cy="1353312"/>
          </a:xfrm>
          <a:prstGeom prst="roundRect">
            <a:avLst>
              <a:gd name="adj" fmla="val 5405"/>
            </a:avLst>
          </a:prstGeom>
          <a:solidFill>
            <a:srgbClr val="F4F6FC"/>
          </a:solidFill>
          <a:ln/>
        </p:spPr>
      </p:sp>
      <p:pic>
        <p:nvPicPr>
          <p:cNvPr id="9" name="Image 1" descr="/home/claude/deck/icons/target_1E2761.png">    </p:cNvPr>
          <p:cNvPicPr>
            <a:picLocks noChangeAspect="1"/>
          </p:cNvPicPr>
          <p:nvPr/>
        </p:nvPicPr>
        <p:blipFill>
          <a:blip r:embed="rId2"/>
          <a:stretch>
            <a:fillRect/>
          </a:stretch>
        </p:blipFill>
        <p:spPr>
          <a:xfrm>
            <a:off x="822960" y="3337560"/>
            <a:ext cx="438912" cy="438912"/>
          </a:xfrm>
          <a:prstGeom prst="rect">
            <a:avLst/>
          </a:prstGeom>
        </p:spPr>
      </p:pic>
      <p:sp>
        <p:nvSpPr>
          <p:cNvPr id="10" name="Text 6"/>
          <p:cNvSpPr txBox="1"/>
          <p:nvPr/>
        </p:nvSpPr>
        <p:spPr>
          <a:xfrm>
            <a:off x="1463040" y="3282696"/>
            <a:ext cx="4206240" cy="36576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Leave-one-generator-out</a:t>
            </a:r>
            <a:endParaRPr lang="en-US" sz="1400" dirty="0"/>
          </a:p>
        </p:txBody>
      </p:sp>
      <p:sp>
        <p:nvSpPr>
          <p:cNvPr id="11" name="Text 7"/>
          <p:cNvSpPr txBox="1"/>
          <p:nvPr/>
        </p:nvSpPr>
        <p:spPr>
          <a:xfrm>
            <a:off x="1463040" y="3648456"/>
            <a:ext cx="4206240" cy="777240"/>
          </a:xfrm>
          <a:prstGeom prst="rect">
            <a:avLst/>
          </a:prstGeom>
          <a:noFill/>
          <a:ln/>
        </p:spPr>
        <p:txBody>
          <a:bodyPr wrap="square" lIns="0" tIns="0" rIns="0" bIns="0" rtlCol="0" anchor="ctr"/>
          <a:lstStyle/>
          <a:p>
            <a:pPr indent="0" marL="0">
              <a:lnSpc>
                <a:spcPct val="120000"/>
              </a:lnSpc>
              <a:buNone/>
            </a:pPr>
            <a:r>
              <a:rPr lang="en-US" sz="1150" dirty="0">
                <a:solidFill>
                  <a:srgbClr val="44506B"/>
                </a:solidFill>
                <a:latin typeface="Calibri" pitchFamily="34" charset="0"/>
                <a:ea typeface="Calibri" pitchFamily="34" charset="-122"/>
                <a:cs typeface="Calibri" pitchFamily="34" charset="-120"/>
              </a:rPr>
              <a:t>Entire vocoder / TTS families held out of training to directly test cross-generator generalization.</a:t>
            </a:r>
            <a:endParaRPr lang="en-US" sz="1150" dirty="0"/>
          </a:p>
        </p:txBody>
      </p:sp>
      <p:sp>
        <p:nvSpPr>
          <p:cNvPr id="12" name="Shape 8"/>
          <p:cNvSpPr/>
          <p:nvPr/>
        </p:nvSpPr>
        <p:spPr>
          <a:xfrm>
            <a:off x="548640" y="4636008"/>
            <a:ext cx="5349240" cy="1353312"/>
          </a:xfrm>
          <a:prstGeom prst="roundRect">
            <a:avLst>
              <a:gd name="adj" fmla="val 5405"/>
            </a:avLst>
          </a:prstGeom>
          <a:solidFill>
            <a:srgbClr val="F4F6FC"/>
          </a:solidFill>
          <a:ln/>
        </p:spPr>
      </p:sp>
      <p:pic>
        <p:nvPicPr>
          <p:cNvPr id="13" name="Image 2" descr="/home/claude/deck/icons/layers_1E2761.png">    </p:cNvPr>
          <p:cNvPicPr>
            <a:picLocks noChangeAspect="1"/>
          </p:cNvPicPr>
          <p:nvPr/>
        </p:nvPicPr>
        <p:blipFill>
          <a:blip r:embed="rId3"/>
          <a:stretch>
            <a:fillRect/>
          </a:stretch>
        </p:blipFill>
        <p:spPr>
          <a:xfrm>
            <a:off x="822960" y="4855464"/>
            <a:ext cx="438912" cy="438912"/>
          </a:xfrm>
          <a:prstGeom prst="rect">
            <a:avLst/>
          </a:prstGeom>
        </p:spPr>
      </p:pic>
      <p:sp>
        <p:nvSpPr>
          <p:cNvPr id="14" name="Text 9"/>
          <p:cNvSpPr txBox="1"/>
          <p:nvPr/>
        </p:nvSpPr>
        <p:spPr>
          <a:xfrm>
            <a:off x="1463040" y="4800600"/>
            <a:ext cx="4206240" cy="36576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Cross-lingual robustness (stretch)</a:t>
            </a:r>
            <a:endParaRPr lang="en-US" sz="1400" dirty="0"/>
          </a:p>
        </p:txBody>
      </p:sp>
      <p:sp>
        <p:nvSpPr>
          <p:cNvPr id="15" name="Text 10"/>
          <p:cNvSpPr txBox="1"/>
          <p:nvPr/>
        </p:nvSpPr>
        <p:spPr>
          <a:xfrm>
            <a:off x="1463040" y="5166360"/>
            <a:ext cx="4206240" cy="777240"/>
          </a:xfrm>
          <a:prstGeom prst="rect">
            <a:avLst/>
          </a:prstGeom>
          <a:noFill/>
          <a:ln/>
        </p:spPr>
        <p:txBody>
          <a:bodyPr wrap="square" lIns="0" tIns="0" rIns="0" bIns="0" rtlCol="0" anchor="ctr"/>
          <a:lstStyle/>
          <a:p>
            <a:pPr indent="0" marL="0">
              <a:lnSpc>
                <a:spcPct val="120000"/>
              </a:lnSpc>
              <a:buNone/>
            </a:pPr>
            <a:r>
              <a:rPr lang="en-US" sz="1150" dirty="0">
                <a:solidFill>
                  <a:srgbClr val="44506B"/>
                </a:solidFill>
                <a:latin typeface="Calibri" pitchFamily="34" charset="0"/>
                <a:ea typeface="Calibri" pitchFamily="34" charset="-122"/>
                <a:cs typeface="Calibri" pitchFamily="34" charset="-120"/>
              </a:rPr>
              <a:t>Spot-check performance on non-English speech with no language-specific fine-tuning.</a:t>
            </a:r>
            <a:endParaRPr lang="en-US" sz="1150" dirty="0"/>
          </a:p>
        </p:txBody>
      </p:sp>
      <p:sp>
        <p:nvSpPr>
          <p:cNvPr id="16" name="Text 11"/>
          <p:cNvSpPr txBox="1"/>
          <p:nvPr/>
        </p:nvSpPr>
        <p:spPr>
          <a:xfrm>
            <a:off x="6263640" y="1627632"/>
            <a:ext cx="5349240" cy="274320"/>
          </a:xfrm>
          <a:prstGeom prst="rect">
            <a:avLst/>
          </a:prstGeom>
          <a:noFill/>
          <a:ln/>
        </p:spPr>
        <p:txBody>
          <a:bodyPr wrap="square" lIns="0" tIns="0" rIns="0" bIns="0" rtlCol="0" anchor="ctr"/>
          <a:lstStyle/>
          <a:p>
            <a:pPr indent="0" marL="0">
              <a:buNone/>
            </a:pPr>
            <a:r>
              <a:rPr lang="en-US" sz="1050" b="1" spc="100" kern="0" dirty="0">
                <a:solidFill>
                  <a:srgbClr val="8792AC"/>
                </a:solidFill>
                <a:latin typeface="Calibri" pitchFamily="34" charset="0"/>
                <a:ea typeface="Calibri" pitchFamily="34" charset="-122"/>
                <a:cs typeface="Calibri" pitchFamily="34" charset="-120"/>
              </a:rPr>
              <a:t>REAL-TIME LATENCY BUDGET  ·  TARGET, MS PER CHUNK</a:t>
            </a:r>
            <a:endParaRPr lang="en-US" sz="1050" dirty="0"/>
          </a:p>
        </p:txBody>
      </p:sp>
      <p:graphicFrame>
        <p:nvGraphicFramePr>
          <p:cNvPr id="17" name="Chart 0" descr=""/>
          <p:cNvGraphicFramePr/>
          <p:nvPr/>
        </p:nvGraphicFramePr>
        <p:xfrm>
          <a:off x="6263640" y="1965960"/>
          <a:ext cx="5349240" cy="3291840"/>
        </p:xfrm>
        <a:graphic xmlns:a="http://schemas.openxmlformats.org/drawingml/2006/main">
          <a:graphicData uri="http://schemas.openxmlformats.org/drawingml/2006/chart">
            <c:chart xmlns:c="http://schemas.openxmlformats.org/drawingml/2006/chart" r:id="rId4"/>
          </a:graphicData>
        </a:graphic>
      </p:graphicFrame>
      <p:sp>
        <p:nvSpPr>
          <p:cNvPr id="18" name="Text 12"/>
          <p:cNvSpPr txBox="1"/>
          <p:nvPr/>
        </p:nvSpPr>
        <p:spPr>
          <a:xfrm>
            <a:off x="6263640" y="5349240"/>
            <a:ext cx="5349240" cy="502920"/>
          </a:xfrm>
          <a:prstGeom prst="rect">
            <a:avLst/>
          </a:prstGeom>
          <a:noFill/>
          <a:ln/>
        </p:spPr>
        <p:txBody>
          <a:bodyPr wrap="square" lIns="0" tIns="0" rIns="0" bIns="0" rtlCol="0" anchor="ctr"/>
          <a:lstStyle/>
          <a:p>
            <a:pPr indent="0" marL="0">
              <a:lnSpc>
                <a:spcPct val="120000"/>
              </a:lnSpc>
              <a:buNone/>
            </a:pPr>
            <a:r>
              <a:rPr lang="en-US" sz="1050" i="1" dirty="0">
                <a:solidFill>
                  <a:srgbClr val="8792AC"/>
                </a:solidFill>
                <a:latin typeface="Calibri" pitchFamily="34" charset="0"/>
                <a:ea typeface="Calibri" pitchFamily="34" charset="-122"/>
                <a:cs typeface="Calibri" pitchFamily="34" charset="-120"/>
              </a:rPr>
              <a:t>Sums to a ~200ms target per chunk — the budget streaming inference and compression are engineered against (Slide 6).</a:t>
            </a:r>
            <a:endParaRPr lang="en-US" sz="1050" dirty="0"/>
          </a:p>
        </p:txBody>
      </p:sp>
      <p:sp>
        <p:nvSpPr>
          <p:cNvPr id="19" name="Text 13"/>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0" name="Text 14"/>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EXECUTION PLAN</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How the two days break down</a:t>
            </a:r>
            <a:endParaRPr lang="en-US" sz="3000" dirty="0"/>
          </a:p>
        </p:txBody>
      </p:sp>
      <p:sp>
        <p:nvSpPr>
          <p:cNvPr id="4" name="Shape 2"/>
          <p:cNvSpPr/>
          <p:nvPr/>
        </p:nvSpPr>
        <p:spPr>
          <a:xfrm>
            <a:off x="548640" y="2011680"/>
            <a:ext cx="2560320" cy="3291840"/>
          </a:xfrm>
          <a:prstGeom prst="roundRect">
            <a:avLst>
              <a:gd name="adj" fmla="val 2857"/>
            </a:avLst>
          </a:prstGeom>
          <a:solidFill>
            <a:srgbClr val="1E2761"/>
          </a:solidFill>
          <a:ln/>
        </p:spPr>
      </p:sp>
      <p:sp>
        <p:nvSpPr>
          <p:cNvPr id="5" name="Text 3"/>
          <p:cNvSpPr txBox="1"/>
          <p:nvPr/>
        </p:nvSpPr>
        <p:spPr>
          <a:xfrm>
            <a:off x="731520" y="2194560"/>
            <a:ext cx="914400" cy="64008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1</a:t>
            </a:r>
            <a:endParaRPr lang="en-US" sz="3400" dirty="0"/>
          </a:p>
        </p:txBody>
      </p:sp>
      <p:sp>
        <p:nvSpPr>
          <p:cNvPr id="6" name="Text 4"/>
          <p:cNvSpPr txBox="1"/>
          <p:nvPr/>
        </p:nvSpPr>
        <p:spPr>
          <a:xfrm>
            <a:off x="731520" y="2880360"/>
            <a:ext cx="2194560" cy="274320"/>
          </a:xfrm>
          <a:prstGeom prst="rect">
            <a:avLst/>
          </a:prstGeom>
          <a:noFill/>
          <a:ln/>
        </p:spPr>
        <p:txBody>
          <a:bodyPr wrap="square" lIns="0" tIns="0" rIns="0" bIns="0" rtlCol="0" anchor="ctr"/>
          <a:lstStyle/>
          <a:p>
            <a:pPr indent="0" marL="0">
              <a:buNone/>
            </a:pPr>
            <a:r>
              <a:rPr lang="en-US" sz="1000" b="1" spc="100" kern="0" dirty="0">
                <a:solidFill>
                  <a:srgbClr val="E94F37"/>
                </a:solidFill>
                <a:latin typeface="Calibri" pitchFamily="34" charset="0"/>
                <a:ea typeface="Calibri" pitchFamily="34" charset="-122"/>
                <a:cs typeface="Calibri" pitchFamily="34" charset="-120"/>
              </a:rPr>
              <a:t>DAY 1 — AM</a:t>
            </a:r>
            <a:endParaRPr lang="en-US" sz="1000" dirty="0"/>
          </a:p>
        </p:txBody>
      </p:sp>
      <p:sp>
        <p:nvSpPr>
          <p:cNvPr id="7" name="Text 5"/>
          <p:cNvSpPr txBox="1"/>
          <p:nvPr/>
        </p:nvSpPr>
        <p:spPr>
          <a:xfrm>
            <a:off x="731520" y="3182112"/>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 &amp; baseline</a:t>
            </a:r>
            <a:endParaRPr lang="en-US" sz="1400" dirty="0"/>
          </a:p>
        </p:txBody>
      </p:sp>
      <p:sp>
        <p:nvSpPr>
          <p:cNvPr id="8" name="Text 6"/>
          <p:cNvSpPr txBox="1"/>
          <p:nvPr/>
        </p:nvSpPr>
        <p:spPr>
          <a:xfrm>
            <a:off x="731520" y="3703320"/>
            <a:ext cx="2194560" cy="1463040"/>
          </a:xfrm>
          <a:prstGeom prst="rect">
            <a:avLst/>
          </a:prstGeom>
          <a:noFill/>
          <a:ln/>
        </p:spPr>
        <p:txBody>
          <a:bodyPr wrap="square" lIns="0" tIns="0" rIns="0" bIns="0" rtlCol="0" anchor="ctr"/>
          <a:lstStyle/>
          <a:p>
            <a:pPr indent="0" marL="0">
              <a:lnSpc>
                <a:spcPct val="125000"/>
              </a:lnSpc>
              <a:buNone/>
            </a:pPr>
            <a:r>
              <a:rPr lang="en-US" sz="1100" dirty="0">
                <a:solidFill>
                  <a:srgbClr val="CADCFC"/>
                </a:solidFill>
                <a:latin typeface="Calibri" pitchFamily="34" charset="0"/>
                <a:ea typeface="Calibri" pitchFamily="34" charset="-122"/>
                <a:cs typeface="Calibri" pitchFamily="34" charset="-120"/>
              </a:rPr>
              <a:t>Assemble benchmark datasets, set up leave-one-generator-out splits, stand up a foundation-model baseline.</a:t>
            </a:r>
            <a:endParaRPr lang="en-US" sz="1100" dirty="0"/>
          </a:p>
        </p:txBody>
      </p:sp>
      <p:sp>
        <p:nvSpPr>
          <p:cNvPr id="9" name="Shape 7"/>
          <p:cNvSpPr/>
          <p:nvPr/>
        </p:nvSpPr>
        <p:spPr>
          <a:xfrm>
            <a:off x="3337560" y="2011680"/>
            <a:ext cx="2560320" cy="3291840"/>
          </a:xfrm>
          <a:prstGeom prst="roundRect">
            <a:avLst>
              <a:gd name="adj" fmla="val 2857"/>
            </a:avLst>
          </a:prstGeom>
          <a:solidFill>
            <a:srgbClr val="F4F6FC"/>
          </a:solidFill>
          <a:ln/>
        </p:spPr>
      </p:sp>
      <p:sp>
        <p:nvSpPr>
          <p:cNvPr id="10" name="Text 8"/>
          <p:cNvSpPr txBox="1"/>
          <p:nvPr/>
        </p:nvSpPr>
        <p:spPr>
          <a:xfrm>
            <a:off x="3520440" y="2194560"/>
            <a:ext cx="9144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2</a:t>
            </a:r>
            <a:endParaRPr lang="en-US" sz="3400" dirty="0"/>
          </a:p>
        </p:txBody>
      </p:sp>
      <p:sp>
        <p:nvSpPr>
          <p:cNvPr id="11" name="Text 9"/>
          <p:cNvSpPr txBox="1"/>
          <p:nvPr/>
        </p:nvSpPr>
        <p:spPr>
          <a:xfrm>
            <a:off x="3520440" y="2880360"/>
            <a:ext cx="2194560" cy="274320"/>
          </a:xfrm>
          <a:prstGeom prst="rect">
            <a:avLst/>
          </a:prstGeom>
          <a:noFill/>
          <a:ln/>
        </p:spPr>
        <p:txBody>
          <a:bodyPr wrap="square" lIns="0" tIns="0" rIns="0" bIns="0" rtlCol="0" anchor="ctr"/>
          <a:lstStyle/>
          <a:p>
            <a:pPr indent="0" marL="0">
              <a:buNone/>
            </a:pPr>
            <a:r>
              <a:rPr lang="en-US" sz="1000" b="1" spc="100" kern="0" dirty="0">
                <a:solidFill>
                  <a:srgbClr val="E94F37"/>
                </a:solidFill>
                <a:latin typeface="Calibri" pitchFamily="34" charset="0"/>
                <a:ea typeface="Calibri" pitchFamily="34" charset="-122"/>
                <a:cs typeface="Calibri" pitchFamily="34" charset="-120"/>
              </a:rPr>
              <a:t>DAY 1 — PM</a:t>
            </a:r>
            <a:endParaRPr lang="en-US" sz="1000" dirty="0"/>
          </a:p>
        </p:txBody>
      </p:sp>
      <p:sp>
        <p:nvSpPr>
          <p:cNvPr id="12" name="Text 10"/>
          <p:cNvSpPr txBox="1"/>
          <p:nvPr/>
        </p:nvSpPr>
        <p:spPr>
          <a:xfrm>
            <a:off x="3520440" y="3182112"/>
            <a:ext cx="2194560" cy="50292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Front-end &amp; head</a:t>
            </a:r>
            <a:endParaRPr lang="en-US" sz="1400" dirty="0"/>
          </a:p>
        </p:txBody>
      </p:sp>
      <p:sp>
        <p:nvSpPr>
          <p:cNvPr id="13" name="Text 11"/>
          <p:cNvSpPr txBox="1"/>
          <p:nvPr/>
        </p:nvSpPr>
        <p:spPr>
          <a:xfrm>
            <a:off x="3520440" y="3703320"/>
            <a:ext cx="2194560" cy="1463040"/>
          </a:xfrm>
          <a:prstGeom prst="rect">
            <a:avLst/>
          </a:prstGeom>
          <a:noFill/>
          <a:ln/>
        </p:spPr>
        <p:txBody>
          <a:bodyPr wrap="square" lIns="0" tIns="0" rIns="0" bIns="0" rtlCol="0" anchor="ctr"/>
          <a:lstStyle/>
          <a:p>
            <a:pPr indent="0" marL="0">
              <a:lnSpc>
                <a:spcPct val="125000"/>
              </a:lnSpc>
              <a:buNone/>
            </a:pPr>
            <a:r>
              <a:rPr lang="en-US" sz="1100" dirty="0">
                <a:solidFill>
                  <a:srgbClr val="44506B"/>
                </a:solidFill>
                <a:latin typeface="Calibri" pitchFamily="34" charset="0"/>
                <a:ea typeface="Calibri" pitchFamily="34" charset="-122"/>
                <a:cs typeface="Calibri" pitchFamily="34" charset="-120"/>
              </a:rPr>
              <a:t>Add handcrafted spectral/pitch features, train the lightweight attention head, first EER pass.</a:t>
            </a:r>
            <a:endParaRPr lang="en-US" sz="1100" dirty="0"/>
          </a:p>
        </p:txBody>
      </p:sp>
      <p:sp>
        <p:nvSpPr>
          <p:cNvPr id="14" name="Shape 12"/>
          <p:cNvSpPr/>
          <p:nvPr/>
        </p:nvSpPr>
        <p:spPr>
          <a:xfrm>
            <a:off x="6126480" y="2011680"/>
            <a:ext cx="2560320" cy="3291840"/>
          </a:xfrm>
          <a:prstGeom prst="roundRect">
            <a:avLst>
              <a:gd name="adj" fmla="val 2857"/>
            </a:avLst>
          </a:prstGeom>
          <a:solidFill>
            <a:srgbClr val="1E2761"/>
          </a:solidFill>
          <a:ln/>
        </p:spPr>
      </p:sp>
      <p:sp>
        <p:nvSpPr>
          <p:cNvPr id="15" name="Text 13"/>
          <p:cNvSpPr txBox="1"/>
          <p:nvPr/>
        </p:nvSpPr>
        <p:spPr>
          <a:xfrm>
            <a:off x="6309360" y="2194560"/>
            <a:ext cx="914400" cy="64008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3</a:t>
            </a:r>
            <a:endParaRPr lang="en-US" sz="3400" dirty="0"/>
          </a:p>
        </p:txBody>
      </p:sp>
      <p:sp>
        <p:nvSpPr>
          <p:cNvPr id="16" name="Text 14"/>
          <p:cNvSpPr txBox="1"/>
          <p:nvPr/>
        </p:nvSpPr>
        <p:spPr>
          <a:xfrm>
            <a:off x="6309360" y="2880360"/>
            <a:ext cx="2194560" cy="274320"/>
          </a:xfrm>
          <a:prstGeom prst="rect">
            <a:avLst/>
          </a:prstGeom>
          <a:noFill/>
          <a:ln/>
        </p:spPr>
        <p:txBody>
          <a:bodyPr wrap="square" lIns="0" tIns="0" rIns="0" bIns="0" rtlCol="0" anchor="ctr"/>
          <a:lstStyle/>
          <a:p>
            <a:pPr indent="0" marL="0">
              <a:buNone/>
            </a:pPr>
            <a:r>
              <a:rPr lang="en-US" sz="1000" b="1" spc="100" kern="0" dirty="0">
                <a:solidFill>
                  <a:srgbClr val="E94F37"/>
                </a:solidFill>
                <a:latin typeface="Calibri" pitchFamily="34" charset="0"/>
                <a:ea typeface="Calibri" pitchFamily="34" charset="-122"/>
                <a:cs typeface="Calibri" pitchFamily="34" charset="-120"/>
              </a:rPr>
              <a:t>DAY 2 — AM</a:t>
            </a:r>
            <a:endParaRPr lang="en-US" sz="1000" dirty="0"/>
          </a:p>
        </p:txBody>
      </p:sp>
      <p:sp>
        <p:nvSpPr>
          <p:cNvPr id="17" name="Text 15"/>
          <p:cNvSpPr txBox="1"/>
          <p:nvPr/>
        </p:nvSpPr>
        <p:spPr>
          <a:xfrm>
            <a:off x="6309360" y="3182112"/>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Real-time + robustness</a:t>
            </a:r>
            <a:endParaRPr lang="en-US" sz="1400" dirty="0"/>
          </a:p>
        </p:txBody>
      </p:sp>
      <p:sp>
        <p:nvSpPr>
          <p:cNvPr id="18" name="Text 16"/>
          <p:cNvSpPr txBox="1"/>
          <p:nvPr/>
        </p:nvSpPr>
        <p:spPr>
          <a:xfrm>
            <a:off x="6309360" y="3703320"/>
            <a:ext cx="2194560" cy="1463040"/>
          </a:xfrm>
          <a:prstGeom prst="rect">
            <a:avLst/>
          </a:prstGeom>
          <a:noFill/>
          <a:ln/>
        </p:spPr>
        <p:txBody>
          <a:bodyPr wrap="square" lIns="0" tIns="0" rIns="0" bIns="0" rtlCol="0" anchor="ctr"/>
          <a:lstStyle/>
          <a:p>
            <a:pPr indent="0" marL="0">
              <a:lnSpc>
                <a:spcPct val="125000"/>
              </a:lnSpc>
              <a:buNone/>
            </a:pPr>
            <a:r>
              <a:rPr lang="en-US" sz="1100" dirty="0">
                <a:solidFill>
                  <a:srgbClr val="CADCFC"/>
                </a:solidFill>
                <a:latin typeface="Calibri" pitchFamily="34" charset="0"/>
                <a:ea typeface="Calibri" pitchFamily="34" charset="-122"/>
                <a:cs typeface="Calibri" pitchFamily="34" charset="-120"/>
              </a:rPr>
              <a:t>Streaming inference, compression, degraded-channel augmentation; latency benchmarking.</a:t>
            </a:r>
            <a:endParaRPr lang="en-US" sz="1100" dirty="0"/>
          </a:p>
        </p:txBody>
      </p:sp>
      <p:sp>
        <p:nvSpPr>
          <p:cNvPr id="19" name="Shape 17"/>
          <p:cNvSpPr/>
          <p:nvPr/>
        </p:nvSpPr>
        <p:spPr>
          <a:xfrm>
            <a:off x="8915400" y="2011680"/>
            <a:ext cx="2560320" cy="3291840"/>
          </a:xfrm>
          <a:prstGeom prst="roundRect">
            <a:avLst>
              <a:gd name="adj" fmla="val 2857"/>
            </a:avLst>
          </a:prstGeom>
          <a:solidFill>
            <a:srgbClr val="F4F6FC"/>
          </a:solidFill>
          <a:ln/>
        </p:spPr>
      </p:sp>
      <p:sp>
        <p:nvSpPr>
          <p:cNvPr id="20" name="Text 18"/>
          <p:cNvSpPr txBox="1"/>
          <p:nvPr/>
        </p:nvSpPr>
        <p:spPr>
          <a:xfrm>
            <a:off x="9098280" y="2194560"/>
            <a:ext cx="9144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4</a:t>
            </a:r>
            <a:endParaRPr lang="en-US" sz="3400" dirty="0"/>
          </a:p>
        </p:txBody>
      </p:sp>
      <p:sp>
        <p:nvSpPr>
          <p:cNvPr id="21" name="Text 19"/>
          <p:cNvSpPr txBox="1"/>
          <p:nvPr/>
        </p:nvSpPr>
        <p:spPr>
          <a:xfrm>
            <a:off x="9098280" y="2880360"/>
            <a:ext cx="2194560" cy="274320"/>
          </a:xfrm>
          <a:prstGeom prst="rect">
            <a:avLst/>
          </a:prstGeom>
          <a:noFill/>
          <a:ln/>
        </p:spPr>
        <p:txBody>
          <a:bodyPr wrap="square" lIns="0" tIns="0" rIns="0" bIns="0" rtlCol="0" anchor="ctr"/>
          <a:lstStyle/>
          <a:p>
            <a:pPr indent="0" marL="0">
              <a:buNone/>
            </a:pPr>
            <a:r>
              <a:rPr lang="en-US" sz="1000" b="1" spc="100" kern="0" dirty="0">
                <a:solidFill>
                  <a:srgbClr val="E94F37"/>
                </a:solidFill>
                <a:latin typeface="Calibri" pitchFamily="34" charset="0"/>
                <a:ea typeface="Calibri" pitchFamily="34" charset="-122"/>
                <a:cs typeface="Calibri" pitchFamily="34" charset="-120"/>
              </a:rPr>
              <a:t>DAY 2 — PM</a:t>
            </a:r>
            <a:endParaRPr lang="en-US" sz="1000" dirty="0"/>
          </a:p>
        </p:txBody>
      </p:sp>
      <p:sp>
        <p:nvSpPr>
          <p:cNvPr id="22" name="Text 20"/>
          <p:cNvSpPr txBox="1"/>
          <p:nvPr/>
        </p:nvSpPr>
        <p:spPr>
          <a:xfrm>
            <a:off x="9098280" y="3182112"/>
            <a:ext cx="2194560" cy="50292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Integration &amp; rehearsal</a:t>
            </a:r>
            <a:endParaRPr lang="en-US" sz="1400" dirty="0"/>
          </a:p>
        </p:txBody>
      </p:sp>
      <p:sp>
        <p:nvSpPr>
          <p:cNvPr id="23" name="Text 21"/>
          <p:cNvSpPr txBox="1"/>
          <p:nvPr/>
        </p:nvSpPr>
        <p:spPr>
          <a:xfrm>
            <a:off x="9098280" y="3703320"/>
            <a:ext cx="2194560" cy="1463040"/>
          </a:xfrm>
          <a:prstGeom prst="rect">
            <a:avLst/>
          </a:prstGeom>
          <a:noFill/>
          <a:ln/>
        </p:spPr>
        <p:txBody>
          <a:bodyPr wrap="square" lIns="0" tIns="0" rIns="0" bIns="0" rtlCol="0" anchor="ctr"/>
          <a:lstStyle/>
          <a:p>
            <a:pPr indent="0" marL="0">
              <a:lnSpc>
                <a:spcPct val="125000"/>
              </a:lnSpc>
              <a:buNone/>
            </a:pPr>
            <a:r>
              <a:rPr lang="en-US" sz="1100" dirty="0">
                <a:solidFill>
                  <a:srgbClr val="44506B"/>
                </a:solidFill>
                <a:latin typeface="Calibri" pitchFamily="34" charset="0"/>
                <a:ea typeface="Calibri" pitchFamily="34" charset="-122"/>
                <a:cs typeface="Calibri" pitchFamily="34" charset="-120"/>
              </a:rPr>
              <a:t>Wire the trust score into the multi-layer decision mock-up; build results deck; rehearse the 20-min readout.</a:t>
            </a:r>
            <a:endParaRPr lang="en-US" sz="1100" dirty="0"/>
          </a:p>
        </p:txBody>
      </p:sp>
      <p:sp>
        <p:nvSpPr>
          <p:cNvPr id="24" name="Text 22"/>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5" name="Text 23"/>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LOOKING AHEAD</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Limitations &amp; next steps</a:t>
            </a:r>
            <a:endParaRPr lang="en-US" sz="3000" dirty="0"/>
          </a:p>
        </p:txBody>
      </p:sp>
      <p:sp>
        <p:nvSpPr>
          <p:cNvPr id="4" name="Shape 2"/>
          <p:cNvSpPr/>
          <p:nvPr/>
        </p:nvSpPr>
        <p:spPr>
          <a:xfrm>
            <a:off x="548640" y="1600200"/>
            <a:ext cx="5349240" cy="4434840"/>
          </a:xfrm>
          <a:prstGeom prst="roundRect">
            <a:avLst>
              <a:gd name="adj" fmla="val 1649"/>
            </a:avLst>
          </a:prstGeom>
          <a:solidFill>
            <a:srgbClr val="F4F6FC"/>
          </a:solidFill>
          <a:ln/>
        </p:spPr>
      </p:sp>
      <p:pic>
        <p:nvPicPr>
          <p:cNvPr id="5" name="Image 0" descr="/home/claude/deck/icons/alert_1E2761.png">    </p:cNvPr>
          <p:cNvPicPr>
            <a:picLocks noChangeAspect="1"/>
          </p:cNvPicPr>
          <p:nvPr/>
        </p:nvPicPr>
        <p:blipFill>
          <a:blip r:embed="rId1"/>
          <a:stretch>
            <a:fillRect/>
          </a:stretch>
        </p:blipFill>
        <p:spPr>
          <a:xfrm>
            <a:off x="868680" y="1874520"/>
            <a:ext cx="457200" cy="457200"/>
          </a:xfrm>
          <a:prstGeom prst="rect">
            <a:avLst/>
          </a:prstGeom>
        </p:spPr>
      </p:pic>
      <p:sp>
        <p:nvSpPr>
          <p:cNvPr id="6" name="Text 3"/>
          <p:cNvSpPr txBox="1"/>
          <p:nvPr/>
        </p:nvSpPr>
        <p:spPr>
          <a:xfrm>
            <a:off x="1463040" y="1920240"/>
            <a:ext cx="4206240" cy="36576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Known limitations</a:t>
            </a:r>
            <a:endParaRPr lang="en-US" sz="1600" dirty="0"/>
          </a:p>
        </p:txBody>
      </p:sp>
      <p:sp>
        <p:nvSpPr>
          <p:cNvPr id="7" name="Text 4"/>
          <p:cNvSpPr txBox="1"/>
          <p:nvPr/>
        </p:nvSpPr>
        <p:spPr>
          <a:xfrm>
            <a:off x="868680" y="251460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44506B"/>
                </a:solidFill>
                <a:latin typeface="Calibri" pitchFamily="34" charset="0"/>
                <a:ea typeface="Calibri" pitchFamily="34" charset="-122"/>
                <a:cs typeface="Calibri" pitchFamily="34" charset="-120"/>
              </a:rPr>
              <a:t>2-day scope limits training data breadth vs. production-scale coverage</a:t>
            </a:r>
            <a:endParaRPr lang="en-US" sz="1250" dirty="0"/>
          </a:p>
        </p:txBody>
      </p:sp>
      <p:sp>
        <p:nvSpPr>
          <p:cNvPr id="8" name="Text 5"/>
          <p:cNvSpPr txBox="1"/>
          <p:nvPr/>
        </p:nvSpPr>
        <p:spPr>
          <a:xfrm>
            <a:off x="868680" y="329184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44506B"/>
                </a:solidFill>
                <a:latin typeface="Calibri" pitchFamily="34" charset="0"/>
                <a:ea typeface="Calibri" pitchFamily="34" charset="-122"/>
                <a:cs typeface="Calibri" pitchFamily="34" charset="-120"/>
              </a:rPr>
              <a:t>Foundation-model backbones raise compute cost per stream vs. lightweight CNNs</a:t>
            </a:r>
            <a:endParaRPr lang="en-US" sz="1250" dirty="0"/>
          </a:p>
        </p:txBody>
      </p:sp>
      <p:sp>
        <p:nvSpPr>
          <p:cNvPr id="9" name="Text 6"/>
          <p:cNvSpPr txBox="1"/>
          <p:nvPr/>
        </p:nvSpPr>
        <p:spPr>
          <a:xfrm>
            <a:off x="868680" y="406908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44506B"/>
                </a:solidFill>
                <a:latin typeface="Calibri" pitchFamily="34" charset="0"/>
                <a:ea typeface="Calibri" pitchFamily="34" charset="-122"/>
                <a:cs typeface="Calibri" pitchFamily="34" charset="-120"/>
              </a:rPr>
              <a:t>No dataset fully replicates live, adversarial vishing call conditions</a:t>
            </a:r>
            <a:endParaRPr lang="en-US" sz="1250" dirty="0"/>
          </a:p>
        </p:txBody>
      </p:sp>
      <p:sp>
        <p:nvSpPr>
          <p:cNvPr id="10" name="Shape 7"/>
          <p:cNvSpPr/>
          <p:nvPr/>
        </p:nvSpPr>
        <p:spPr>
          <a:xfrm>
            <a:off x="6263640" y="1600200"/>
            <a:ext cx="5349240" cy="4434840"/>
          </a:xfrm>
          <a:prstGeom prst="roundRect">
            <a:avLst>
              <a:gd name="adj" fmla="val 1649"/>
            </a:avLst>
          </a:prstGeom>
          <a:solidFill>
            <a:srgbClr val="1E2761"/>
          </a:solidFill>
          <a:ln/>
        </p:spPr>
      </p:sp>
      <p:pic>
        <p:nvPicPr>
          <p:cNvPr id="11" name="Image 1" descr="/home/claude/deck/icons/check_FFFFFF.png">    </p:cNvPr>
          <p:cNvPicPr>
            <a:picLocks noChangeAspect="1"/>
          </p:cNvPicPr>
          <p:nvPr/>
        </p:nvPicPr>
        <p:blipFill>
          <a:blip r:embed="rId2"/>
          <a:stretch>
            <a:fillRect/>
          </a:stretch>
        </p:blipFill>
        <p:spPr>
          <a:xfrm>
            <a:off x="6583680" y="1874520"/>
            <a:ext cx="457200" cy="457200"/>
          </a:xfrm>
          <a:prstGeom prst="rect">
            <a:avLst/>
          </a:prstGeom>
        </p:spPr>
      </p:pic>
      <p:sp>
        <p:nvSpPr>
          <p:cNvPr id="12" name="Text 8"/>
          <p:cNvSpPr txBox="1"/>
          <p:nvPr/>
        </p:nvSpPr>
        <p:spPr>
          <a:xfrm>
            <a:off x="7178040" y="1920240"/>
            <a:ext cx="42062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Next steps beyond the sprint</a:t>
            </a:r>
            <a:endParaRPr lang="en-US" sz="1600" dirty="0"/>
          </a:p>
        </p:txBody>
      </p:sp>
      <p:sp>
        <p:nvSpPr>
          <p:cNvPr id="13" name="Text 9"/>
          <p:cNvSpPr txBox="1"/>
          <p:nvPr/>
        </p:nvSpPr>
        <p:spPr>
          <a:xfrm>
            <a:off x="6583680" y="251460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CADCFC"/>
                </a:solidFill>
                <a:latin typeface="Calibri" pitchFamily="34" charset="0"/>
                <a:ea typeface="Calibri" pitchFamily="34" charset="-122"/>
                <a:cs typeface="Calibri" pitchFamily="34" charset="-120"/>
              </a:rPr>
              <a:t>Expand few-shot enrollment for high-value protected identities</a:t>
            </a:r>
            <a:endParaRPr lang="en-US" sz="1250" dirty="0"/>
          </a:p>
        </p:txBody>
      </p:sp>
      <p:sp>
        <p:nvSpPr>
          <p:cNvPr id="14" name="Text 10"/>
          <p:cNvSpPr txBox="1"/>
          <p:nvPr/>
        </p:nvSpPr>
        <p:spPr>
          <a:xfrm>
            <a:off x="6583680" y="329184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CADCFC"/>
                </a:solidFill>
                <a:latin typeface="Calibri" pitchFamily="34" charset="0"/>
                <a:ea typeface="Calibri" pitchFamily="34" charset="-122"/>
                <a:cs typeface="Calibri" pitchFamily="34" charset="-120"/>
              </a:rPr>
              <a:t>Field-test on real degraded-channel call recordings</a:t>
            </a:r>
            <a:endParaRPr lang="en-US" sz="1250" dirty="0"/>
          </a:p>
        </p:txBody>
      </p:sp>
      <p:sp>
        <p:nvSpPr>
          <p:cNvPr id="15" name="Text 11"/>
          <p:cNvSpPr txBox="1"/>
          <p:nvPr/>
        </p:nvSpPr>
        <p:spPr>
          <a:xfrm>
            <a:off x="6583680" y="406908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CADCFC"/>
                </a:solidFill>
                <a:latin typeface="Calibri" pitchFamily="34" charset="0"/>
                <a:ea typeface="Calibri" pitchFamily="34" charset="-122"/>
                <a:cs typeface="Calibri" pitchFamily="34" charset="-120"/>
              </a:rPr>
              <a:t>Formalize the fusion/decision policy with the phishing-defense team</a:t>
            </a:r>
            <a:endParaRPr lang="en-US" sz="1250" dirty="0"/>
          </a:p>
        </p:txBody>
      </p:sp>
      <p:sp>
        <p:nvSpPr>
          <p:cNvPr id="16" name="Text 12"/>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17" name="Text 13"/>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900" dirty="0">
                <a:solidFill>
                  <a:srgbClr val="8792A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pic>
        <p:nvPicPr>
          <p:cNvPr id="2" name="Image 0" descr="/home/claude/deck/icons/shield_CADCFC.png">    </p:cNvPr>
          <p:cNvPicPr>
            <a:picLocks noChangeAspect="1"/>
          </p:cNvPicPr>
          <p:nvPr/>
        </p:nvPicPr>
        <p:blipFill>
          <a:blip r:embed="rId1">
            <a:alphaModFix amt="28000"/>
          </a:blip>
          <a:stretch>
            <a:fillRect/>
          </a:stretch>
        </p:blipFill>
        <p:spPr>
          <a:xfrm>
            <a:off x="9601200" y="-822960"/>
            <a:ext cx="3017520" cy="3017520"/>
          </a:xfrm>
          <a:prstGeom prst="rect">
            <a:avLst/>
          </a:prstGeom>
        </p:spPr>
      </p:pic>
      <p:pic>
        <p:nvPicPr>
          <p:cNvPr id="3" name="Image 1" descr="/home/claude/deck/icons/mic_CADCFC.png">    </p:cNvPr>
          <p:cNvPicPr>
            <a:picLocks noChangeAspect="1"/>
          </p:cNvPicPr>
          <p:nvPr/>
        </p:nvPicPr>
        <p:blipFill>
          <a:blip r:embed="rId2">
            <a:alphaModFix amt="25000"/>
          </a:blip>
          <a:stretch>
            <a:fillRect/>
          </a:stretch>
        </p:blipFill>
        <p:spPr>
          <a:xfrm>
            <a:off x="9418320" y="4297680"/>
            <a:ext cx="2468880" cy="2468880"/>
          </a:xfrm>
          <a:prstGeom prst="rect">
            <a:avLst/>
          </a:prstGeom>
        </p:spPr>
      </p:pic>
      <p:sp>
        <p:nvSpPr>
          <p:cNvPr id="4" name="Text 0"/>
          <p:cNvSpPr txBox="1"/>
          <p:nvPr/>
        </p:nvSpPr>
        <p:spPr>
          <a:xfrm>
            <a:off x="640080" y="265176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Questions for the panel</a:t>
            </a:r>
            <a:endParaRPr lang="en-US" sz="4000" dirty="0"/>
          </a:p>
        </p:txBody>
      </p:sp>
      <p:sp>
        <p:nvSpPr>
          <p:cNvPr id="5" name="Text 1"/>
          <p:cNvSpPr txBox="1"/>
          <p:nvPr/>
        </p:nvSpPr>
        <p:spPr>
          <a:xfrm>
            <a:off x="640080" y="3429000"/>
            <a:ext cx="914400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Deepfake Voice Detection for Anti-Vishing Systems  ·  Solution Proposal</a:t>
            </a:r>
            <a:endParaRPr lang="en-US" sz="1500" dirty="0"/>
          </a:p>
        </p:txBody>
      </p:sp>
      <p:sp>
        <p:nvSpPr>
          <p:cNvPr id="6" name="Shape 2"/>
          <p:cNvSpPr/>
          <p:nvPr/>
        </p:nvSpPr>
        <p:spPr>
          <a:xfrm>
            <a:off x="640080" y="4069080"/>
            <a:ext cx="2011680" cy="0"/>
          </a:xfrm>
          <a:prstGeom prst="line">
            <a:avLst/>
          </a:prstGeom>
          <a:noFill/>
          <a:ln w="31750">
            <a:solidFill>
              <a:srgbClr val="E94F37"/>
            </a:solidFill>
            <a:prstDash val="solid"/>
          </a:ln>
        </p:spPr>
      </p:sp>
      <p:sp>
        <p:nvSpPr>
          <p:cNvPr id="7" name="Text 3"/>
          <p:cNvSpPr txBox="1"/>
          <p:nvPr/>
        </p:nvSpPr>
        <p:spPr>
          <a:xfrm>
            <a:off x="640080" y="4251960"/>
            <a:ext cx="5486400" cy="457200"/>
          </a:xfrm>
          <a:prstGeom prst="rect">
            <a:avLst/>
          </a:prstGeom>
          <a:noFill/>
          <a:ln/>
        </p:spPr>
        <p:txBody>
          <a:bodyPr wrap="square" lIns="0" tIns="0" rIns="0" bIns="0" rtlCol="0" anchor="ctr"/>
          <a:lstStyle/>
          <a:p>
            <a:pPr indent="0" marL="0">
              <a:buNone/>
            </a:pPr>
            <a:r>
              <a:rPr lang="en-US" sz="1400" dirty="0">
                <a:solidFill>
                  <a:srgbClr val="8792AC"/>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2026-09-15T06:48:07Z</dcterms:created>
  <dcterms:modified xsi:type="dcterms:W3CDTF">2026-09-15T06:48:07Z</dcterms:modified>
</cp:coreProperties>
</file>