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7" r:id="rId18"/>
    <p:sldId id="268" r:id="rId19"/>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12.xml"/><Relationship Id="rId19"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Target ms</c:v>
                </c:pt>
              </c:strCache>
            </c:strRef>
          </c:tx>
          <c:spPr>
            <a:solidFill>
              <a:srgbClr val="1E2761"/>
            </a:solidFill>
            <a:effectLst/>
          </c:spPr>
          <c:invertIfNegative val="0"/>
          <c:dLbls>
            <c:numFmt formatCode="#,##0" sourceLinked="0"/>
            <c:txPr>
              <a:bodyPr/>
              <a:lstStyle/>
              <a:p>
                <a:pPr>
                  <a:defRPr b="0" i="0" strike="noStrike" sz="1100" u="none">
                    <a:solidFill>
                      <a:srgbClr val="1B1F3B"/>
                    </a:solidFill>
                    <a:latin typeface="Arial"/>
                  </a:defRPr>
                </a:pPr>
              </a:p>
            </c:txPr>
            <c:showLegendKey val="0"/>
            <c:showVal val="1"/>
            <c:showCatName val="0"/>
            <c:showSerName val="0"/>
            <c:showPercent val="0"/>
            <c:showBubbleSize val="0"/>
            <c:showLeaderLines val="0"/>
          </c:dLbls>
          <c:cat>
            <c:multiLvlStrRef>
              <c:f>Sheet1!$A$2:$A$5</c:f>
              <c:multiLvlStrCache>
                <c:ptCount val="4"/>
                <c:lvl>
                  <c:pt idx="0">
                    <c:v>Feature
extraction</c:v>
                  </c:pt>
                  <c:pt idx="1">
                    <c:v>Backbone
inference</c:v>
                  </c:pt>
                  <c:pt idx="2">
                    <c:v>Head +
fusion</c:v>
                  </c:pt>
                  <c:pt idx="3">
                    <c:v>Network /
buffer</c:v>
                  </c:pt>
                </c:lvl>
              </c:multiLvlStrCache>
            </c:multiLvlStrRef>
          </c:cat>
          <c:val>
            <c:numRef>
              <c:f>Sheet1!$B$2:$B$5</c:f>
              <c:numCache>
                <c:formatCode>General</c:formatCode>
                <c:ptCount val="4"/>
                <c:pt idx="0">
                  <c:v>60</c:v>
                </c:pt>
                <c:pt idx="1">
                  <c:v>90</c:v>
                </c:pt>
                <c:pt idx="2">
                  <c:v>20</c:v>
                </c:pt>
                <c:pt idx="3">
                  <c:v>30</c:v>
                </c:pt>
              </c:numCache>
            </c:numRef>
          </c:val>
        </c:ser>
        <c:dLbls>
          <c:numFmt formatCode="#,##0" sourceLinked="0"/>
          <c:txPr>
            <a:bodyPr/>
            <a:lstStyle/>
            <a:p>
              <a:pPr>
                <a:defRPr b="0" i="0" strike="noStrike" sz="1100" u="none">
                  <a:solidFill>
                    <a:srgbClr val="1B1F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4506B"/>
                </a:solidFill>
                <a:latin typeface="Arial"/>
              </a:defRPr>
            </a:pPr>
            <a:endParaRPr lang="en-US"/>
          </a:p>
        </c:txPr>
        <c:crossAx val="2094734552"/>
        <c:crosses val="autoZero"/>
        <c:auto val="1"/>
        <c:lblAlgn val="ctr"/>
        <c:noMultiLvlLbl val="1"/>
      </c:catAx>
      <c:valAx>
        <c:axId val="2094734552"/>
        <c:scaling>
          <c:orientation val="minMax"/>
          <c:max val="110"/>
        </c:scaling>
        <c:delete val="0"/>
        <c:axPos val="l"/>
        <c:majorGridlines>
          <c:spPr>
            <a:ln w="12700" cap="flat">
              <a:solidFill>
                <a:srgbClr val="E5E9F5"/>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ms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792AC"/>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framing: this is a proposal for a real-time Presentation Attack Detection (PAD) system that plugs into voice authentication and call-center defenses against AI-cloned voices. Two-day sprint, presenting findings and proposed solution to the panel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stakes before the solution: cloning is cheap now, static detectors don't generalize to generators they weren't trained on (this is the central finding we're designing against), and the attack surface is the authentication moment itself -- so false negatives are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brief in our own words so the panel knows we understood the ask: robust + generalized PAD model, real-time capable, 2-day timeframe, 20-minute readout. The italic line is our own success criterion, sharper than the brief -- generalization to unseen generators is the real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decision in the deck. Traditional detectors overfit to known vocoders; SSL foundation models generalize better across generators and even across languages without language-specific tuning. Everything downstream -- architecture, evaluation protocol -- follows from this bet.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streaming audio in, dual feature extraction (SSL embeddings plus handcrafted spectral/pitch cues so we're not solely dependent on the backbone), a lightweight attention head kept small on purpose for latency, and a continuously-updated trust score. The callout box is the hook into the next slide -- this score isn't the end of the pipeline, it's an input to a bigger decision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'operational feasibility' requirement from the brief directly. Four levers: streaming windows instead of whole-call batch processing, compression to hit latency, training on degraded/codec/narrowband audio because real vishing calls are never studio-clean, and an edge/cloud split so the perceived latency stays low even though the full model runs heavier analysis asynchronously.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'reducing dangers associated with multi-layer phishing assaults' part of the brief. Our voice PAD is layer 1 -- necessary but not sufficient. Layer 2 adds call-metadata and behavioral context. Layer 3 is where the adaptive decision actually gets made: a borderline voice score plus high-risk context can still trigger step-up authentication even if neither signal alone crosses a hard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must prove generalization, not just accuracy: EER/min t-DCF on held-out splits, leave-one-generator-out for cross-generator robustness, and a stretch cross-lingual check. The latency chart on the right shows our engineering target -- ~200ms per chunk split across the pipeline stages from slide 5-6, which is what makes real-time integration feasible.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Shows the panel this is a realistic two-day plan, not hand-waving. Day 1 gets a working generalization-tested baseline; Day 2 is where it becomes real-time and gets wired into the multi-layer story, leaving real time to rehearse before this exact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 it builds credibility with an expert panel. None of these are fatal to the approach; they're the honest boundary of what a 2-day sprint can prove versus what a production rollout would need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Be ready to defend: (1) why foundation models over training from scratch, (2) how the ~200ms latency target holds up under real degraded-channel audio, (3) how the trust score actually gets consumed by the multi-layer fusion layer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number behind the claim on the previous slide. Walk the bars top to bottom.</a:t>
            </a:r>
          </a:p>
          <a:p/>
          <a:p>
            <a:r>
              <a:t>Bar 1: RawGAT-ST, 1.23% EER on ASVspoof 2019 LA eval. The published state of the art.</a:t>
            </a:r>
          </a:p>
          <a:p>
            <a:r>
              <a:t>Bar 2: the SAME model, same weights, nothing retrained, tested on In-the-Wild, a corpus of found</a:t>
            </a:r>
          </a:p>
          <a:p>
            <a:r>
              <a:t>celebrity audio. 37.15%. Say "same weights" out loud, that is the point.</a:t>
            </a:r>
          </a:p>
          <a:p>
            <a:r>
              <a:t>Bar 3: an ASVspoof-trained detector against 2026 cloned voices over a real VoIP call. 50.28%,</a:t>
            </a:r>
          </a:p>
          <a:p>
            <a:r>
              <a:t>which is a coin flip. Source is RTCFake, a recent preprint, so say "a recent preprint reports"</a:t>
            </a:r>
          </a:p>
          <a:p>
            <a:r>
              <a:t>rather than presenting it as settled.</a:t>
            </a:r>
          </a:p>
          <a:p/>
          <a:p>
            <a:r>
              <a:t>Then the navy bar: train the same architecture on modern voices instead and it drops to 5.81%.</a:t>
            </a:r>
          </a:p>
          <a:p>
            <a:r>
              <a:t>So this is not a law of nature, it is a training and data problem. That is the whole reason the</a:t>
            </a:r>
          </a:p>
          <a:p>
            <a:r>
              <a:t>project is worth doing, and it sets up the foundation-model bet two slides later.</a:t>
            </a:r>
          </a:p>
          <a:p/>
          <a:p>
            <a:r>
              <a:t>If asked whether more data fixes it: measured, it does not. 33.9% to 33.1%. Every ASVspoof split</a:t>
            </a:r>
          </a:p>
          <a:p>
            <a:r>
              <a:t>derives from the same VCTK recordings, so more of it adds no new domain.</a:t>
            </a:r>
          </a:p>
          <a:p/>
          <a:p>
            <a:r>
              <a:t>EER means equal error rate. 50% is random guessing.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findings, one conclusion. Do not read the cards, explain each in a sentence.</a:t>
            </a:r>
          </a:p>
          <a:p/>
          <a:p>
            <a:r>
              <a:t>1. Muller et al. trained a classifier on nothing but the DURATION of the silence at the start of</a:t>
            </a:r>
          </a:p>
          <a:p>
            <a:r>
              <a:t>   the clip. 85% accuracy, 15.1% EER. In ASVspoof, real recordings happen to have longer leading</a:t>
            </a:r>
          </a:p>
          <a:p>
            <a:r>
              <a:t>   silence than fake ones, so silence length leaks the label.</a:t>
            </a:r>
          </a:p>
          <a:p>
            <a:r>
              <a:t>2. SiFDetectCracker, ACM MM 2023. A black-box attack that changes only the background noise and</a:t>
            </a:r>
          </a:p>
          <a:p>
            <a:r>
              <a:t>   the mute segments and never touches the speech itself. 82.2% success against RawNet2,</a:t>
            </a:r>
          </a:p>
          <a:p>
            <a:r>
              <a:t>   RawGAT-ST and others.</a:t>
            </a:r>
          </a:p>
          <a:p>
            <a:r>
              <a:t>3. SHAP analysis, arXiv:2110.03309. The classifier attends to non-speech intervals and one narrow</a:t>
            </a:r>
          </a:p>
          <a:p>
            <a:r>
              <a:t>   band around 0.5 to 0.6 kHz.</a:t>
            </a:r>
          </a:p>
          <a:p/>
          <a:p>
            <a:r>
              <a:t>Conclusion, say it out loud: a meaningful share of published performance is a dataset artifact,</a:t>
            </a:r>
          </a:p>
          <a:p>
            <a:r>
              <a:t>not voice authenticity. That is precisely why it does not transfer. An attacker can strip the</a:t>
            </a:r>
          </a:p>
          <a:p>
            <a:r>
              <a:t>silence trivially, and a live phone call has no clean studio silence anyway.</a:t>
            </a:r>
          </a:p>
          <a:p/>
          <a:p>
            <a:r>
              <a:t>This is also why we go to foundation models on the next slide rather than training a detector</a:t>
            </a:r>
          </a:p>
          <a:p>
            <a:r>
              <a:t>from scratch on spectrograms, and why degraded-channel and silence augmentation are in the</a:t>
            </a:r>
          </a:p>
          <a:p>
            <a:r>
              <a:t>engineering plan.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chart" Target="../charts/chart1.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home/claude/deck/icons/shield_1E2761.png">    </p:cNvPr>
          <p:cNvPicPr>
            <a:picLocks noChangeAspect="1"/>
          </p:cNvPicPr>
          <p:nvPr/>
        </p:nvPicPr>
        <p:blipFill>
          <a:blip r:embed="rId1">
            <a:alphaModFix amt="45000"/>
          </a:blip>
          <a:stretch>
            <a:fillRect/>
          </a:stretch>
        </p:blipFill>
        <p:spPr>
          <a:xfrm>
            <a:off x="8778240" y="4023360"/>
            <a:ext cx="3291840" cy="3291840"/>
          </a:xfrm>
          <a:prstGeom prst="rect">
            <a:avLst/>
          </a:prstGeom>
        </p:spPr>
      </p:pic>
      <p:pic>
        <p:nvPicPr>
          <p:cNvPr id="3" name="Image 1" descr="/home/claude/deck/icons/shield_CADCFC.png">    </p:cNvPr>
          <p:cNvPicPr>
            <a:picLocks noChangeAspect="1"/>
          </p:cNvPicPr>
          <p:nvPr/>
        </p:nvPicPr>
        <p:blipFill>
          <a:blip r:embed="rId2">
            <a:alphaModFix amt="22000"/>
          </a:blip>
          <a:stretch>
            <a:fillRect/>
          </a:stretch>
        </p:blipFill>
        <p:spPr>
          <a:xfrm>
            <a:off x="9052560" y="1005840"/>
            <a:ext cx="2377440" cy="2377440"/>
          </a:xfrm>
          <a:prstGeom prst="rect">
            <a:avLst/>
          </a:prstGeom>
        </p:spPr>
      </p:pic>
      <p:sp>
        <p:nvSpPr>
          <p:cNvPr id="4" name="Text 0"/>
          <p:cNvSpPr txBox="1"/>
          <p:nvPr/>
        </p:nvSpPr>
        <p:spPr>
          <a:xfrm>
            <a:off x="640080" y="1371600"/>
            <a:ext cx="9144000" cy="320040"/>
          </a:xfrm>
          <a:prstGeom prst="rect">
            <a:avLst/>
          </a:prstGeom>
          <a:noFill/>
          <a:ln/>
        </p:spPr>
        <p:txBody>
          <a:bodyPr wrap="square" lIns="0" tIns="0" rIns="0" bIns="0" rtlCol="0" anchor="ctr"/>
          <a:lstStyle/>
          <a:p>
            <a:pPr indent="0" marL="0">
              <a:buNone/>
            </a:pPr>
            <a:r>
              <a:rPr lang="en-US" sz="1300" b="1" spc="300" kern="0" dirty="0">
                <a:solidFill>
                  <a:srgbClr val="CADCFC"/>
                </a:solidFill>
                <a:latin typeface="Calibri" pitchFamily="34" charset="0"/>
                <a:ea typeface="Calibri" pitchFamily="34" charset="-122"/>
                <a:cs typeface="Calibri" pitchFamily="34" charset="-120"/>
              </a:rPr>
              <a:t>VISHING CHALLENGE  ·  PRESENTATION ATTACK DETECTION</a:t>
            </a:r>
            <a:endParaRPr lang="en-US" sz="1300" dirty="0"/>
          </a:p>
        </p:txBody>
      </p:sp>
      <p:sp>
        <p:nvSpPr>
          <p:cNvPr id="5" name="Text 1"/>
          <p:cNvSpPr txBox="1"/>
          <p:nvPr/>
        </p:nvSpPr>
        <p:spPr>
          <a:xfrm>
            <a:off x="594360" y="1828800"/>
            <a:ext cx="9875520" cy="192024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Deepfake Voice Detection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for Anti-Vishing Systems</a:t>
            </a:r>
            <a:endParaRPr lang="en-US" sz="4200" dirty="0"/>
          </a:p>
        </p:txBody>
      </p:sp>
      <p:sp>
        <p:nvSpPr>
          <p:cNvPr id="6" name="Text 2"/>
          <p:cNvSpPr txBox="1"/>
          <p:nvPr/>
        </p:nvSpPr>
        <p:spPr>
          <a:xfrm>
            <a:off x="640080" y="3794760"/>
            <a:ext cx="8412480" cy="822960"/>
          </a:xfrm>
          <a:prstGeom prst="rect">
            <a:avLst/>
          </a:prstGeom>
          <a:noFill/>
          <a:ln/>
        </p:spPr>
        <p:txBody>
          <a:bodyPr wrap="square" lIns="0" tIns="0" rIns="0" bIns="0"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A real-time, generalizable Presentation Attack Detection architecture</a:t>
            </a:r>
            <a:endParaRPr lang="en-US" sz="1600" dirty="0"/>
          </a:p>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for voice authentication and multi-layer phishing defense</a:t>
            </a:r>
            <a:endParaRPr lang="en-US" sz="1600" dirty="0"/>
          </a:p>
        </p:txBody>
      </p:sp>
      <p:sp>
        <p:nvSpPr>
          <p:cNvPr id="7" name="Shape 3"/>
          <p:cNvSpPr/>
          <p:nvPr/>
        </p:nvSpPr>
        <p:spPr>
          <a:xfrm>
            <a:off x="640080" y="4892040"/>
            <a:ext cx="2011680" cy="0"/>
          </a:xfrm>
          <a:prstGeom prst="line">
            <a:avLst/>
          </a:prstGeom>
          <a:noFill/>
          <a:ln w="31750">
            <a:solidFill>
              <a:srgbClr val="E94F37"/>
            </a:solidFill>
            <a:prstDash val="solid"/>
          </a:ln>
        </p:spPr>
      </p:sp>
      <p:sp>
        <p:nvSpPr>
          <p:cNvPr id="8" name="Text 4"/>
          <p:cNvSpPr txBox="1"/>
          <p:nvPr/>
        </p:nvSpPr>
        <p:spPr>
          <a:xfrm>
            <a:off x="640080" y="5074920"/>
            <a:ext cx="7315200" cy="320040"/>
          </a:xfrm>
          <a:prstGeom prst="rect">
            <a:avLst/>
          </a:prstGeom>
          <a:noFill/>
          <a:ln/>
        </p:spPr>
        <p:txBody>
          <a:bodyPr wrap="square" lIns="0" tIns="0" rIns="0" bIns="0" rtlCol="0" anchor="ctr"/>
          <a:lstStyle/>
          <a:p>
            <a:pPr indent="0" marL="0">
              <a:buNone/>
            </a:pPr>
            <a:r>
              <a:rPr lang="en-US" sz="1200" dirty="0">
                <a:solidFill>
                  <a:srgbClr val="8792AC"/>
                </a:solidFill>
                <a:latin typeface="Calibri" pitchFamily="34" charset="0"/>
                <a:ea typeface="Calibri" pitchFamily="34" charset="-122"/>
                <a:cs typeface="Calibri" pitchFamily="34" charset="-120"/>
              </a:rPr>
              <a:t>Solution Proposal  ·  2-Day Sprint  ·  Panel Review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MOTIVATION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Voice cloning has outpaced voice defense</a:t>
            </a:r>
            <a:endParaRPr lang="en-US" sz="3000" dirty="0"/>
          </a:p>
        </p:txBody>
      </p:sp>
      <p:sp>
        <p:nvSpPr>
          <p:cNvPr id="4" name="Shape 2"/>
          <p:cNvSpPr/>
          <p:nvPr/>
        </p:nvSpPr>
        <p:spPr>
          <a:xfrm>
            <a:off x="548640" y="1600200"/>
            <a:ext cx="685800" cy="685800"/>
          </a:xfrm>
          <a:prstGeom prst="ellipse">
            <a:avLst/>
          </a:prstGeom>
          <a:solidFill>
            <a:srgbClr val="1E2761"/>
          </a:solidFill>
          <a:ln/>
        </p:spPr>
      </p:sp>
      <p:pic>
        <p:nvPicPr>
          <p:cNvPr id="5" name="Image 0" descr="/home/claude/deck/icons/mic_FFFFFF.png">    </p:cNvPr>
          <p:cNvPicPr>
            <a:picLocks noChangeAspect="1"/>
          </p:cNvPicPr>
          <p:nvPr/>
        </p:nvPicPr>
        <p:blipFill>
          <a:blip r:embed="rId1"/>
          <a:stretch>
            <a:fillRect/>
          </a:stretch>
        </p:blipFill>
        <p:spPr>
          <a:xfrm>
            <a:off x="708660" y="1760220"/>
            <a:ext cx="365760" cy="365760"/>
          </a:xfrm>
          <a:prstGeom prst="rect">
            <a:avLst/>
          </a:prstGeom>
        </p:spPr>
      </p:pic>
      <p:sp>
        <p:nvSpPr>
          <p:cNvPr id="6" name="Text 3"/>
          <p:cNvSpPr txBox="1"/>
          <p:nvPr/>
        </p:nvSpPr>
        <p:spPr>
          <a:xfrm>
            <a:off x="1463040" y="1554480"/>
            <a:ext cx="9875520" cy="365760"/>
          </a:xfrm>
          <a:prstGeom prst="rect">
            <a:avLst/>
          </a:prstGeom>
          <a:noFill/>
          <a:ln/>
        </p:spPr>
        <p:txBody>
          <a:bodyPr wrap="square" lIns="0" tIns="0" rIns="0" bIns="0" rtlCol="0" anchor="ctr"/>
          <a:lstStyle/>
          <a:p>
            <a:pPr indent="0" marL="0">
              <a:buNone/>
            </a:pPr>
            <a:r>
              <a:rPr lang="en-US" sz="1700" b="1" dirty="0">
                <a:solidFill>
                  <a:srgbClr val="1B1F3B"/>
                </a:solidFill>
                <a:latin typeface="Calibri" pitchFamily="34" charset="0"/>
                <a:ea typeface="Calibri" pitchFamily="34" charset="-122"/>
                <a:cs typeface="Calibri" pitchFamily="34" charset="-120"/>
              </a:rPr>
              <a:t>Cloning is now trivial</a:t>
            </a:r>
            <a:endParaRPr lang="en-US" sz="1700" dirty="0"/>
          </a:p>
        </p:txBody>
      </p:sp>
      <p:sp>
        <p:nvSpPr>
          <p:cNvPr id="7" name="Text 4"/>
          <p:cNvSpPr txBox="1"/>
          <p:nvPr/>
        </p:nvSpPr>
        <p:spPr>
          <a:xfrm>
            <a:off x="1463040" y="1920240"/>
            <a:ext cx="9875520" cy="640080"/>
          </a:xfrm>
          <a:prstGeom prst="rect">
            <a:avLst/>
          </a:prstGeom>
          <a:noFill/>
          <a:ln/>
        </p:spPr>
        <p:txBody>
          <a:bodyPr wrap="square" lIns="0" tIns="0" rIns="0" bIns="0" rtlCol="0" anchor="ctr"/>
          <a:lstStyle/>
          <a:p>
            <a:pPr indent="0" marL="0">
              <a:lnSpc>
                <a:spcPct val="125000"/>
              </a:lnSpc>
              <a:buNone/>
            </a:pPr>
            <a:r>
              <a:rPr lang="en-US" sz="1300" dirty="0">
                <a:solidFill>
                  <a:srgbClr val="44506B"/>
                </a:solidFill>
                <a:latin typeface="Calibri" pitchFamily="34" charset="0"/>
                <a:ea typeface="Calibri" pitchFamily="34" charset="-122"/>
                <a:cs typeface="Calibri" pitchFamily="34" charset="-120"/>
              </a:rPr>
              <a:t>Modern TTS and voice-conversion models synthesize realistic speech from a few minutes of source audio, lowering the bar for impersonation attacks.</a:t>
            </a:r>
            <a:endParaRPr lang="en-US" sz="1300" dirty="0"/>
          </a:p>
        </p:txBody>
      </p:sp>
      <p:sp>
        <p:nvSpPr>
          <p:cNvPr id="8" name="Shape 5"/>
          <p:cNvSpPr/>
          <p:nvPr/>
        </p:nvSpPr>
        <p:spPr>
          <a:xfrm>
            <a:off x="548640" y="3017520"/>
            <a:ext cx="685800" cy="685800"/>
          </a:xfrm>
          <a:prstGeom prst="ellipse">
            <a:avLst/>
          </a:prstGeom>
          <a:solidFill>
            <a:srgbClr val="1E2761"/>
          </a:solidFill>
          <a:ln/>
        </p:spPr>
      </p:sp>
      <p:pic>
        <p:nvPicPr>
          <p:cNvPr id="9" name="Image 1" descr="/home/claude/deck/icons/alert_FFFFFF.png">    </p:cNvPr>
          <p:cNvPicPr>
            <a:picLocks noChangeAspect="1"/>
          </p:cNvPicPr>
          <p:nvPr/>
        </p:nvPicPr>
        <p:blipFill>
          <a:blip r:embed="rId2"/>
          <a:stretch>
            <a:fillRect/>
          </a:stretch>
        </p:blipFill>
        <p:spPr>
          <a:xfrm>
            <a:off x="708660" y="3177540"/>
            <a:ext cx="365760" cy="365760"/>
          </a:xfrm>
          <a:prstGeom prst="rect">
            <a:avLst/>
          </a:prstGeom>
        </p:spPr>
      </p:pic>
      <p:sp>
        <p:nvSpPr>
          <p:cNvPr id="10" name="Text 6"/>
          <p:cNvSpPr txBox="1"/>
          <p:nvPr/>
        </p:nvSpPr>
        <p:spPr>
          <a:xfrm>
            <a:off x="1463040" y="2971800"/>
            <a:ext cx="9875520" cy="365760"/>
          </a:xfrm>
          <a:prstGeom prst="rect">
            <a:avLst/>
          </a:prstGeom>
          <a:noFill/>
          <a:ln/>
        </p:spPr>
        <p:txBody>
          <a:bodyPr wrap="square" lIns="0" tIns="0" rIns="0" bIns="0" rtlCol="0" anchor="ctr"/>
          <a:lstStyle/>
          <a:p>
            <a:pPr indent="0" marL="0">
              <a:buNone/>
            </a:pPr>
            <a:r>
              <a:rPr lang="en-US" sz="1700" b="1" dirty="0">
                <a:solidFill>
                  <a:srgbClr val="1B1F3B"/>
                </a:solidFill>
                <a:latin typeface="Calibri" pitchFamily="34" charset="0"/>
                <a:ea typeface="Calibri" pitchFamily="34" charset="-122"/>
                <a:cs typeface="Calibri" pitchFamily="34" charset="-120"/>
              </a:rPr>
              <a:t>Static detectors collapse on new generators</a:t>
            </a:r>
            <a:endParaRPr lang="en-US" sz="1700" dirty="0"/>
          </a:p>
        </p:txBody>
      </p:sp>
      <p:sp>
        <p:nvSpPr>
          <p:cNvPr id="11" name="Text 7"/>
          <p:cNvSpPr txBox="1"/>
          <p:nvPr/>
        </p:nvSpPr>
        <p:spPr>
          <a:xfrm>
            <a:off x="1463040" y="3337560"/>
            <a:ext cx="9875520" cy="640080"/>
          </a:xfrm>
          <a:prstGeom prst="rect">
            <a:avLst/>
          </a:prstGeom>
          <a:noFill/>
          <a:ln/>
        </p:spPr>
        <p:txBody>
          <a:bodyPr wrap="square" lIns="0" tIns="0" rIns="0" bIns="0" rtlCol="0" anchor="ctr"/>
          <a:lstStyle/>
          <a:p>
            <a:pPr indent="0" marL="0">
              <a:lnSpc>
                <a:spcPct val="125000"/>
              </a:lnSpc>
              <a:buNone/>
            </a:pPr>
            <a:r>
              <a:rPr lang="en-US" sz="1300" dirty="0">
                <a:solidFill>
                  <a:srgbClr val="44506B"/>
                </a:solidFill>
                <a:latin typeface="Calibri" pitchFamily="34" charset="0"/>
                <a:ea typeface="Calibri" pitchFamily="34" charset="-122"/>
                <a:cs typeface="Calibri" pitchFamily="34" charset="-120"/>
              </a:rPr>
              <a:t>Detection methods trained on known synthesis methods fail to generalize across diverse, unseen generative models (Li &amp; Chen, 2024).</a:t>
            </a:r>
            <a:endParaRPr lang="en-US" sz="1300" dirty="0"/>
          </a:p>
        </p:txBody>
      </p:sp>
      <p:sp>
        <p:nvSpPr>
          <p:cNvPr id="12" name="Shape 8"/>
          <p:cNvSpPr/>
          <p:nvPr/>
        </p:nvSpPr>
        <p:spPr>
          <a:xfrm>
            <a:off x="548640" y="4434840"/>
            <a:ext cx="685800" cy="685800"/>
          </a:xfrm>
          <a:prstGeom prst="ellipse">
            <a:avLst/>
          </a:prstGeom>
          <a:solidFill>
            <a:srgbClr val="1E2761"/>
          </a:solidFill>
          <a:ln/>
        </p:spPr>
      </p:sp>
      <p:pic>
        <p:nvPicPr>
          <p:cNvPr id="13" name="Image 2" descr="/home/claude/deck/icons/phoneoff_FFFFFF.png">    </p:cNvPr>
          <p:cNvPicPr>
            <a:picLocks noChangeAspect="1"/>
          </p:cNvPicPr>
          <p:nvPr/>
        </p:nvPicPr>
        <p:blipFill>
          <a:blip r:embed="rId3"/>
          <a:stretch>
            <a:fillRect/>
          </a:stretch>
        </p:blipFill>
        <p:spPr>
          <a:xfrm>
            <a:off x="708660" y="4594860"/>
            <a:ext cx="365760" cy="365760"/>
          </a:xfrm>
          <a:prstGeom prst="rect">
            <a:avLst/>
          </a:prstGeom>
        </p:spPr>
      </p:pic>
      <p:sp>
        <p:nvSpPr>
          <p:cNvPr id="14" name="Text 9"/>
          <p:cNvSpPr txBox="1"/>
          <p:nvPr/>
        </p:nvSpPr>
        <p:spPr>
          <a:xfrm>
            <a:off x="1463040" y="4389120"/>
            <a:ext cx="9875520" cy="365760"/>
          </a:xfrm>
          <a:prstGeom prst="rect">
            <a:avLst/>
          </a:prstGeom>
          <a:noFill/>
          <a:ln/>
        </p:spPr>
        <p:txBody>
          <a:bodyPr wrap="square" lIns="0" tIns="0" rIns="0" bIns="0" rtlCol="0" anchor="ctr"/>
          <a:lstStyle/>
          <a:p>
            <a:pPr indent="0" marL="0">
              <a:buNone/>
            </a:pPr>
            <a:r>
              <a:rPr lang="en-US" sz="1700" b="1" dirty="0">
                <a:solidFill>
                  <a:srgbClr val="1B1F3B"/>
                </a:solidFill>
                <a:latin typeface="Calibri" pitchFamily="34" charset="0"/>
                <a:ea typeface="Calibri" pitchFamily="34" charset="-122"/>
                <a:cs typeface="Calibri" pitchFamily="34" charset="-120"/>
              </a:rPr>
              <a:t>The stakes sit at the authentication layer</a:t>
            </a:r>
            <a:endParaRPr lang="en-US" sz="1700" dirty="0"/>
          </a:p>
        </p:txBody>
      </p:sp>
      <p:sp>
        <p:nvSpPr>
          <p:cNvPr id="15" name="Text 10"/>
          <p:cNvSpPr txBox="1"/>
          <p:nvPr/>
        </p:nvSpPr>
        <p:spPr>
          <a:xfrm>
            <a:off x="1463040" y="4754880"/>
            <a:ext cx="9875520" cy="640080"/>
          </a:xfrm>
          <a:prstGeom prst="rect">
            <a:avLst/>
          </a:prstGeom>
          <a:noFill/>
          <a:ln/>
        </p:spPr>
        <p:txBody>
          <a:bodyPr wrap="square" lIns="0" tIns="0" rIns="0" bIns="0" rtlCol="0" anchor="ctr"/>
          <a:lstStyle/>
          <a:p>
            <a:pPr indent="0" marL="0">
              <a:lnSpc>
                <a:spcPct val="125000"/>
              </a:lnSpc>
              <a:buNone/>
            </a:pPr>
            <a:r>
              <a:rPr lang="en-US" sz="1300" dirty="0">
                <a:solidFill>
                  <a:srgbClr val="44506B"/>
                </a:solidFill>
                <a:latin typeface="Calibri" pitchFamily="34" charset="0"/>
                <a:ea typeface="Calibri" pitchFamily="34" charset="-122"/>
                <a:cs typeface="Calibri" pitchFamily="34" charset="-120"/>
              </a:rPr>
              <a:t>Voice authentication and call-center vishing sit directly in front of account access and fund transfers — a single miss is costly.</a:t>
            </a:r>
            <a:endParaRPr lang="en-US" sz="1300" dirty="0"/>
          </a:p>
        </p:txBody>
      </p:sp>
      <p:sp>
        <p:nvSpPr>
          <p:cNvPr id="16" name="Text 11"/>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17" name="Text 12"/>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CHALLENGE BRIEF</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What the panel is asking us to solve</a:t>
            </a:r>
            <a:endParaRPr lang="en-US" sz="3000" dirty="0"/>
          </a:p>
        </p:txBody>
      </p:sp>
      <p:sp>
        <p:nvSpPr>
          <p:cNvPr id="4" name="Shape 2"/>
          <p:cNvSpPr/>
          <p:nvPr/>
        </p:nvSpPr>
        <p:spPr>
          <a:xfrm>
            <a:off x="548640" y="1600200"/>
            <a:ext cx="5577840" cy="4434840"/>
          </a:xfrm>
          <a:prstGeom prst="roundRect">
            <a:avLst>
              <a:gd name="adj" fmla="val 1649"/>
            </a:avLst>
          </a:prstGeom>
          <a:solidFill>
            <a:srgbClr val="F4F6FC"/>
          </a:solidFill>
          <a:ln/>
        </p:spPr>
      </p:sp>
      <p:pic>
        <p:nvPicPr>
          <p:cNvPr id="5" name="Image 0" descr="/home/claude/deck/icons/target_1E2761.png">    </p:cNvPr>
          <p:cNvPicPr>
            <a:picLocks noChangeAspect="1"/>
          </p:cNvPicPr>
          <p:nvPr/>
        </p:nvPicPr>
        <p:blipFill>
          <a:blip r:embed="rId1"/>
          <a:stretch>
            <a:fillRect/>
          </a:stretch>
        </p:blipFill>
        <p:spPr>
          <a:xfrm>
            <a:off x="868680" y="1874520"/>
            <a:ext cx="457200" cy="457200"/>
          </a:xfrm>
          <a:prstGeom prst="rect">
            <a:avLst/>
          </a:prstGeom>
        </p:spPr>
      </p:pic>
      <p:sp>
        <p:nvSpPr>
          <p:cNvPr id="6" name="Text 3"/>
          <p:cNvSpPr txBox="1"/>
          <p:nvPr/>
        </p:nvSpPr>
        <p:spPr>
          <a:xfrm>
            <a:off x="1463040" y="1920240"/>
            <a:ext cx="4389120" cy="36576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Objective</a:t>
            </a:r>
            <a:endParaRPr lang="en-US" sz="1600" dirty="0"/>
          </a:p>
        </p:txBody>
      </p:sp>
      <p:sp>
        <p:nvSpPr>
          <p:cNvPr id="7" name="Text 4"/>
          <p:cNvSpPr txBox="1"/>
          <p:nvPr/>
        </p:nvSpPr>
        <p:spPr>
          <a:xfrm>
            <a:off x="868680" y="2514600"/>
            <a:ext cx="4937760" cy="1554480"/>
          </a:xfrm>
          <a:prstGeom prst="rect">
            <a:avLst/>
          </a:prstGeom>
          <a:noFill/>
          <a:ln/>
        </p:spPr>
        <p:txBody>
          <a:bodyPr wrap="square" lIns="0" tIns="0" rIns="0" bIns="0" rtlCol="0" anchor="ctr"/>
          <a:lstStyle/>
          <a:p>
            <a:pPr indent="0" marL="0">
              <a:lnSpc>
                <a:spcPct val="130000"/>
              </a:lnSpc>
              <a:buNone/>
            </a:pPr>
            <a:r>
              <a:rPr lang="en-US" sz="1300" dirty="0">
                <a:solidFill>
                  <a:srgbClr val="44506B"/>
                </a:solidFill>
                <a:latin typeface="Calibri" pitchFamily="34" charset="0"/>
                <a:ea typeface="Calibri" pitchFamily="34" charset="-122"/>
                <a:cs typeface="Calibri" pitchFamily="34" charset="-120"/>
              </a:rPr>
              <a:t>Develop and test a robust, generalized deep learning model for Presentation Attack Detection against modern audio deepfake and synthetic voice-spoofing techniques — improving voice authentication security while reducing multi-layer phishing risk.</a:t>
            </a:r>
            <a:endParaRPr lang="en-US" sz="1300" dirty="0"/>
          </a:p>
        </p:txBody>
      </p:sp>
      <p:sp>
        <p:nvSpPr>
          <p:cNvPr id="8" name="Shape 5"/>
          <p:cNvSpPr/>
          <p:nvPr/>
        </p:nvSpPr>
        <p:spPr>
          <a:xfrm>
            <a:off x="868680" y="4160520"/>
            <a:ext cx="4937760" cy="0"/>
          </a:xfrm>
          <a:prstGeom prst="line">
            <a:avLst/>
          </a:prstGeom>
          <a:noFill/>
          <a:ln w="19050">
            <a:solidFill>
              <a:srgbClr val="CADCFC"/>
            </a:solidFill>
            <a:prstDash val="solid"/>
          </a:ln>
        </p:spPr>
      </p:sp>
      <p:sp>
        <p:nvSpPr>
          <p:cNvPr id="9" name="Text 6"/>
          <p:cNvSpPr txBox="1"/>
          <p:nvPr/>
        </p:nvSpPr>
        <p:spPr>
          <a:xfrm>
            <a:off x="868680" y="4343400"/>
            <a:ext cx="4937760" cy="1463040"/>
          </a:xfrm>
          <a:prstGeom prst="rect">
            <a:avLst/>
          </a:prstGeom>
          <a:noFill/>
          <a:ln/>
        </p:spPr>
        <p:txBody>
          <a:bodyPr wrap="square" lIns="0" tIns="0" rIns="0" bIns="0" rtlCol="0" anchor="ctr"/>
          <a:lstStyle/>
          <a:p>
            <a:pPr indent="0" marL="0">
              <a:lnSpc>
                <a:spcPct val="130000"/>
              </a:lnSpc>
              <a:buNone/>
            </a:pPr>
            <a:r>
              <a:rPr lang="en-US" sz="1300" i="1" dirty="0">
                <a:solidFill>
                  <a:srgbClr val="1E2761"/>
                </a:solidFill>
                <a:latin typeface="Calibri" pitchFamily="34" charset="0"/>
                <a:ea typeface="Calibri" pitchFamily="34" charset="-122"/>
                <a:cs typeface="Calibri" pitchFamily="34" charset="-120"/>
              </a:rPr>
              <a:t>Success = accuracy that holds up on generators it has never seen — not just the ones it trained on.</a:t>
            </a:r>
            <a:endParaRPr lang="en-US" sz="1300" dirty="0"/>
          </a:p>
        </p:txBody>
      </p:sp>
      <p:sp>
        <p:nvSpPr>
          <p:cNvPr id="10" name="Shape 7"/>
          <p:cNvSpPr/>
          <p:nvPr/>
        </p:nvSpPr>
        <p:spPr>
          <a:xfrm>
            <a:off x="6400800" y="1600200"/>
            <a:ext cx="5212080" cy="960120"/>
          </a:xfrm>
          <a:prstGeom prst="roundRect">
            <a:avLst>
              <a:gd name="adj" fmla="val 5714"/>
            </a:avLst>
          </a:prstGeom>
          <a:solidFill>
            <a:srgbClr val="F4F6FC"/>
          </a:solidFill>
          <a:ln/>
        </p:spPr>
      </p:sp>
      <p:pic>
        <p:nvPicPr>
          <p:cNvPr id="11" name="Image 1" descr="/home/claude/deck/icons/clock_1E2761.png">    </p:cNvPr>
          <p:cNvPicPr>
            <a:picLocks noChangeAspect="1"/>
          </p:cNvPicPr>
          <p:nvPr/>
        </p:nvPicPr>
        <p:blipFill>
          <a:blip r:embed="rId2"/>
          <a:stretch>
            <a:fillRect/>
          </a:stretch>
        </p:blipFill>
        <p:spPr>
          <a:xfrm>
            <a:off x="6629400" y="1856232"/>
            <a:ext cx="438912" cy="438912"/>
          </a:xfrm>
          <a:prstGeom prst="rect">
            <a:avLst/>
          </a:prstGeom>
        </p:spPr>
      </p:pic>
      <p:sp>
        <p:nvSpPr>
          <p:cNvPr id="12" name="Text 8"/>
          <p:cNvSpPr txBox="1"/>
          <p:nvPr/>
        </p:nvSpPr>
        <p:spPr>
          <a:xfrm>
            <a:off x="7315200" y="1691640"/>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Real-time</a:t>
            </a:r>
            <a:endParaRPr lang="en-US" sz="1400" dirty="0"/>
          </a:p>
        </p:txBody>
      </p:sp>
      <p:sp>
        <p:nvSpPr>
          <p:cNvPr id="13" name="Text 9"/>
          <p:cNvSpPr txBox="1"/>
          <p:nvPr/>
        </p:nvSpPr>
        <p:spPr>
          <a:xfrm>
            <a:off x="7315200" y="2011680"/>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Low enough latency for live-call integration</a:t>
            </a:r>
            <a:endParaRPr lang="en-US" sz="1150" dirty="0"/>
          </a:p>
        </p:txBody>
      </p:sp>
      <p:sp>
        <p:nvSpPr>
          <p:cNvPr id="14" name="Shape 10"/>
          <p:cNvSpPr/>
          <p:nvPr/>
        </p:nvSpPr>
        <p:spPr>
          <a:xfrm>
            <a:off x="6400800" y="2715768"/>
            <a:ext cx="5212080" cy="960120"/>
          </a:xfrm>
          <a:prstGeom prst="roundRect">
            <a:avLst>
              <a:gd name="adj" fmla="val 5714"/>
            </a:avLst>
          </a:prstGeom>
          <a:solidFill>
            <a:srgbClr val="F4F6FC"/>
          </a:solidFill>
          <a:ln/>
        </p:spPr>
      </p:sp>
      <p:pic>
        <p:nvPicPr>
          <p:cNvPr id="15" name="Image 2" descr="/home/claude/deck/icons/layers_1E2761.png">    </p:cNvPr>
          <p:cNvPicPr>
            <a:picLocks noChangeAspect="1"/>
          </p:cNvPicPr>
          <p:nvPr/>
        </p:nvPicPr>
        <p:blipFill>
          <a:blip r:embed="rId3"/>
          <a:stretch>
            <a:fillRect/>
          </a:stretch>
        </p:blipFill>
        <p:spPr>
          <a:xfrm>
            <a:off x="6629400" y="2971800"/>
            <a:ext cx="438912" cy="438912"/>
          </a:xfrm>
          <a:prstGeom prst="rect">
            <a:avLst/>
          </a:prstGeom>
        </p:spPr>
      </p:pic>
      <p:sp>
        <p:nvSpPr>
          <p:cNvPr id="16" name="Text 11"/>
          <p:cNvSpPr txBox="1"/>
          <p:nvPr/>
        </p:nvSpPr>
        <p:spPr>
          <a:xfrm>
            <a:off x="7315200" y="2807208"/>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Multi-layer ready</a:t>
            </a:r>
            <a:endParaRPr lang="en-US" sz="1400" dirty="0"/>
          </a:p>
        </p:txBody>
      </p:sp>
      <p:sp>
        <p:nvSpPr>
          <p:cNvPr id="17" name="Text 12"/>
          <p:cNvSpPr txBox="1"/>
          <p:nvPr/>
        </p:nvSpPr>
        <p:spPr>
          <a:xfrm>
            <a:off x="7315200" y="3127248"/>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Feeds an adaptive phishing-defense stack</a:t>
            </a:r>
            <a:endParaRPr lang="en-US" sz="1150" dirty="0"/>
          </a:p>
        </p:txBody>
      </p:sp>
      <p:sp>
        <p:nvSpPr>
          <p:cNvPr id="18" name="Shape 13"/>
          <p:cNvSpPr/>
          <p:nvPr/>
        </p:nvSpPr>
        <p:spPr>
          <a:xfrm>
            <a:off x="6400800" y="3831336"/>
            <a:ext cx="5212080" cy="960120"/>
          </a:xfrm>
          <a:prstGeom prst="roundRect">
            <a:avLst>
              <a:gd name="adj" fmla="val 5714"/>
            </a:avLst>
          </a:prstGeom>
          <a:solidFill>
            <a:srgbClr val="F4F6FC"/>
          </a:solidFill>
          <a:ln/>
        </p:spPr>
      </p:sp>
      <p:pic>
        <p:nvPicPr>
          <p:cNvPr id="19" name="Image 3" descr="/home/claude/deck/icons/calendar_1E2761.png">    </p:cNvPr>
          <p:cNvPicPr>
            <a:picLocks noChangeAspect="1"/>
          </p:cNvPicPr>
          <p:nvPr/>
        </p:nvPicPr>
        <p:blipFill>
          <a:blip r:embed="rId4"/>
          <a:stretch>
            <a:fillRect/>
          </a:stretch>
        </p:blipFill>
        <p:spPr>
          <a:xfrm>
            <a:off x="6629400" y="4087368"/>
            <a:ext cx="438912" cy="438912"/>
          </a:xfrm>
          <a:prstGeom prst="rect">
            <a:avLst/>
          </a:prstGeom>
        </p:spPr>
      </p:pic>
      <p:sp>
        <p:nvSpPr>
          <p:cNvPr id="20" name="Text 14"/>
          <p:cNvSpPr txBox="1"/>
          <p:nvPr/>
        </p:nvSpPr>
        <p:spPr>
          <a:xfrm>
            <a:off x="7315200" y="3922776"/>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2-day sprint</a:t>
            </a:r>
            <a:endParaRPr lang="en-US" sz="1400" dirty="0"/>
          </a:p>
        </p:txBody>
      </p:sp>
      <p:sp>
        <p:nvSpPr>
          <p:cNvPr id="21" name="Text 15"/>
          <p:cNvSpPr txBox="1"/>
          <p:nvPr/>
        </p:nvSpPr>
        <p:spPr>
          <a:xfrm>
            <a:off x="7315200" y="4242816"/>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Build, test, and prep an expert panel review</a:t>
            </a:r>
            <a:endParaRPr lang="en-US" sz="1150" dirty="0"/>
          </a:p>
        </p:txBody>
      </p:sp>
      <p:sp>
        <p:nvSpPr>
          <p:cNvPr id="22" name="Shape 16"/>
          <p:cNvSpPr/>
          <p:nvPr/>
        </p:nvSpPr>
        <p:spPr>
          <a:xfrm>
            <a:off x="6400800" y="4946904"/>
            <a:ext cx="5212080" cy="960120"/>
          </a:xfrm>
          <a:prstGeom prst="roundRect">
            <a:avLst>
              <a:gd name="adj" fmla="val 5714"/>
            </a:avLst>
          </a:prstGeom>
          <a:solidFill>
            <a:srgbClr val="F4F6FC"/>
          </a:solidFill>
          <a:ln/>
        </p:spPr>
      </p:sp>
      <p:pic>
        <p:nvPicPr>
          <p:cNvPr id="23" name="Image 4" descr="/home/claude/deck/icons/check_1E2761.png">    </p:cNvPr>
          <p:cNvPicPr>
            <a:picLocks noChangeAspect="1"/>
          </p:cNvPicPr>
          <p:nvPr/>
        </p:nvPicPr>
        <p:blipFill>
          <a:blip r:embed="rId5"/>
          <a:stretch>
            <a:fillRect/>
          </a:stretch>
        </p:blipFill>
        <p:spPr>
          <a:xfrm>
            <a:off x="6629400" y="5202936"/>
            <a:ext cx="438912" cy="438912"/>
          </a:xfrm>
          <a:prstGeom prst="rect">
            <a:avLst/>
          </a:prstGeom>
        </p:spPr>
      </p:pic>
      <p:sp>
        <p:nvSpPr>
          <p:cNvPr id="24" name="Text 17"/>
          <p:cNvSpPr txBox="1"/>
          <p:nvPr/>
        </p:nvSpPr>
        <p:spPr>
          <a:xfrm>
            <a:off x="7315200" y="5038344"/>
            <a:ext cx="41148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20-min readout</a:t>
            </a:r>
            <a:endParaRPr lang="en-US" sz="1400" dirty="0"/>
          </a:p>
        </p:txBody>
      </p:sp>
      <p:sp>
        <p:nvSpPr>
          <p:cNvPr id="25" name="Text 18"/>
          <p:cNvSpPr txBox="1"/>
          <p:nvPr/>
        </p:nvSpPr>
        <p:spPr>
          <a:xfrm>
            <a:off x="7315200" y="5358384"/>
            <a:ext cx="4114800" cy="457200"/>
          </a:xfrm>
          <a:prstGeom prst="rect">
            <a:avLst/>
          </a:prstGeom>
          <a:noFill/>
          <a:ln/>
        </p:spPr>
        <p:txBody>
          <a:bodyPr wrap="square" lIns="0" tIns="0" rIns="0" bIns="0" rtlCol="0" anchor="ctr"/>
          <a:lstStyle/>
          <a:p>
            <a:pPr indent="0" marL="0">
              <a:lnSpc>
                <a:spcPct val="115000"/>
              </a:lnSpc>
              <a:buNone/>
            </a:pPr>
            <a:r>
              <a:rPr lang="en-US" sz="1150" dirty="0">
                <a:solidFill>
                  <a:srgbClr val="44506B"/>
                </a:solidFill>
                <a:latin typeface="Calibri" pitchFamily="34" charset="0"/>
                <a:ea typeface="Calibri" pitchFamily="34" charset="-122"/>
                <a:cs typeface="Calibri" pitchFamily="34" charset="-120"/>
              </a:rPr>
              <a:t>Findings + proposed solution to the panel</a:t>
            </a:r>
            <a:endParaRPr lang="en-US" sz="1150" dirty="0"/>
          </a:p>
        </p:txBody>
      </p:sp>
      <p:sp>
        <p:nvSpPr>
          <p:cNvPr id="26" name="Text 19"/>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7" name="Text 20"/>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DESIGN INSIGHT</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The core bet: foundation models, not detectors from scratch</a:t>
            </a:r>
            <a:endParaRPr lang="en-US" sz="3000" dirty="0"/>
          </a:p>
        </p:txBody>
      </p:sp>
      <p:sp>
        <p:nvSpPr>
          <p:cNvPr id="4" name="Text 2"/>
          <p:cNvSpPr txBox="1"/>
          <p:nvPr/>
        </p:nvSpPr>
        <p:spPr>
          <a:xfrm>
            <a:off x="548640" y="1417320"/>
            <a:ext cx="11064240" cy="685800"/>
          </a:xfrm>
          <a:prstGeom prst="rect">
            <a:avLst/>
          </a:prstGeom>
          <a:noFill/>
          <a:ln/>
        </p:spPr>
        <p:txBody>
          <a:bodyPr wrap="square" lIns="0" tIns="0" rIns="0" bIns="0" rtlCol="0" anchor="ctr"/>
          <a:lstStyle/>
          <a:p>
            <a:pPr indent="0" marL="0">
              <a:lnSpc>
                <a:spcPct val="130000"/>
              </a:lnSpc>
              <a:buNone/>
            </a:pPr>
            <a:r>
              <a:rPr lang="en-US" sz="1350" dirty="0">
                <a:solidFill>
                  <a:srgbClr val="44506B"/>
                </a:solidFill>
                <a:latin typeface="Calibri" pitchFamily="34" charset="0"/>
                <a:ea typeface="Calibri" pitchFamily="34" charset="-122"/>
                <a:cs typeface="Calibri" pitchFamily="34" charset="-120"/>
              </a:rPr>
              <a:t>Systematic benchmarking across generators shows traditional detectors overfit to the synthesis methods they trained on — while large pretrained speech foundation models generalize far better, including across languages they were never fine-tuned on.</a:t>
            </a:r>
            <a:endParaRPr lang="en-US" sz="1350" dirty="0"/>
          </a:p>
        </p:txBody>
      </p:sp>
      <p:sp>
        <p:nvSpPr>
          <p:cNvPr id="5" name="Shape 3"/>
          <p:cNvSpPr/>
          <p:nvPr/>
        </p:nvSpPr>
        <p:spPr>
          <a:xfrm>
            <a:off x="548640" y="2331720"/>
            <a:ext cx="5349240" cy="3703320"/>
          </a:xfrm>
          <a:prstGeom prst="roundRect">
            <a:avLst>
              <a:gd name="adj" fmla="val 1975"/>
            </a:avLst>
          </a:prstGeom>
          <a:solidFill>
            <a:srgbClr val="F4F6FC"/>
          </a:solidFill>
          <a:ln w="12700">
            <a:solidFill>
              <a:srgbClr val="CADCFC"/>
            </a:solidFill>
            <a:prstDash val="solid"/>
          </a:ln>
        </p:spPr>
      </p:sp>
      <p:sp>
        <p:nvSpPr>
          <p:cNvPr id="6" name="Text 4"/>
          <p:cNvSpPr txBox="1"/>
          <p:nvPr/>
        </p:nvSpPr>
        <p:spPr>
          <a:xfrm>
            <a:off x="868680" y="2606040"/>
            <a:ext cx="4754880" cy="457200"/>
          </a:xfrm>
          <a:prstGeom prst="rect">
            <a:avLst/>
          </a:prstGeom>
          <a:noFill/>
          <a:ln/>
        </p:spPr>
        <p:txBody>
          <a:bodyPr wrap="square" lIns="0" tIns="0" rIns="0" bIns="0" rtlCol="0" anchor="ctr"/>
          <a:lstStyle/>
          <a:p>
            <a:pPr indent="0" marL="0">
              <a:buNone/>
            </a:pPr>
            <a:r>
              <a:rPr lang="en-US" sz="1600" b="1" dirty="0">
                <a:solidFill>
                  <a:srgbClr val="8792AC"/>
                </a:solidFill>
                <a:latin typeface="Calibri" pitchFamily="34" charset="0"/>
                <a:ea typeface="Calibri" pitchFamily="34" charset="-122"/>
                <a:cs typeface="Calibri" pitchFamily="34" charset="-120"/>
              </a:rPr>
              <a:t>Traditional CNN / RNN Detectors</a:t>
            </a:r>
            <a:endParaRPr lang="en-US" sz="1600" dirty="0"/>
          </a:p>
        </p:txBody>
      </p:sp>
      <p:sp>
        <p:nvSpPr>
          <p:cNvPr id="7" name="Text 5"/>
          <p:cNvSpPr txBox="1"/>
          <p:nvPr/>
        </p:nvSpPr>
        <p:spPr>
          <a:xfrm>
            <a:off x="868680" y="3200400"/>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Trained end-to-end on spectrograms from known vocoders</a:t>
            </a:r>
            <a:endParaRPr lang="en-US" sz="1250" dirty="0"/>
          </a:p>
        </p:txBody>
      </p:sp>
      <p:sp>
        <p:nvSpPr>
          <p:cNvPr id="8" name="Text 6"/>
          <p:cNvSpPr txBox="1"/>
          <p:nvPr/>
        </p:nvSpPr>
        <p:spPr>
          <a:xfrm>
            <a:off x="868680" y="3858768"/>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Strong on in-distribution benchmarks</a:t>
            </a:r>
            <a:endParaRPr lang="en-US" sz="1250" dirty="0"/>
          </a:p>
        </p:txBody>
      </p:sp>
      <p:sp>
        <p:nvSpPr>
          <p:cNvPr id="9" name="Text 7"/>
          <p:cNvSpPr txBox="1"/>
          <p:nvPr/>
        </p:nvSpPr>
        <p:spPr>
          <a:xfrm>
            <a:off x="868680" y="4517136"/>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Accuracy drops sharply on unseen generator families</a:t>
            </a:r>
            <a:endParaRPr lang="en-US" sz="1250" dirty="0"/>
          </a:p>
        </p:txBody>
      </p:sp>
      <p:sp>
        <p:nvSpPr>
          <p:cNvPr id="10" name="Text 8"/>
          <p:cNvSpPr txBox="1"/>
          <p:nvPr/>
        </p:nvSpPr>
        <p:spPr>
          <a:xfrm>
            <a:off x="868680" y="5175504"/>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44506B"/>
                </a:solidFill>
                <a:latin typeface="Calibri" pitchFamily="34" charset="0"/>
                <a:ea typeface="Calibri" pitchFamily="34" charset="-122"/>
                <a:cs typeface="Calibri" pitchFamily="34" charset="-120"/>
              </a:rPr>
              <a:t>Little transfer across languages or channel conditions</a:t>
            </a:r>
            <a:endParaRPr lang="en-US" sz="1250" dirty="0"/>
          </a:p>
        </p:txBody>
      </p:sp>
      <p:sp>
        <p:nvSpPr>
          <p:cNvPr id="11" name="Shape 9"/>
          <p:cNvSpPr/>
          <p:nvPr/>
        </p:nvSpPr>
        <p:spPr>
          <a:xfrm>
            <a:off x="6263640" y="2331720"/>
            <a:ext cx="5349240" cy="3703320"/>
          </a:xfrm>
          <a:prstGeom prst="roundRect">
            <a:avLst>
              <a:gd name="adj" fmla="val 1975"/>
            </a:avLst>
          </a:prstGeom>
          <a:solidFill>
            <a:srgbClr val="1E2761"/>
          </a:solidFill>
          <a:ln/>
        </p:spPr>
      </p:sp>
      <p:sp>
        <p:nvSpPr>
          <p:cNvPr id="12" name="Text 10"/>
          <p:cNvSpPr txBox="1"/>
          <p:nvPr/>
        </p:nvSpPr>
        <p:spPr>
          <a:xfrm>
            <a:off x="6583680" y="2606040"/>
            <a:ext cx="475488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SSL Foundation Models (Wav2Vec2 / WavLM)</a:t>
            </a:r>
            <a:endParaRPr lang="en-US" sz="1600" dirty="0"/>
          </a:p>
        </p:txBody>
      </p:sp>
      <p:sp>
        <p:nvSpPr>
          <p:cNvPr id="13" name="Text 11"/>
          <p:cNvSpPr txBox="1"/>
          <p:nvPr/>
        </p:nvSpPr>
        <p:spPr>
          <a:xfrm>
            <a:off x="6583680" y="3200400"/>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Large-scale pretraining gives richer, more general speech representations</a:t>
            </a:r>
            <a:endParaRPr lang="en-US" sz="1250" dirty="0"/>
          </a:p>
        </p:txBody>
      </p:sp>
      <p:sp>
        <p:nvSpPr>
          <p:cNvPr id="14" name="Text 12"/>
          <p:cNvSpPr txBox="1"/>
          <p:nvPr/>
        </p:nvSpPr>
        <p:spPr>
          <a:xfrm>
            <a:off x="6583680" y="3858768"/>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Demonstrated cross-generator generalization in benchmark studies</a:t>
            </a:r>
            <a:endParaRPr lang="en-US" sz="1250" dirty="0"/>
          </a:p>
        </p:txBody>
      </p:sp>
      <p:sp>
        <p:nvSpPr>
          <p:cNvPr id="15" name="Text 13"/>
          <p:cNvSpPr txBox="1"/>
          <p:nvPr/>
        </p:nvSpPr>
        <p:spPr>
          <a:xfrm>
            <a:off x="6583680" y="4517136"/>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Robust cross-lingual performance despite English-only fine-tuning</a:t>
            </a:r>
            <a:endParaRPr lang="en-US" sz="1250" dirty="0"/>
          </a:p>
        </p:txBody>
      </p:sp>
      <p:sp>
        <p:nvSpPr>
          <p:cNvPr id="16" name="Text 14"/>
          <p:cNvSpPr txBox="1"/>
          <p:nvPr/>
        </p:nvSpPr>
        <p:spPr>
          <a:xfrm>
            <a:off x="6583680" y="5175504"/>
            <a:ext cx="4754880" cy="594360"/>
          </a:xfrm>
          <a:prstGeom prst="rect">
            <a:avLst/>
          </a:prstGeom>
          <a:noFill/>
          <a:ln/>
        </p:spPr>
        <p:txBody>
          <a:bodyPr wrap="square" lIns="0" tIns="0" rIns="0" bIns="0" rtlCol="0" anchor="ctr"/>
          <a:lstStyle/>
          <a:p>
            <a:pPr marL="342900" indent="-342900">
              <a:lnSpc>
                <a:spcPct val="115000"/>
              </a:lnSpc>
              <a:buSzPct val="100000"/>
              <a:buChar char="✓"/>
            </a:pPr>
            <a:r>
              <a:rPr lang="en-US" sz="1250" dirty="0">
                <a:solidFill>
                  <a:srgbClr val="CADCFC"/>
                </a:solidFill>
                <a:latin typeface="Calibri" pitchFamily="34" charset="0"/>
                <a:ea typeface="Calibri" pitchFamily="34" charset="-122"/>
                <a:cs typeface="Calibri" pitchFamily="34" charset="-120"/>
              </a:rPr>
              <a:t>Supports few-shot adaptation for high-value protected identities</a:t>
            </a:r>
            <a:endParaRPr lang="en-US" sz="1250" dirty="0"/>
          </a:p>
        </p:txBody>
      </p:sp>
      <p:sp>
        <p:nvSpPr>
          <p:cNvPr id="17" name="Text 15"/>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18" name="Text 16"/>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PROPOSED SYSTEM</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Detection pipeline, end to end</a:t>
            </a:r>
            <a:endParaRPr lang="en-US" sz="3000" dirty="0"/>
          </a:p>
        </p:txBody>
      </p:sp>
      <p:sp>
        <p:nvSpPr>
          <p:cNvPr id="4" name="Shape 2"/>
          <p:cNvSpPr/>
          <p:nvPr/>
        </p:nvSpPr>
        <p:spPr>
          <a:xfrm>
            <a:off x="548640" y="2331720"/>
            <a:ext cx="2331720" cy="2194560"/>
          </a:xfrm>
          <a:prstGeom prst="roundRect">
            <a:avLst>
              <a:gd name="adj" fmla="val 3333"/>
            </a:avLst>
          </a:prstGeom>
          <a:solidFill>
            <a:srgbClr val="F4F6FC"/>
          </a:solidFill>
          <a:ln/>
        </p:spPr>
      </p:sp>
      <p:pic>
        <p:nvPicPr>
          <p:cNvPr id="5" name="Image 0" descr="/home/claude/deck/icons/mic_1E2761.png">    </p:cNvPr>
          <p:cNvPicPr>
            <a:picLocks noChangeAspect="1"/>
          </p:cNvPicPr>
          <p:nvPr/>
        </p:nvPicPr>
        <p:blipFill>
          <a:blip r:embed="rId1"/>
          <a:stretch>
            <a:fillRect/>
          </a:stretch>
        </p:blipFill>
        <p:spPr>
          <a:xfrm>
            <a:off x="1440180" y="2587752"/>
            <a:ext cx="548640" cy="548640"/>
          </a:xfrm>
          <a:prstGeom prst="rect">
            <a:avLst/>
          </a:prstGeom>
        </p:spPr>
      </p:pic>
      <p:sp>
        <p:nvSpPr>
          <p:cNvPr id="6" name="Text 3"/>
          <p:cNvSpPr txBox="1"/>
          <p:nvPr/>
        </p:nvSpPr>
        <p:spPr>
          <a:xfrm>
            <a:off x="685800" y="3246120"/>
            <a:ext cx="2057400" cy="457200"/>
          </a:xfrm>
          <a:prstGeom prst="rect">
            <a:avLst/>
          </a:prstGeom>
          <a:noFill/>
          <a:ln/>
        </p:spPr>
        <p:txBody>
          <a:bodyPr wrap="square" lIns="0" tIns="0" rIns="0" bIns="0" rtlCol="0" anchor="ctr"/>
          <a:lstStyle/>
          <a:p>
            <a:pPr algn="ctr" indent="0" marL="0">
              <a:buNone/>
            </a:pPr>
            <a:r>
              <a:rPr lang="en-US" sz="1350" b="1" dirty="0">
                <a:solidFill>
                  <a:srgbClr val="1B1F3B"/>
                </a:solidFill>
                <a:latin typeface="Calibri" pitchFamily="34" charset="0"/>
                <a:ea typeface="Calibri" pitchFamily="34" charset="-122"/>
                <a:cs typeface="Calibri" pitchFamily="34" charset="-120"/>
              </a:rPr>
              <a:t>Audio Stream</a:t>
            </a:r>
            <a:endParaRPr lang="en-US" sz="1350" dirty="0"/>
          </a:p>
        </p:txBody>
      </p:sp>
      <p:sp>
        <p:nvSpPr>
          <p:cNvPr id="7" name="Text 4"/>
          <p:cNvSpPr txBox="1"/>
          <p:nvPr/>
        </p:nvSpPr>
        <p:spPr>
          <a:xfrm>
            <a:off x="685800"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44506B"/>
                </a:solidFill>
                <a:latin typeface="Calibri" pitchFamily="34" charset="0"/>
                <a:ea typeface="Calibri" pitchFamily="34" charset="-122"/>
                <a:cs typeface="Calibri" pitchFamily="34" charset="-120"/>
              </a:rPr>
              <a:t>Live call audio, chunked into overlapping 1–2s windows</a:t>
            </a:r>
            <a:endParaRPr lang="en-US" sz="1050" dirty="0"/>
          </a:p>
        </p:txBody>
      </p:sp>
      <p:sp>
        <p:nvSpPr>
          <p:cNvPr id="8" name="Text 5"/>
          <p:cNvSpPr txBox="1"/>
          <p:nvPr/>
        </p:nvSpPr>
        <p:spPr>
          <a:xfrm>
            <a:off x="2880360" y="3108960"/>
            <a:ext cx="384048" cy="640080"/>
          </a:xfrm>
          <a:prstGeom prst="rect">
            <a:avLst/>
          </a:prstGeom>
          <a:noFill/>
          <a:ln/>
        </p:spPr>
        <p:txBody>
          <a:bodyPr wrap="square" lIns="0" tIns="0" rIns="0" bIns="0" rtlCol="0" anchor="ctr"/>
          <a:lstStyle/>
          <a:p>
            <a:pPr algn="ctr" indent="0" marL="0">
              <a:buNone/>
            </a:pPr>
            <a:r>
              <a:rPr lang="en-US" sz="2600" b="1" dirty="0">
                <a:solidFill>
                  <a:srgbClr val="E94F37"/>
                </a:solidFill>
                <a:latin typeface="Arial" pitchFamily="34" charset="0"/>
                <a:ea typeface="Arial" pitchFamily="34" charset="-122"/>
                <a:cs typeface="Arial" pitchFamily="34" charset="-120"/>
              </a:rPr>
              <a:t>→</a:t>
            </a:r>
            <a:endParaRPr lang="en-US" sz="2600" dirty="0"/>
          </a:p>
        </p:txBody>
      </p:sp>
      <p:sp>
        <p:nvSpPr>
          <p:cNvPr id="9" name="Shape 6"/>
          <p:cNvSpPr/>
          <p:nvPr/>
        </p:nvSpPr>
        <p:spPr>
          <a:xfrm>
            <a:off x="3264408" y="2331720"/>
            <a:ext cx="2331720" cy="2194560"/>
          </a:xfrm>
          <a:prstGeom prst="roundRect">
            <a:avLst>
              <a:gd name="adj" fmla="val 3333"/>
            </a:avLst>
          </a:prstGeom>
          <a:solidFill>
            <a:srgbClr val="F4F6FC"/>
          </a:solidFill>
          <a:ln/>
        </p:spPr>
      </p:sp>
      <p:pic>
        <p:nvPicPr>
          <p:cNvPr id="10" name="Image 1" descr="/home/claude/deck/icons/layers_1E2761.png">    </p:cNvPr>
          <p:cNvPicPr>
            <a:picLocks noChangeAspect="1"/>
          </p:cNvPicPr>
          <p:nvPr/>
        </p:nvPicPr>
        <p:blipFill>
          <a:blip r:embed="rId2"/>
          <a:stretch>
            <a:fillRect/>
          </a:stretch>
        </p:blipFill>
        <p:spPr>
          <a:xfrm>
            <a:off x="4155948" y="2587752"/>
            <a:ext cx="548640" cy="548640"/>
          </a:xfrm>
          <a:prstGeom prst="rect">
            <a:avLst/>
          </a:prstGeom>
        </p:spPr>
      </p:pic>
      <p:sp>
        <p:nvSpPr>
          <p:cNvPr id="11" name="Text 7"/>
          <p:cNvSpPr txBox="1"/>
          <p:nvPr/>
        </p:nvSpPr>
        <p:spPr>
          <a:xfrm>
            <a:off x="3401568" y="3246120"/>
            <a:ext cx="2057400" cy="457200"/>
          </a:xfrm>
          <a:prstGeom prst="rect">
            <a:avLst/>
          </a:prstGeom>
          <a:noFill/>
          <a:ln/>
        </p:spPr>
        <p:txBody>
          <a:bodyPr wrap="square" lIns="0" tIns="0" rIns="0" bIns="0" rtlCol="0" anchor="ctr"/>
          <a:lstStyle/>
          <a:p>
            <a:pPr algn="ctr" indent="0" marL="0">
              <a:buNone/>
            </a:pPr>
            <a:r>
              <a:rPr lang="en-US" sz="1350" b="1" dirty="0">
                <a:solidFill>
                  <a:srgbClr val="1B1F3B"/>
                </a:solidFill>
                <a:latin typeface="Calibri" pitchFamily="34" charset="0"/>
                <a:ea typeface="Calibri" pitchFamily="34" charset="-122"/>
                <a:cs typeface="Calibri" pitchFamily="34" charset="-120"/>
              </a:rPr>
              <a:t>Feature Front-End</a:t>
            </a:r>
            <a:endParaRPr lang="en-US" sz="1350" dirty="0"/>
          </a:p>
        </p:txBody>
      </p:sp>
      <p:sp>
        <p:nvSpPr>
          <p:cNvPr id="12" name="Text 8"/>
          <p:cNvSpPr txBox="1"/>
          <p:nvPr/>
        </p:nvSpPr>
        <p:spPr>
          <a:xfrm>
            <a:off x="3401568"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44506B"/>
                </a:solidFill>
                <a:latin typeface="Calibri" pitchFamily="34" charset="0"/>
                <a:ea typeface="Calibri" pitchFamily="34" charset="-122"/>
                <a:cs typeface="Calibri" pitchFamily="34" charset="-120"/>
              </a:rPr>
              <a:t>SSL embeddings (Wav2Vec2/WavLM) + CQT/LFCC + pitch &amp; phase artifacts</a:t>
            </a:r>
            <a:endParaRPr lang="en-US" sz="1050" dirty="0"/>
          </a:p>
        </p:txBody>
      </p:sp>
      <p:sp>
        <p:nvSpPr>
          <p:cNvPr id="13" name="Text 9"/>
          <p:cNvSpPr txBox="1"/>
          <p:nvPr/>
        </p:nvSpPr>
        <p:spPr>
          <a:xfrm>
            <a:off x="5596128" y="3108960"/>
            <a:ext cx="384048" cy="640080"/>
          </a:xfrm>
          <a:prstGeom prst="rect">
            <a:avLst/>
          </a:prstGeom>
          <a:noFill/>
          <a:ln/>
        </p:spPr>
        <p:txBody>
          <a:bodyPr wrap="square" lIns="0" tIns="0" rIns="0" bIns="0" rtlCol="0" anchor="ctr"/>
          <a:lstStyle/>
          <a:p>
            <a:pPr algn="ctr" indent="0" marL="0">
              <a:buNone/>
            </a:pPr>
            <a:r>
              <a:rPr lang="en-US" sz="2600" b="1" dirty="0">
                <a:solidFill>
                  <a:srgbClr val="E94F37"/>
                </a:solidFill>
                <a:latin typeface="Arial" pitchFamily="34" charset="0"/>
                <a:ea typeface="Arial" pitchFamily="34" charset="-122"/>
                <a:cs typeface="Arial" pitchFamily="34" charset="-120"/>
              </a:rPr>
              <a:t>→</a:t>
            </a:r>
            <a:endParaRPr lang="en-US" sz="2600" dirty="0"/>
          </a:p>
        </p:txBody>
      </p:sp>
      <p:sp>
        <p:nvSpPr>
          <p:cNvPr id="14" name="Shape 10"/>
          <p:cNvSpPr/>
          <p:nvPr/>
        </p:nvSpPr>
        <p:spPr>
          <a:xfrm>
            <a:off x="5980176" y="2331720"/>
            <a:ext cx="2331720" cy="2194560"/>
          </a:xfrm>
          <a:prstGeom prst="roundRect">
            <a:avLst>
              <a:gd name="adj" fmla="val 3333"/>
            </a:avLst>
          </a:prstGeom>
          <a:solidFill>
            <a:srgbClr val="1E2761"/>
          </a:solidFill>
          <a:ln/>
        </p:spPr>
      </p:sp>
      <p:pic>
        <p:nvPicPr>
          <p:cNvPr id="15" name="Image 2" descr="/home/claude/deck/icons/cpu_FFFFFF.png">    </p:cNvPr>
          <p:cNvPicPr>
            <a:picLocks noChangeAspect="1"/>
          </p:cNvPicPr>
          <p:nvPr/>
        </p:nvPicPr>
        <p:blipFill>
          <a:blip r:embed="rId3"/>
          <a:stretch>
            <a:fillRect/>
          </a:stretch>
        </p:blipFill>
        <p:spPr>
          <a:xfrm>
            <a:off x="6871716" y="2587752"/>
            <a:ext cx="548640" cy="548640"/>
          </a:xfrm>
          <a:prstGeom prst="rect">
            <a:avLst/>
          </a:prstGeom>
        </p:spPr>
      </p:pic>
      <p:sp>
        <p:nvSpPr>
          <p:cNvPr id="16" name="Text 11"/>
          <p:cNvSpPr txBox="1"/>
          <p:nvPr/>
        </p:nvSpPr>
        <p:spPr>
          <a:xfrm>
            <a:off x="6117336" y="3246120"/>
            <a:ext cx="2057400" cy="457200"/>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Lightweight Attention Head</a:t>
            </a:r>
            <a:endParaRPr lang="en-US" sz="1350" dirty="0"/>
          </a:p>
        </p:txBody>
      </p:sp>
      <p:sp>
        <p:nvSpPr>
          <p:cNvPr id="17" name="Text 12"/>
          <p:cNvSpPr txBox="1"/>
          <p:nvPr/>
        </p:nvSpPr>
        <p:spPr>
          <a:xfrm>
            <a:off x="6117336"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CADCFC"/>
                </a:solidFill>
                <a:latin typeface="Calibri" pitchFamily="34" charset="0"/>
                <a:ea typeface="Calibri" pitchFamily="34" charset="-122"/>
                <a:cs typeface="Calibri" pitchFamily="34" charset="-120"/>
              </a:rPr>
              <a:t>Compact spectro-temporal attention classifier on top of frozen/LoRA backbone</a:t>
            </a:r>
            <a:endParaRPr lang="en-US" sz="1050" dirty="0"/>
          </a:p>
        </p:txBody>
      </p:sp>
      <p:sp>
        <p:nvSpPr>
          <p:cNvPr id="18" name="Text 13"/>
          <p:cNvSpPr txBox="1"/>
          <p:nvPr/>
        </p:nvSpPr>
        <p:spPr>
          <a:xfrm>
            <a:off x="8311896" y="3108960"/>
            <a:ext cx="384048" cy="640080"/>
          </a:xfrm>
          <a:prstGeom prst="rect">
            <a:avLst/>
          </a:prstGeom>
          <a:noFill/>
          <a:ln/>
        </p:spPr>
        <p:txBody>
          <a:bodyPr wrap="square" lIns="0" tIns="0" rIns="0" bIns="0" rtlCol="0" anchor="ctr"/>
          <a:lstStyle/>
          <a:p>
            <a:pPr algn="ctr" indent="0" marL="0">
              <a:buNone/>
            </a:pPr>
            <a:r>
              <a:rPr lang="en-US" sz="2600" b="1" dirty="0">
                <a:solidFill>
                  <a:srgbClr val="E94F37"/>
                </a:solidFill>
                <a:latin typeface="Arial" pitchFamily="34" charset="0"/>
                <a:ea typeface="Arial" pitchFamily="34" charset="-122"/>
                <a:cs typeface="Arial" pitchFamily="34" charset="-120"/>
              </a:rPr>
              <a:t>→</a:t>
            </a:r>
            <a:endParaRPr lang="en-US" sz="2600" dirty="0"/>
          </a:p>
        </p:txBody>
      </p:sp>
      <p:sp>
        <p:nvSpPr>
          <p:cNvPr id="19" name="Shape 14"/>
          <p:cNvSpPr/>
          <p:nvPr/>
        </p:nvSpPr>
        <p:spPr>
          <a:xfrm>
            <a:off x="8695944" y="2331720"/>
            <a:ext cx="2331720" cy="2194560"/>
          </a:xfrm>
          <a:prstGeom prst="roundRect">
            <a:avLst>
              <a:gd name="adj" fmla="val 3333"/>
            </a:avLst>
          </a:prstGeom>
          <a:solidFill>
            <a:srgbClr val="F4F6FC"/>
          </a:solidFill>
          <a:ln/>
        </p:spPr>
      </p:sp>
      <p:pic>
        <p:nvPicPr>
          <p:cNvPr id="20" name="Image 3" descr="/home/claude/deck/icons/target_1E2761.png">    </p:cNvPr>
          <p:cNvPicPr>
            <a:picLocks noChangeAspect="1"/>
          </p:cNvPicPr>
          <p:nvPr/>
        </p:nvPicPr>
        <p:blipFill>
          <a:blip r:embed="rId4"/>
          <a:stretch>
            <a:fillRect/>
          </a:stretch>
        </p:blipFill>
        <p:spPr>
          <a:xfrm>
            <a:off x="9587484" y="2587752"/>
            <a:ext cx="548640" cy="548640"/>
          </a:xfrm>
          <a:prstGeom prst="rect">
            <a:avLst/>
          </a:prstGeom>
        </p:spPr>
      </p:pic>
      <p:sp>
        <p:nvSpPr>
          <p:cNvPr id="21" name="Text 15"/>
          <p:cNvSpPr txBox="1"/>
          <p:nvPr/>
        </p:nvSpPr>
        <p:spPr>
          <a:xfrm>
            <a:off x="8833104" y="3246120"/>
            <a:ext cx="2057400" cy="457200"/>
          </a:xfrm>
          <a:prstGeom prst="rect">
            <a:avLst/>
          </a:prstGeom>
          <a:noFill/>
          <a:ln/>
        </p:spPr>
        <p:txBody>
          <a:bodyPr wrap="square" lIns="0" tIns="0" rIns="0" bIns="0" rtlCol="0" anchor="ctr"/>
          <a:lstStyle/>
          <a:p>
            <a:pPr algn="ctr" indent="0" marL="0">
              <a:buNone/>
            </a:pPr>
            <a:r>
              <a:rPr lang="en-US" sz="1350" b="1" dirty="0">
                <a:solidFill>
                  <a:srgbClr val="1B1F3B"/>
                </a:solidFill>
                <a:latin typeface="Calibri" pitchFamily="34" charset="0"/>
                <a:ea typeface="Calibri" pitchFamily="34" charset="-122"/>
                <a:cs typeface="Calibri" pitchFamily="34" charset="-120"/>
              </a:rPr>
              <a:t>Trust Score</a:t>
            </a:r>
            <a:endParaRPr lang="en-US" sz="1350" dirty="0"/>
          </a:p>
        </p:txBody>
      </p:sp>
      <p:sp>
        <p:nvSpPr>
          <p:cNvPr id="22" name="Text 16"/>
          <p:cNvSpPr txBox="1"/>
          <p:nvPr/>
        </p:nvSpPr>
        <p:spPr>
          <a:xfrm>
            <a:off x="8833104" y="3657600"/>
            <a:ext cx="2057400" cy="822960"/>
          </a:xfrm>
          <a:prstGeom prst="rect">
            <a:avLst/>
          </a:prstGeom>
          <a:noFill/>
          <a:ln/>
        </p:spPr>
        <p:txBody>
          <a:bodyPr wrap="square" lIns="0" tIns="0" rIns="0" bIns="0" rtlCol="0" anchor="ctr"/>
          <a:lstStyle/>
          <a:p>
            <a:pPr algn="ctr" indent="0" marL="0">
              <a:lnSpc>
                <a:spcPct val="115000"/>
              </a:lnSpc>
              <a:buNone/>
            </a:pPr>
            <a:r>
              <a:rPr lang="en-US" sz="1050" dirty="0">
                <a:solidFill>
                  <a:srgbClr val="44506B"/>
                </a:solidFill>
                <a:latin typeface="Calibri" pitchFamily="34" charset="0"/>
                <a:ea typeface="Calibri" pitchFamily="34" charset="-122"/>
                <a:cs typeface="Calibri" pitchFamily="34" charset="-120"/>
              </a:rPr>
              <a:t>Running per-segment authenticity score, streamed continuously</a:t>
            </a:r>
            <a:endParaRPr lang="en-US" sz="1050" dirty="0"/>
          </a:p>
        </p:txBody>
      </p:sp>
      <p:sp>
        <p:nvSpPr>
          <p:cNvPr id="23" name="Shape 17"/>
          <p:cNvSpPr/>
          <p:nvPr/>
        </p:nvSpPr>
        <p:spPr>
          <a:xfrm>
            <a:off x="548640" y="4983480"/>
            <a:ext cx="11064240" cy="1051560"/>
          </a:xfrm>
          <a:prstGeom prst="roundRect">
            <a:avLst>
              <a:gd name="adj" fmla="val 6957"/>
            </a:avLst>
          </a:prstGeom>
          <a:solidFill>
            <a:srgbClr val="FFF3F1"/>
          </a:solidFill>
          <a:ln w="12700">
            <a:solidFill>
              <a:srgbClr val="E94F37"/>
            </a:solidFill>
            <a:prstDash val="solid"/>
          </a:ln>
        </p:spPr>
      </p:sp>
      <p:pic>
        <p:nvPicPr>
          <p:cNvPr id="24" name="Image 4" descr="/home/claude/deck/icons/alert_1E2761.png">    </p:cNvPr>
          <p:cNvPicPr>
            <a:picLocks noChangeAspect="1"/>
          </p:cNvPicPr>
          <p:nvPr/>
        </p:nvPicPr>
        <p:blipFill>
          <a:blip r:embed="rId5"/>
          <a:stretch>
            <a:fillRect/>
          </a:stretch>
        </p:blipFill>
        <p:spPr>
          <a:xfrm>
            <a:off x="822960" y="5230368"/>
            <a:ext cx="502920" cy="502920"/>
          </a:xfrm>
          <a:prstGeom prst="rect">
            <a:avLst/>
          </a:prstGeom>
        </p:spPr>
      </p:pic>
      <p:sp>
        <p:nvSpPr>
          <p:cNvPr id="25" name="Text 18"/>
          <p:cNvSpPr txBox="1"/>
          <p:nvPr/>
        </p:nvSpPr>
        <p:spPr>
          <a:xfrm>
            <a:off x="1463040" y="5138928"/>
            <a:ext cx="9875520" cy="685800"/>
          </a:xfrm>
          <a:prstGeom prst="rect">
            <a:avLst/>
          </a:prstGeom>
          <a:noFill/>
          <a:ln/>
        </p:spPr>
        <p:txBody>
          <a:bodyPr wrap="square" lIns="0" tIns="0" rIns="0" bIns="0" rtlCol="0" anchor="ctr"/>
          <a:lstStyle/>
          <a:p>
            <a:pPr indent="0" marL="0">
              <a:lnSpc>
                <a:spcPct val="120000"/>
              </a:lnSpc>
              <a:buNone/>
            </a:pPr>
            <a:r>
              <a:rPr lang="en-US" sz="1250" dirty="0">
                <a:solidFill>
                  <a:srgbClr val="1B1F3B"/>
                </a:solidFill>
                <a:latin typeface="Calibri" pitchFamily="34" charset="0"/>
                <a:ea typeface="Calibri" pitchFamily="34" charset="-122"/>
                <a:cs typeface="Calibri" pitchFamily="34" charset="-120"/>
              </a:rPr>
              <a:t>Decision layer: trust score is thresholded for real-time block/allow, and passed upstream as a signal into the multi-layer phishing-defense stack (see next).</a:t>
            </a:r>
            <a:endParaRPr lang="en-US" sz="1250" dirty="0"/>
          </a:p>
        </p:txBody>
      </p:sp>
      <p:sp>
        <p:nvSpPr>
          <p:cNvPr id="26" name="Text 19"/>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7" name="Text 20"/>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SYSTEMS ENGINEERING</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Making it real-time, not just accurate</a:t>
            </a:r>
            <a:endParaRPr lang="en-US" sz="3000" dirty="0"/>
          </a:p>
        </p:txBody>
      </p:sp>
      <p:sp>
        <p:nvSpPr>
          <p:cNvPr id="4" name="Shape 2"/>
          <p:cNvSpPr/>
          <p:nvPr/>
        </p:nvSpPr>
        <p:spPr>
          <a:xfrm>
            <a:off x="548640" y="1600200"/>
            <a:ext cx="5349240" cy="2103120"/>
          </a:xfrm>
          <a:prstGeom prst="roundRect">
            <a:avLst>
              <a:gd name="adj" fmla="val 3478"/>
            </a:avLst>
          </a:prstGeom>
          <a:solidFill>
            <a:srgbClr val="F4F6FC"/>
          </a:solidFill>
          <a:ln/>
        </p:spPr>
      </p:sp>
      <p:sp>
        <p:nvSpPr>
          <p:cNvPr id="5" name="Shape 3"/>
          <p:cNvSpPr/>
          <p:nvPr/>
        </p:nvSpPr>
        <p:spPr>
          <a:xfrm>
            <a:off x="822960" y="1874520"/>
            <a:ext cx="594360" cy="594360"/>
          </a:xfrm>
          <a:prstGeom prst="ellipse">
            <a:avLst/>
          </a:prstGeom>
          <a:solidFill>
            <a:srgbClr val="1E2761"/>
          </a:solidFill>
          <a:ln/>
        </p:spPr>
      </p:sp>
      <p:pic>
        <p:nvPicPr>
          <p:cNvPr id="6" name="Image 0" descr="/home/claude/deck/icons/activity_FFFFFF.png">    </p:cNvPr>
          <p:cNvPicPr>
            <a:picLocks noChangeAspect="1"/>
          </p:cNvPicPr>
          <p:nvPr/>
        </p:nvPicPr>
        <p:blipFill>
          <a:blip r:embed="rId1"/>
          <a:stretch>
            <a:fillRect/>
          </a:stretch>
        </p:blipFill>
        <p:spPr>
          <a:xfrm>
            <a:off x="969264" y="2020824"/>
            <a:ext cx="301752" cy="301752"/>
          </a:xfrm>
          <a:prstGeom prst="rect">
            <a:avLst/>
          </a:prstGeom>
        </p:spPr>
      </p:pic>
      <p:sp>
        <p:nvSpPr>
          <p:cNvPr id="7" name="Text 4"/>
          <p:cNvSpPr txBox="1"/>
          <p:nvPr/>
        </p:nvSpPr>
        <p:spPr>
          <a:xfrm>
            <a:off x="1600200" y="187452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Streaming inference</a:t>
            </a:r>
            <a:endParaRPr lang="en-US" sz="1450" dirty="0"/>
          </a:p>
        </p:txBody>
      </p:sp>
      <p:sp>
        <p:nvSpPr>
          <p:cNvPr id="8" name="Text 5"/>
          <p:cNvSpPr txBox="1"/>
          <p:nvPr/>
        </p:nvSpPr>
        <p:spPr>
          <a:xfrm>
            <a:off x="822960" y="256032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Sliding 1–2s windows with overlap; running trust score updates instead of waiting for a full call.</a:t>
            </a:r>
            <a:endParaRPr lang="en-US" sz="1200" dirty="0"/>
          </a:p>
        </p:txBody>
      </p:sp>
      <p:sp>
        <p:nvSpPr>
          <p:cNvPr id="9" name="Shape 6"/>
          <p:cNvSpPr/>
          <p:nvPr/>
        </p:nvSpPr>
        <p:spPr>
          <a:xfrm>
            <a:off x="6263640" y="1600200"/>
            <a:ext cx="5349240" cy="2103120"/>
          </a:xfrm>
          <a:prstGeom prst="roundRect">
            <a:avLst>
              <a:gd name="adj" fmla="val 3478"/>
            </a:avLst>
          </a:prstGeom>
          <a:solidFill>
            <a:srgbClr val="F4F6FC"/>
          </a:solidFill>
          <a:ln/>
        </p:spPr>
      </p:sp>
      <p:sp>
        <p:nvSpPr>
          <p:cNvPr id="10" name="Shape 7"/>
          <p:cNvSpPr/>
          <p:nvPr/>
        </p:nvSpPr>
        <p:spPr>
          <a:xfrm>
            <a:off x="6537960" y="1874520"/>
            <a:ext cx="594360" cy="594360"/>
          </a:xfrm>
          <a:prstGeom prst="ellipse">
            <a:avLst/>
          </a:prstGeom>
          <a:solidFill>
            <a:srgbClr val="1E2761"/>
          </a:solidFill>
          <a:ln/>
        </p:spPr>
      </p:sp>
      <p:pic>
        <p:nvPicPr>
          <p:cNvPr id="11" name="Image 1" descr="/home/claude/deck/icons/cpu_FFFFFF.png">    </p:cNvPr>
          <p:cNvPicPr>
            <a:picLocks noChangeAspect="1"/>
          </p:cNvPicPr>
          <p:nvPr/>
        </p:nvPicPr>
        <p:blipFill>
          <a:blip r:embed="rId2"/>
          <a:stretch>
            <a:fillRect/>
          </a:stretch>
        </p:blipFill>
        <p:spPr>
          <a:xfrm>
            <a:off x="6684264" y="2020824"/>
            <a:ext cx="301752" cy="301752"/>
          </a:xfrm>
          <a:prstGeom prst="rect">
            <a:avLst/>
          </a:prstGeom>
        </p:spPr>
      </p:pic>
      <p:sp>
        <p:nvSpPr>
          <p:cNvPr id="12" name="Text 8"/>
          <p:cNvSpPr txBox="1"/>
          <p:nvPr/>
        </p:nvSpPr>
        <p:spPr>
          <a:xfrm>
            <a:off x="7315200" y="187452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Model compression</a:t>
            </a:r>
            <a:endParaRPr lang="en-US" sz="1450" dirty="0"/>
          </a:p>
        </p:txBody>
      </p:sp>
      <p:sp>
        <p:nvSpPr>
          <p:cNvPr id="13" name="Text 9"/>
          <p:cNvSpPr txBox="1"/>
          <p:nvPr/>
        </p:nvSpPr>
        <p:spPr>
          <a:xfrm>
            <a:off x="6537960" y="256032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Quantize/distill the SSL backbone (INT8, distilled student) to target sub-200ms latency per chunk.</a:t>
            </a:r>
            <a:endParaRPr lang="en-US" sz="1200" dirty="0"/>
          </a:p>
        </p:txBody>
      </p:sp>
      <p:sp>
        <p:nvSpPr>
          <p:cNvPr id="14" name="Shape 10"/>
          <p:cNvSpPr/>
          <p:nvPr/>
        </p:nvSpPr>
        <p:spPr>
          <a:xfrm>
            <a:off x="548640" y="3977640"/>
            <a:ext cx="5349240" cy="2103120"/>
          </a:xfrm>
          <a:prstGeom prst="roundRect">
            <a:avLst>
              <a:gd name="adj" fmla="val 3478"/>
            </a:avLst>
          </a:prstGeom>
          <a:solidFill>
            <a:srgbClr val="F4F6FC"/>
          </a:solidFill>
          <a:ln/>
        </p:spPr>
      </p:sp>
      <p:sp>
        <p:nvSpPr>
          <p:cNvPr id="15" name="Shape 11"/>
          <p:cNvSpPr/>
          <p:nvPr/>
        </p:nvSpPr>
        <p:spPr>
          <a:xfrm>
            <a:off x="822960" y="4251960"/>
            <a:ext cx="594360" cy="594360"/>
          </a:xfrm>
          <a:prstGeom prst="ellipse">
            <a:avLst/>
          </a:prstGeom>
          <a:solidFill>
            <a:srgbClr val="1E2761"/>
          </a:solidFill>
          <a:ln/>
        </p:spPr>
      </p:sp>
      <p:pic>
        <p:nvPicPr>
          <p:cNvPr id="16" name="Image 2" descr="/home/claude/deck/icons/phoneoff_FFFFFF.png">    </p:cNvPr>
          <p:cNvPicPr>
            <a:picLocks noChangeAspect="1"/>
          </p:cNvPicPr>
          <p:nvPr/>
        </p:nvPicPr>
        <p:blipFill>
          <a:blip r:embed="rId3"/>
          <a:stretch>
            <a:fillRect/>
          </a:stretch>
        </p:blipFill>
        <p:spPr>
          <a:xfrm>
            <a:off x="969264" y="4398264"/>
            <a:ext cx="301752" cy="301752"/>
          </a:xfrm>
          <a:prstGeom prst="rect">
            <a:avLst/>
          </a:prstGeom>
        </p:spPr>
      </p:pic>
      <p:sp>
        <p:nvSpPr>
          <p:cNvPr id="17" name="Text 12"/>
          <p:cNvSpPr txBox="1"/>
          <p:nvPr/>
        </p:nvSpPr>
        <p:spPr>
          <a:xfrm>
            <a:off x="1600200" y="425196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Degraded-channel robustness</a:t>
            </a:r>
            <a:endParaRPr lang="en-US" sz="1450" dirty="0"/>
          </a:p>
        </p:txBody>
      </p:sp>
      <p:sp>
        <p:nvSpPr>
          <p:cNvPr id="18" name="Text 13"/>
          <p:cNvSpPr txBox="1"/>
          <p:nvPr/>
        </p:nvSpPr>
        <p:spPr>
          <a:xfrm>
            <a:off x="822960" y="493776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Train with codec compression, packet loss, and 8kHz narrowband telephony — the real conditions vishing calls arrive on.</a:t>
            </a:r>
            <a:endParaRPr lang="en-US" sz="1200" dirty="0"/>
          </a:p>
        </p:txBody>
      </p:sp>
      <p:sp>
        <p:nvSpPr>
          <p:cNvPr id="19" name="Shape 14"/>
          <p:cNvSpPr/>
          <p:nvPr/>
        </p:nvSpPr>
        <p:spPr>
          <a:xfrm>
            <a:off x="6263640" y="3977640"/>
            <a:ext cx="5349240" cy="2103120"/>
          </a:xfrm>
          <a:prstGeom prst="roundRect">
            <a:avLst>
              <a:gd name="adj" fmla="val 3478"/>
            </a:avLst>
          </a:prstGeom>
          <a:solidFill>
            <a:srgbClr val="F4F6FC"/>
          </a:solidFill>
          <a:ln/>
        </p:spPr>
      </p:sp>
      <p:sp>
        <p:nvSpPr>
          <p:cNvPr id="20" name="Shape 15"/>
          <p:cNvSpPr/>
          <p:nvPr/>
        </p:nvSpPr>
        <p:spPr>
          <a:xfrm>
            <a:off x="6537960" y="4251960"/>
            <a:ext cx="594360" cy="594360"/>
          </a:xfrm>
          <a:prstGeom prst="ellipse">
            <a:avLst/>
          </a:prstGeom>
          <a:solidFill>
            <a:srgbClr val="1E2761"/>
          </a:solidFill>
          <a:ln/>
        </p:spPr>
      </p:sp>
      <p:pic>
        <p:nvPicPr>
          <p:cNvPr id="21" name="Image 3" descr="/home/claude/deck/icons/layers_FFFFFF.png">    </p:cNvPr>
          <p:cNvPicPr>
            <a:picLocks noChangeAspect="1"/>
          </p:cNvPicPr>
          <p:nvPr/>
        </p:nvPicPr>
        <p:blipFill>
          <a:blip r:embed="rId4"/>
          <a:stretch>
            <a:fillRect/>
          </a:stretch>
        </p:blipFill>
        <p:spPr>
          <a:xfrm>
            <a:off x="6684264" y="4398264"/>
            <a:ext cx="301752" cy="301752"/>
          </a:xfrm>
          <a:prstGeom prst="rect">
            <a:avLst/>
          </a:prstGeom>
        </p:spPr>
      </p:pic>
      <p:sp>
        <p:nvSpPr>
          <p:cNvPr id="22" name="Text 16"/>
          <p:cNvSpPr txBox="1"/>
          <p:nvPr/>
        </p:nvSpPr>
        <p:spPr>
          <a:xfrm>
            <a:off x="7315200" y="4251960"/>
            <a:ext cx="4069080" cy="411480"/>
          </a:xfrm>
          <a:prstGeom prst="rect">
            <a:avLst/>
          </a:prstGeom>
          <a:noFill/>
          <a:ln/>
        </p:spPr>
        <p:txBody>
          <a:bodyPr wrap="square" lIns="0" tIns="0" rIns="0" bIns="0" rtlCol="0" anchor="ctr"/>
          <a:lstStyle/>
          <a:p>
            <a:pPr indent="0" marL="0">
              <a:buNone/>
            </a:pPr>
            <a:r>
              <a:rPr lang="en-US" sz="1450" b="1" dirty="0">
                <a:solidFill>
                  <a:srgbClr val="1B1F3B"/>
                </a:solidFill>
                <a:latin typeface="Calibri" pitchFamily="34" charset="0"/>
                <a:ea typeface="Calibri" pitchFamily="34" charset="-122"/>
                <a:cs typeface="Calibri" pitchFamily="34" charset="-120"/>
              </a:rPr>
              <a:t>Edge / cloud split</a:t>
            </a:r>
            <a:endParaRPr lang="en-US" sz="1450" dirty="0"/>
          </a:p>
        </p:txBody>
      </p:sp>
      <p:sp>
        <p:nvSpPr>
          <p:cNvPr id="23" name="Text 17"/>
          <p:cNvSpPr txBox="1"/>
          <p:nvPr/>
        </p:nvSpPr>
        <p:spPr>
          <a:xfrm>
            <a:off x="6537960" y="4937760"/>
            <a:ext cx="4800600" cy="1005840"/>
          </a:xfrm>
          <a:prstGeom prst="rect">
            <a:avLst/>
          </a:prstGeom>
          <a:noFill/>
          <a:ln/>
        </p:spPr>
        <p:txBody>
          <a:bodyPr wrap="square" lIns="0" tIns="0" rIns="0" bIns="0" rtlCol="0" anchor="ctr"/>
          <a:lstStyle/>
          <a:p>
            <a:pPr indent="0" marL="0">
              <a:lnSpc>
                <a:spcPct val="125000"/>
              </a:lnSpc>
              <a:buNone/>
            </a:pPr>
            <a:r>
              <a:rPr lang="en-US" sz="1200" dirty="0">
                <a:solidFill>
                  <a:srgbClr val="44506B"/>
                </a:solidFill>
                <a:latin typeface="Calibri" pitchFamily="34" charset="0"/>
                <a:ea typeface="Calibri" pitchFamily="34" charset="-122"/>
                <a:cs typeface="Calibri" pitchFamily="34" charset="-120"/>
              </a:rPr>
              <a:t>Fast handcrafted-feature triage at the gateway for an instant first pass; heavier backbone confirms asynchronously.</a:t>
            </a:r>
            <a:endParaRPr lang="en-US" sz="1200" dirty="0"/>
          </a:p>
        </p:txBody>
      </p:sp>
      <p:sp>
        <p:nvSpPr>
          <p:cNvPr id="24" name="Text 18"/>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5" name="Text 19"/>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INTEGRATION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One signal in a multi-layer phishing defense</a:t>
            </a:r>
            <a:endParaRPr lang="en-US" sz="3000" dirty="0"/>
          </a:p>
        </p:txBody>
      </p:sp>
      <p:sp>
        <p:nvSpPr>
          <p:cNvPr id="4" name="Shape 2"/>
          <p:cNvSpPr/>
          <p:nvPr/>
        </p:nvSpPr>
        <p:spPr>
          <a:xfrm>
            <a:off x="548640" y="1691640"/>
            <a:ext cx="10515600" cy="1234440"/>
          </a:xfrm>
          <a:prstGeom prst="roundRect">
            <a:avLst>
              <a:gd name="adj" fmla="val 5926"/>
            </a:avLst>
          </a:prstGeom>
          <a:solidFill>
            <a:srgbClr val="1E2761"/>
          </a:solidFill>
          <a:ln/>
        </p:spPr>
      </p:sp>
      <p:sp>
        <p:nvSpPr>
          <p:cNvPr id="5" name="Shape 3"/>
          <p:cNvSpPr/>
          <p:nvPr/>
        </p:nvSpPr>
        <p:spPr>
          <a:xfrm>
            <a:off x="822960" y="2011680"/>
            <a:ext cx="594360" cy="594360"/>
          </a:xfrm>
          <a:prstGeom prst="ellipse">
            <a:avLst/>
          </a:prstGeom>
          <a:solidFill>
            <a:srgbClr val="FFFFFF"/>
          </a:solidFill>
          <a:ln/>
        </p:spPr>
      </p:sp>
      <p:pic>
        <p:nvPicPr>
          <p:cNvPr id="6" name="Image 0" descr="/home/claude/deck/icons/mic_1E2761.png">    </p:cNvPr>
          <p:cNvPicPr>
            <a:picLocks noChangeAspect="1"/>
          </p:cNvPicPr>
          <p:nvPr/>
        </p:nvPicPr>
        <p:blipFill>
          <a:blip r:embed="rId1"/>
          <a:stretch>
            <a:fillRect/>
          </a:stretch>
        </p:blipFill>
        <p:spPr>
          <a:xfrm>
            <a:off x="969264" y="2157984"/>
            <a:ext cx="301752" cy="301752"/>
          </a:xfrm>
          <a:prstGeom prst="rect">
            <a:avLst/>
          </a:prstGeom>
        </p:spPr>
      </p:pic>
      <p:sp>
        <p:nvSpPr>
          <p:cNvPr id="7" name="Text 4"/>
          <p:cNvSpPr txBox="1"/>
          <p:nvPr/>
        </p:nvSpPr>
        <p:spPr>
          <a:xfrm>
            <a:off x="1600200" y="1837944"/>
            <a:ext cx="86868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Layer 1 — Voice PAD</a:t>
            </a:r>
            <a:endParaRPr lang="en-US" sz="1500" dirty="0"/>
          </a:p>
        </p:txBody>
      </p:sp>
      <p:sp>
        <p:nvSpPr>
          <p:cNvPr id="8" name="Text 5"/>
          <p:cNvSpPr txBox="1"/>
          <p:nvPr/>
        </p:nvSpPr>
        <p:spPr>
          <a:xfrm>
            <a:off x="1600200" y="2221992"/>
            <a:ext cx="8686800" cy="6400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Real vs. synthetic score per call segment (this project's deliverable)</a:t>
            </a:r>
            <a:endParaRPr lang="en-US" sz="1150" dirty="0"/>
          </a:p>
        </p:txBody>
      </p:sp>
      <p:sp>
        <p:nvSpPr>
          <p:cNvPr id="9" name="Shape 6"/>
          <p:cNvSpPr/>
          <p:nvPr/>
        </p:nvSpPr>
        <p:spPr>
          <a:xfrm>
            <a:off x="1051560" y="3154680"/>
            <a:ext cx="9509760" cy="1234440"/>
          </a:xfrm>
          <a:prstGeom prst="roundRect">
            <a:avLst>
              <a:gd name="adj" fmla="val 5926"/>
            </a:avLst>
          </a:prstGeom>
          <a:solidFill>
            <a:srgbClr val="3E4A85"/>
          </a:solidFill>
          <a:ln/>
        </p:spPr>
      </p:sp>
      <p:sp>
        <p:nvSpPr>
          <p:cNvPr id="10" name="Shape 7"/>
          <p:cNvSpPr/>
          <p:nvPr/>
        </p:nvSpPr>
        <p:spPr>
          <a:xfrm>
            <a:off x="1325880" y="3474720"/>
            <a:ext cx="594360" cy="594360"/>
          </a:xfrm>
          <a:prstGeom prst="ellipse">
            <a:avLst/>
          </a:prstGeom>
          <a:solidFill>
            <a:srgbClr val="FFFFFF"/>
          </a:solidFill>
          <a:ln/>
        </p:spPr>
      </p:sp>
      <p:pic>
        <p:nvPicPr>
          <p:cNvPr id="11" name="Image 1" descr="/home/claude/deck/icons/activity_1E2761.png">    </p:cNvPr>
          <p:cNvPicPr>
            <a:picLocks noChangeAspect="1"/>
          </p:cNvPicPr>
          <p:nvPr/>
        </p:nvPicPr>
        <p:blipFill>
          <a:blip r:embed="rId2"/>
          <a:stretch>
            <a:fillRect/>
          </a:stretch>
        </p:blipFill>
        <p:spPr>
          <a:xfrm>
            <a:off x="1472184" y="3621024"/>
            <a:ext cx="301752" cy="301752"/>
          </a:xfrm>
          <a:prstGeom prst="rect">
            <a:avLst/>
          </a:prstGeom>
        </p:spPr>
      </p:pic>
      <p:sp>
        <p:nvSpPr>
          <p:cNvPr id="12" name="Text 8"/>
          <p:cNvSpPr txBox="1"/>
          <p:nvPr/>
        </p:nvSpPr>
        <p:spPr>
          <a:xfrm>
            <a:off x="2103120" y="3300984"/>
            <a:ext cx="76809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Layer 2 — Behavioral &amp; Context</a:t>
            </a:r>
            <a:endParaRPr lang="en-US" sz="1500" dirty="0"/>
          </a:p>
        </p:txBody>
      </p:sp>
      <p:sp>
        <p:nvSpPr>
          <p:cNvPr id="13" name="Text 9"/>
          <p:cNvSpPr txBox="1"/>
          <p:nvPr/>
        </p:nvSpPr>
        <p:spPr>
          <a:xfrm>
            <a:off x="2103120" y="3685032"/>
            <a:ext cx="7680960" cy="6400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Caller-ID spoofing signals, call metadata anomalies, urgency / funds-transfer request patterns typical of vishing scripts</a:t>
            </a:r>
            <a:endParaRPr lang="en-US" sz="1150" dirty="0"/>
          </a:p>
        </p:txBody>
      </p:sp>
      <p:sp>
        <p:nvSpPr>
          <p:cNvPr id="14" name="Shape 10"/>
          <p:cNvSpPr/>
          <p:nvPr/>
        </p:nvSpPr>
        <p:spPr>
          <a:xfrm>
            <a:off x="1554480" y="4617720"/>
            <a:ext cx="8503920" cy="1234440"/>
          </a:xfrm>
          <a:prstGeom prst="roundRect">
            <a:avLst>
              <a:gd name="adj" fmla="val 5926"/>
            </a:avLst>
          </a:prstGeom>
          <a:solidFill>
            <a:srgbClr val="6470B3"/>
          </a:solidFill>
          <a:ln/>
        </p:spPr>
      </p:sp>
      <p:sp>
        <p:nvSpPr>
          <p:cNvPr id="15" name="Shape 11"/>
          <p:cNvSpPr/>
          <p:nvPr/>
        </p:nvSpPr>
        <p:spPr>
          <a:xfrm>
            <a:off x="1828800" y="4937760"/>
            <a:ext cx="594360" cy="594360"/>
          </a:xfrm>
          <a:prstGeom prst="ellipse">
            <a:avLst/>
          </a:prstGeom>
          <a:solidFill>
            <a:srgbClr val="FFFFFF"/>
          </a:solidFill>
          <a:ln/>
        </p:spPr>
      </p:sp>
      <p:pic>
        <p:nvPicPr>
          <p:cNvPr id="16" name="Image 2" descr="/home/claude/deck/icons/layers_1E2761.png">    </p:cNvPr>
          <p:cNvPicPr>
            <a:picLocks noChangeAspect="1"/>
          </p:cNvPicPr>
          <p:nvPr/>
        </p:nvPicPr>
        <p:blipFill>
          <a:blip r:embed="rId3"/>
          <a:stretch>
            <a:fillRect/>
          </a:stretch>
        </p:blipFill>
        <p:spPr>
          <a:xfrm>
            <a:off x="1975104" y="5084064"/>
            <a:ext cx="301752" cy="301752"/>
          </a:xfrm>
          <a:prstGeom prst="rect">
            <a:avLst/>
          </a:prstGeom>
        </p:spPr>
      </p:pic>
      <p:sp>
        <p:nvSpPr>
          <p:cNvPr id="17" name="Text 12"/>
          <p:cNvSpPr txBox="1"/>
          <p:nvPr/>
        </p:nvSpPr>
        <p:spPr>
          <a:xfrm>
            <a:off x="2606040" y="4764024"/>
            <a:ext cx="667512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Layer 3 — Fusion &amp; Adaptive Decision</a:t>
            </a:r>
            <a:endParaRPr lang="en-US" sz="1500" dirty="0"/>
          </a:p>
        </p:txBody>
      </p:sp>
      <p:sp>
        <p:nvSpPr>
          <p:cNvPr id="18" name="Text 13"/>
          <p:cNvSpPr txBox="1"/>
          <p:nvPr/>
        </p:nvSpPr>
        <p:spPr>
          <a:xfrm>
            <a:off x="2606040" y="5148072"/>
            <a:ext cx="6675120" cy="640080"/>
          </a:xfrm>
          <a:prstGeom prst="rect">
            <a:avLst/>
          </a:prstGeom>
          <a:noFill/>
          <a:ln/>
        </p:spPr>
        <p:txBody>
          <a:bodyPr wrap="square" lIns="0" tIns="0" rIns="0" bIns="0" rtlCol="0" anchor="ctr"/>
          <a:lstStyle/>
          <a:p>
            <a:pPr indent="0" marL="0">
              <a:lnSpc>
                <a:spcPct val="120000"/>
              </a:lnSpc>
              <a:buNone/>
            </a:pPr>
            <a:r>
              <a:rPr lang="en-US" sz="1150" dirty="0">
                <a:solidFill>
                  <a:srgbClr val="CADCFC"/>
                </a:solidFill>
                <a:latin typeface="Calibri" pitchFamily="34" charset="0"/>
                <a:ea typeface="Calibri" pitchFamily="34" charset="-122"/>
                <a:cs typeface="Calibri" pitchFamily="34" charset="-120"/>
              </a:rPr>
              <a:t>Combines PAD score with contextual risk; borderline voice + high-risk context triggers step-up auth, high-confidence spoof triggers an immediate block</a:t>
            </a:r>
            <a:endParaRPr lang="en-US" sz="1150" dirty="0"/>
          </a:p>
        </p:txBody>
      </p:sp>
      <p:sp>
        <p:nvSpPr>
          <p:cNvPr id="19" name="Text 14"/>
          <p:cNvSpPr txBox="1"/>
          <p:nvPr/>
        </p:nvSpPr>
        <p:spPr>
          <a:xfrm>
            <a:off x="548640" y="6263640"/>
            <a:ext cx="10881360" cy="274320"/>
          </a:xfrm>
          <a:prstGeom prst="rect">
            <a:avLst/>
          </a:prstGeom>
          <a:noFill/>
          <a:ln/>
        </p:spPr>
        <p:txBody>
          <a:bodyPr wrap="square" lIns="0" tIns="0" rIns="0" bIns="0" rtlCol="0" anchor="ctr"/>
          <a:lstStyle/>
          <a:p>
            <a:pPr indent="0" marL="0">
              <a:buNone/>
            </a:pPr>
            <a:r>
              <a:rPr lang="en-US" sz="1050" i="1" dirty="0">
                <a:solidFill>
                  <a:srgbClr val="8792AC"/>
                </a:solidFill>
                <a:latin typeface="Calibri" pitchFamily="34" charset="0"/>
                <a:ea typeface="Calibri" pitchFamily="34" charset="-122"/>
                <a:cs typeface="Calibri" pitchFamily="34" charset="-120"/>
              </a:rPr>
              <a:t>Grounded in a multi-layer adaptive framework for phishing-attack detection (Ige, Kiekintveld &amp; Piplai, 2024).</a:t>
            </a:r>
            <a:endParaRPr lang="en-US" sz="1050" dirty="0"/>
          </a:p>
        </p:txBody>
      </p:sp>
      <p:sp>
        <p:nvSpPr>
          <p:cNvPr id="20" name="Text 15"/>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1" name="Text 16"/>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EVALUATION PLAN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Proving generalization, not just accuracy</a:t>
            </a:r>
            <a:endParaRPr lang="en-US" sz="3000" dirty="0"/>
          </a:p>
        </p:txBody>
      </p:sp>
      <p:sp>
        <p:nvSpPr>
          <p:cNvPr id="4" name="Shape 2"/>
          <p:cNvSpPr/>
          <p:nvPr/>
        </p:nvSpPr>
        <p:spPr>
          <a:xfrm>
            <a:off x="548640" y="1600200"/>
            <a:ext cx="5349240" cy="1353312"/>
          </a:xfrm>
          <a:prstGeom prst="roundRect">
            <a:avLst>
              <a:gd name="adj" fmla="val 5405"/>
            </a:avLst>
          </a:prstGeom>
          <a:solidFill>
            <a:srgbClr val="F4F6FC"/>
          </a:solidFill>
          <a:ln/>
        </p:spPr>
        <p:txBody>
          <a:bodyPr/>
          <a:p/>
        </p:txBody>
      </p:sp>
      <p:pic>
        <p:nvPicPr>
          <p:cNvPr id="5" name="Image 0" descr="/home/claude/deck/icons/chart_1E2761.png">    </p:cNvPr>
          <p:cNvPicPr>
            <a:picLocks noChangeAspect="1"/>
          </p:cNvPicPr>
          <p:nvPr/>
        </p:nvPicPr>
        <p:blipFill>
          <a:blip r:embed="rId1"/>
          <a:stretch>
            <a:fillRect/>
          </a:stretch>
        </p:blipFill>
        <p:spPr>
          <a:xfrm>
            <a:off x="822960" y="1819656"/>
            <a:ext cx="438912" cy="438912"/>
          </a:xfrm>
          <a:prstGeom prst="rect">
            <a:avLst/>
          </a:prstGeom>
        </p:spPr>
      </p:pic>
      <p:sp>
        <p:nvSpPr>
          <p:cNvPr id="6" name="Text 3"/>
          <p:cNvSpPr txBox="1"/>
          <p:nvPr/>
        </p:nvSpPr>
        <p:spPr>
          <a:xfrm>
            <a:off x="1463040" y="1764792"/>
            <a:ext cx="4206240" cy="365760"/>
          </a:xfrm>
          <a:prstGeom prst="rect">
            <a:avLst/>
          </a:prstGeom>
          <a:noFill/>
          <a:ln/>
        </p:spPr>
        <p:txBody>
          <a:bodyPr wrap="square" lIns="0" tIns="0" rIns="0" bIns="0" rtlCol="0" anchor="ctr"/>
          <a:lstStyle/>
          <a:p>
            <a:pPr indent="0" marL="0">
              <a:buNone/>
            </a:pPr>
            <a:r>
              <a:rPr sz="1400" b="1">
                <a:solidFill>
                  <a:srgbClr val="1B1F3B"/>
                </a:solidFill>
                <a:latin typeface="Calibri"/>
              </a:rPr>
              <a:t>EER, min t-DCF, per call-minute</a:t>
            </a:r>
            <a:endParaRPr lang="en-US" sz="1400" dirty="0"/>
          </a:p>
        </p:txBody>
      </p:sp>
      <p:sp>
        <p:nvSpPr>
          <p:cNvPr id="7" name="Text 4"/>
          <p:cNvSpPr txBox="1"/>
          <p:nvPr/>
        </p:nvSpPr>
        <p:spPr>
          <a:xfrm>
            <a:off x="1463040" y="2130552"/>
            <a:ext cx="4206240" cy="777240"/>
          </a:xfrm>
          <a:prstGeom prst="rect">
            <a:avLst/>
          </a:prstGeom>
          <a:noFill/>
          <a:ln/>
        </p:spPr>
        <p:txBody>
          <a:bodyPr wrap="square" lIns="0" tIns="0" rIns="0" bIns="0" rtlCol="0" anchor="ctr"/>
          <a:lstStyle/>
          <a:p>
            <a:pPr indent="0" marL="0">
              <a:lnSpc>
                <a:spcPct val="120000"/>
              </a:lnSpc>
              <a:buNone/>
            </a:pPr>
            <a:r>
              <a:rPr sz="1150">
                <a:solidFill>
                  <a:srgbClr val="44506B"/>
                </a:solidFill>
                <a:latin typeface="Calibri"/>
              </a:rPr>
              <a:t>Standard PAD metrics on held-out splits. And a streaming detector is judged per call, not per window: at 5% per-window error a 60-second call false-alarms 79% of the time.</a:t>
            </a:r>
            <a:endParaRPr lang="en-US" sz="1150" dirty="0"/>
          </a:p>
        </p:txBody>
      </p:sp>
      <p:sp>
        <p:nvSpPr>
          <p:cNvPr id="8" name="Shape 5"/>
          <p:cNvSpPr/>
          <p:nvPr/>
        </p:nvSpPr>
        <p:spPr>
          <a:xfrm>
            <a:off x="548640" y="3118104"/>
            <a:ext cx="5349240" cy="1353312"/>
          </a:xfrm>
          <a:prstGeom prst="roundRect">
            <a:avLst>
              <a:gd name="adj" fmla="val 5405"/>
            </a:avLst>
          </a:prstGeom>
          <a:solidFill>
            <a:srgbClr val="F4F6FC"/>
          </a:solidFill>
          <a:ln/>
        </p:spPr>
        <p:txBody>
          <a:bodyPr/>
          <a:p/>
        </p:txBody>
      </p:sp>
      <p:pic>
        <p:nvPicPr>
          <p:cNvPr id="9" name="Image 1" descr="/home/claude/deck/icons/target_1E2761.png">    </p:cNvPr>
          <p:cNvPicPr>
            <a:picLocks noChangeAspect="1"/>
          </p:cNvPicPr>
          <p:nvPr/>
        </p:nvPicPr>
        <p:blipFill>
          <a:blip r:embed="rId2"/>
          <a:stretch>
            <a:fillRect/>
          </a:stretch>
        </p:blipFill>
        <p:spPr>
          <a:xfrm>
            <a:off x="822960" y="3337560"/>
            <a:ext cx="438912" cy="438912"/>
          </a:xfrm>
          <a:prstGeom prst="rect">
            <a:avLst/>
          </a:prstGeom>
        </p:spPr>
      </p:pic>
      <p:sp>
        <p:nvSpPr>
          <p:cNvPr id="10" name="Text 6"/>
          <p:cNvSpPr txBox="1"/>
          <p:nvPr/>
        </p:nvSpPr>
        <p:spPr>
          <a:xfrm>
            <a:off x="1463040" y="3282696"/>
            <a:ext cx="4206240" cy="36576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Leave-one-generator-out</a:t>
            </a:r>
            <a:endParaRPr lang="en-US" sz="1400" dirty="0"/>
          </a:p>
        </p:txBody>
      </p:sp>
      <p:sp>
        <p:nvSpPr>
          <p:cNvPr id="11" name="Text 7"/>
          <p:cNvSpPr txBox="1"/>
          <p:nvPr/>
        </p:nvSpPr>
        <p:spPr>
          <a:xfrm>
            <a:off x="1463040" y="3648456"/>
            <a:ext cx="4206240" cy="777240"/>
          </a:xfrm>
          <a:prstGeom prst="rect">
            <a:avLst/>
          </a:prstGeom>
          <a:noFill/>
          <a:ln/>
        </p:spPr>
        <p:txBody>
          <a:bodyPr wrap="square" lIns="0" tIns="0" rIns="0" bIns="0" rtlCol="0" anchor="ctr"/>
          <a:lstStyle/>
          <a:p>
            <a:pPr indent="0" marL="0">
              <a:lnSpc>
                <a:spcPct val="120000"/>
              </a:lnSpc>
              <a:buNone/>
            </a:pPr>
            <a:r>
              <a:rPr lang="en-US" sz="1150" dirty="0">
                <a:solidFill>
                  <a:srgbClr val="44506B"/>
                </a:solidFill>
                <a:latin typeface="Calibri" pitchFamily="34" charset="0"/>
                <a:ea typeface="Calibri" pitchFamily="34" charset="-122"/>
                <a:cs typeface="Calibri" pitchFamily="34" charset="-120"/>
              </a:rPr>
              <a:t>Entire vocoder / TTS families held out of training to directly test cross-generator generalization.</a:t>
            </a:r>
            <a:endParaRPr lang="en-US" sz="1150" dirty="0"/>
          </a:p>
        </p:txBody>
      </p:sp>
      <p:sp>
        <p:nvSpPr>
          <p:cNvPr id="12" name="Shape 8"/>
          <p:cNvSpPr/>
          <p:nvPr/>
        </p:nvSpPr>
        <p:spPr>
          <a:xfrm>
            <a:off x="548640" y="4636008"/>
            <a:ext cx="5349240" cy="1353312"/>
          </a:xfrm>
          <a:prstGeom prst="roundRect">
            <a:avLst>
              <a:gd name="adj" fmla="val 5405"/>
            </a:avLst>
          </a:prstGeom>
          <a:solidFill>
            <a:srgbClr val="F4F6FC"/>
          </a:solidFill>
          <a:ln/>
        </p:spPr>
        <p:txBody>
          <a:bodyPr/>
          <a:p/>
        </p:txBody>
      </p:sp>
      <p:pic>
        <p:nvPicPr>
          <p:cNvPr id="13" name="Image 2" descr="/home/claude/deck/icons/layers_1E2761.png">    </p:cNvPr>
          <p:cNvPicPr>
            <a:picLocks noChangeAspect="1"/>
          </p:cNvPicPr>
          <p:nvPr/>
        </p:nvPicPr>
        <p:blipFill>
          <a:blip r:embed="rId3"/>
          <a:stretch>
            <a:fillRect/>
          </a:stretch>
        </p:blipFill>
        <p:spPr>
          <a:xfrm>
            <a:off x="822960" y="4855464"/>
            <a:ext cx="438912" cy="438912"/>
          </a:xfrm>
          <a:prstGeom prst="rect">
            <a:avLst/>
          </a:prstGeom>
        </p:spPr>
      </p:pic>
      <p:sp>
        <p:nvSpPr>
          <p:cNvPr id="14" name="Text 9"/>
          <p:cNvSpPr txBox="1"/>
          <p:nvPr/>
        </p:nvSpPr>
        <p:spPr>
          <a:xfrm>
            <a:off x="1463040" y="4800600"/>
            <a:ext cx="4206240" cy="365760"/>
          </a:xfrm>
          <a:prstGeom prst="rect">
            <a:avLst/>
          </a:prstGeom>
          <a:noFill/>
          <a:ln/>
        </p:spPr>
        <p:txBody>
          <a:bodyPr wrap="square" lIns="0" tIns="0" rIns="0" bIns="0" rtlCol="0" anchor="ctr"/>
          <a:lstStyle/>
          <a:p>
            <a:pPr indent="0" marL="0">
              <a:buNone/>
            </a:pPr>
            <a:r>
              <a:rPr lang="en-US" sz="1400" b="1" dirty="0">
                <a:solidFill>
                  <a:srgbClr val="1B1F3B"/>
                </a:solidFill>
                <a:latin typeface="Calibri" pitchFamily="34" charset="0"/>
                <a:ea typeface="Calibri" pitchFamily="34" charset="-122"/>
                <a:cs typeface="Calibri" pitchFamily="34" charset="-120"/>
              </a:rPr>
              <a:t>Cross-lingual robustness (stretch)</a:t>
            </a:r>
            <a:endParaRPr lang="en-US" sz="1400" dirty="0"/>
          </a:p>
        </p:txBody>
      </p:sp>
      <p:sp>
        <p:nvSpPr>
          <p:cNvPr id="15" name="Text 10"/>
          <p:cNvSpPr txBox="1"/>
          <p:nvPr/>
        </p:nvSpPr>
        <p:spPr>
          <a:xfrm>
            <a:off x="1463040" y="5166360"/>
            <a:ext cx="4206240" cy="777240"/>
          </a:xfrm>
          <a:prstGeom prst="rect">
            <a:avLst/>
          </a:prstGeom>
          <a:noFill/>
          <a:ln/>
        </p:spPr>
        <p:txBody>
          <a:bodyPr wrap="square" lIns="0" tIns="0" rIns="0" bIns="0" rtlCol="0" anchor="ctr"/>
          <a:lstStyle/>
          <a:p>
            <a:pPr indent="0" marL="0">
              <a:lnSpc>
                <a:spcPct val="120000"/>
              </a:lnSpc>
              <a:buNone/>
            </a:pPr>
            <a:r>
              <a:rPr lang="en-US" sz="1150" dirty="0">
                <a:solidFill>
                  <a:srgbClr val="44506B"/>
                </a:solidFill>
                <a:latin typeface="Calibri" pitchFamily="34" charset="0"/>
                <a:ea typeface="Calibri" pitchFamily="34" charset="-122"/>
                <a:cs typeface="Calibri" pitchFamily="34" charset="-120"/>
              </a:rPr>
              <a:t>Spot-check performance on non-English speech with no language-specific fine-tuning.</a:t>
            </a:r>
            <a:endParaRPr lang="en-US" sz="1150" dirty="0"/>
          </a:p>
        </p:txBody>
      </p:sp>
      <p:sp>
        <p:nvSpPr>
          <p:cNvPr id="16" name="Text 11"/>
          <p:cNvSpPr txBox="1"/>
          <p:nvPr/>
        </p:nvSpPr>
        <p:spPr>
          <a:xfrm>
            <a:off x="6263640" y="1627632"/>
            <a:ext cx="5349240" cy="274320"/>
          </a:xfrm>
          <a:prstGeom prst="rect">
            <a:avLst/>
          </a:prstGeom>
          <a:noFill/>
          <a:ln/>
        </p:spPr>
        <p:txBody>
          <a:bodyPr wrap="square" lIns="0" tIns="0" rIns="0" bIns="0" rtlCol="0" anchor="ctr"/>
          <a:lstStyle/>
          <a:p>
            <a:pPr indent="0" marL="0">
              <a:buNone/>
            </a:pPr>
            <a:r>
              <a:rPr lang="en-US" sz="1050" b="1" spc="100" kern="0" dirty="0">
                <a:solidFill>
                  <a:srgbClr val="8792AC"/>
                </a:solidFill>
                <a:latin typeface="Calibri" pitchFamily="34" charset="0"/>
                <a:ea typeface="Calibri" pitchFamily="34" charset="-122"/>
                <a:cs typeface="Calibri" pitchFamily="34" charset="-120"/>
              </a:rPr>
              <a:t>REAL-TIME LATENCY BUDGET  ·  TARGET, MS PER CHUNK</a:t>
            </a:r>
            <a:endParaRPr lang="en-US" sz="1050" dirty="0"/>
          </a:p>
        </p:txBody>
      </p:sp>
      <p:graphicFrame>
        <p:nvGraphicFramePr>
          <p:cNvPr id="17" name="Chart 0" descr=""/>
          <p:cNvGraphicFramePr/>
          <p:nvPr/>
        </p:nvGraphicFramePr>
        <p:xfrm>
          <a:off x="6263640" y="1965960"/>
          <a:ext cx="5349240" cy="3291840"/>
        </p:xfrm>
        <a:graphic xmlns:a="http://schemas.openxmlformats.org/drawingml/2006/main">
          <a:graphicData uri="http://schemas.openxmlformats.org/drawingml/2006/chart">
            <c:chart xmlns:c="http://schemas.openxmlformats.org/drawingml/2006/chart" r:id="rId4"/>
          </a:graphicData>
        </a:graphic>
      </p:graphicFrame>
      <p:sp>
        <p:nvSpPr>
          <p:cNvPr id="18" name="Text 12"/>
          <p:cNvSpPr txBox="1"/>
          <p:nvPr/>
        </p:nvSpPr>
        <p:spPr>
          <a:xfrm>
            <a:off x="6263640" y="5349240"/>
            <a:ext cx="5349240" cy="502920"/>
          </a:xfrm>
          <a:prstGeom prst="rect">
            <a:avLst/>
          </a:prstGeom>
          <a:noFill/>
          <a:ln/>
        </p:spPr>
        <p:txBody>
          <a:bodyPr wrap="square" lIns="0" tIns="0" rIns="0" bIns="0" rtlCol="0" anchor="ctr"/>
          <a:lstStyle/>
          <a:p>
            <a:pPr indent="0" marL="0">
              <a:lnSpc>
                <a:spcPct val="120000"/>
              </a:lnSpc>
              <a:buNone/>
            </a:pPr>
            <a:r>
              <a:rPr lang="en-US" sz="1050" i="1" dirty="0">
                <a:solidFill>
                  <a:srgbClr val="8792AC"/>
                </a:solidFill>
                <a:latin typeface="Calibri" pitchFamily="34" charset="0"/>
                <a:ea typeface="Calibri" pitchFamily="34" charset="-122"/>
                <a:cs typeface="Calibri" pitchFamily="34" charset="-120"/>
              </a:rPr>
              <a:t>Sums to a ~200ms target per chunk — the budget streaming inference and compression are engineered against (Slide 6).</a:t>
            </a:r>
            <a:endParaRPr lang="en-US" sz="1050" dirty="0"/>
          </a:p>
        </p:txBody>
      </p:sp>
      <p:sp>
        <p:nvSpPr>
          <p:cNvPr id="19" name="Text 13"/>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0" name="Text 14"/>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EXECUTION PLAN</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sz="3000" b="1">
                <a:solidFill>
                  <a:srgbClr val="1B1F3B"/>
                </a:solidFill>
                <a:latin typeface="Cambria"/>
              </a:rPr>
              <a:t>From proposal to a working detector</a:t>
            </a:r>
            <a:endParaRPr lang="en-US" sz="3000" dirty="0"/>
          </a:p>
        </p:txBody>
      </p:sp>
      <p:sp>
        <p:nvSpPr>
          <p:cNvPr id="4" name="Shape 2"/>
          <p:cNvSpPr/>
          <p:nvPr/>
        </p:nvSpPr>
        <p:spPr>
          <a:xfrm>
            <a:off x="548640" y="2011680"/>
            <a:ext cx="2560320" cy="3291840"/>
          </a:xfrm>
          <a:prstGeom prst="roundRect">
            <a:avLst>
              <a:gd name="adj" fmla="val 2857"/>
            </a:avLst>
          </a:prstGeom>
          <a:solidFill>
            <a:srgbClr val="1E2761"/>
          </a:solidFill>
          <a:ln/>
        </p:spPr>
        <p:txBody>
          <a:bodyPr/>
          <a:p/>
        </p:txBody>
      </p:sp>
      <p:sp>
        <p:nvSpPr>
          <p:cNvPr id="5" name="Text 3"/>
          <p:cNvSpPr txBox="1"/>
          <p:nvPr/>
        </p:nvSpPr>
        <p:spPr>
          <a:xfrm>
            <a:off x="731520" y="2194560"/>
            <a:ext cx="914400" cy="64008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1</a:t>
            </a:r>
            <a:endParaRPr lang="en-US" sz="3400" dirty="0"/>
          </a:p>
        </p:txBody>
      </p:sp>
      <p:sp>
        <p:nvSpPr>
          <p:cNvPr id="6" name="Text 4"/>
          <p:cNvSpPr txBox="1"/>
          <p:nvPr/>
        </p:nvSpPr>
        <p:spPr>
          <a:xfrm>
            <a:off x="731520" y="2880360"/>
            <a:ext cx="2194560" cy="274320"/>
          </a:xfrm>
          <a:prstGeom prst="rect">
            <a:avLst/>
          </a:prstGeom>
          <a:noFill/>
          <a:ln/>
        </p:spPr>
        <p:txBody>
          <a:bodyPr wrap="square" lIns="0" tIns="0" rIns="0" bIns="0" rtlCol="0" anchor="ctr"/>
          <a:lstStyle/>
          <a:p>
            <a:pPr indent="0" marL="0">
              <a:buNone/>
            </a:pPr>
            <a:r>
              <a:rPr sz="1000" b="1">
                <a:solidFill>
                  <a:srgbClr val="E94F37"/>
                </a:solidFill>
                <a:latin typeface="Calibri"/>
              </a:rPr>
              <a:t>2-DAY SPRINT</a:t>
            </a:r>
            <a:endParaRPr lang="en-US" sz="1000" dirty="0"/>
          </a:p>
        </p:txBody>
      </p:sp>
      <p:sp>
        <p:nvSpPr>
          <p:cNvPr id="7" name="Text 5"/>
          <p:cNvSpPr txBox="1"/>
          <p:nvPr/>
        </p:nvSpPr>
        <p:spPr>
          <a:xfrm>
            <a:off x="731520" y="3182112"/>
            <a:ext cx="2194560" cy="502920"/>
          </a:xfrm>
          <a:prstGeom prst="rect">
            <a:avLst/>
          </a:prstGeom>
          <a:noFill/>
          <a:ln/>
        </p:spPr>
        <p:txBody>
          <a:bodyPr wrap="square" lIns="0" tIns="0" rIns="0" bIns="0" rtlCol="0" anchor="ctr"/>
          <a:lstStyle/>
          <a:p>
            <a:pPr indent="0" marL="0">
              <a:buNone/>
            </a:pPr>
            <a:r>
              <a:rPr sz="1400" b="1">
                <a:solidFill>
                  <a:srgbClr val="FFFFFF"/>
                </a:solidFill>
                <a:latin typeface="Calibri"/>
              </a:rPr>
              <a:t>Literature &amp; proposal</a:t>
            </a:r>
            <a:endParaRPr lang="en-US" sz="1400" dirty="0"/>
          </a:p>
        </p:txBody>
      </p:sp>
      <p:sp>
        <p:nvSpPr>
          <p:cNvPr id="8" name="Text 6"/>
          <p:cNvSpPr txBox="1"/>
          <p:nvPr/>
        </p:nvSpPr>
        <p:spPr>
          <a:xfrm>
            <a:off x="731520" y="3703320"/>
            <a:ext cx="2194560" cy="1463040"/>
          </a:xfrm>
          <a:prstGeom prst="rect">
            <a:avLst/>
          </a:prstGeom>
          <a:noFill/>
          <a:ln/>
        </p:spPr>
        <p:txBody>
          <a:bodyPr wrap="square" lIns="0" tIns="0" rIns="0" bIns="0" rtlCol="0" anchor="ctr"/>
          <a:lstStyle/>
          <a:p>
            <a:pPr indent="0" marL="0">
              <a:lnSpc>
                <a:spcPct val="125000"/>
              </a:lnSpc>
              <a:buNone/>
            </a:pPr>
            <a:r>
              <a:rPr sz="1100">
                <a:solidFill>
                  <a:srgbClr val="CADCFC"/>
                </a:solidFill>
                <a:latin typeface="Calibri"/>
              </a:rPr>
              <a:t>Survey the generalization failure, fix the evaluation protocol, and commit to an architecture. This deck.</a:t>
            </a:r>
            <a:endParaRPr lang="en-US" sz="1100" dirty="0"/>
          </a:p>
        </p:txBody>
      </p:sp>
      <p:sp>
        <p:nvSpPr>
          <p:cNvPr id="9" name="Shape 7"/>
          <p:cNvSpPr/>
          <p:nvPr/>
        </p:nvSpPr>
        <p:spPr>
          <a:xfrm>
            <a:off x="3337560" y="2011680"/>
            <a:ext cx="2560320" cy="3291840"/>
          </a:xfrm>
          <a:prstGeom prst="roundRect">
            <a:avLst>
              <a:gd name="adj" fmla="val 2857"/>
            </a:avLst>
          </a:prstGeom>
          <a:solidFill>
            <a:srgbClr val="F4F6FC"/>
          </a:solidFill>
          <a:ln/>
        </p:spPr>
        <p:txBody>
          <a:bodyPr/>
          <a:p/>
        </p:txBody>
      </p:sp>
      <p:sp>
        <p:nvSpPr>
          <p:cNvPr id="10" name="Text 8"/>
          <p:cNvSpPr txBox="1"/>
          <p:nvPr/>
        </p:nvSpPr>
        <p:spPr>
          <a:xfrm>
            <a:off x="3520440" y="2194560"/>
            <a:ext cx="9144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2</a:t>
            </a:r>
            <a:endParaRPr lang="en-US" sz="3400" dirty="0"/>
          </a:p>
        </p:txBody>
      </p:sp>
      <p:sp>
        <p:nvSpPr>
          <p:cNvPr id="11" name="Text 9"/>
          <p:cNvSpPr txBox="1"/>
          <p:nvPr/>
        </p:nvSpPr>
        <p:spPr>
          <a:xfrm>
            <a:off x="3520440" y="2880360"/>
            <a:ext cx="2194560" cy="274320"/>
          </a:xfrm>
          <a:prstGeom prst="rect">
            <a:avLst/>
          </a:prstGeom>
          <a:noFill/>
          <a:ln/>
        </p:spPr>
        <p:txBody>
          <a:bodyPr wrap="square" lIns="0" tIns="0" rIns="0" bIns="0" rtlCol="0" anchor="ctr"/>
          <a:lstStyle/>
          <a:p>
            <a:pPr indent="0" marL="0">
              <a:buNone/>
            </a:pPr>
            <a:r>
              <a:rPr sz="1000" b="1">
                <a:solidFill>
                  <a:srgbClr val="E94F37"/>
                </a:solidFill>
                <a:latin typeface="Calibri"/>
              </a:rPr>
              <a:t>WEEKS 2-4</a:t>
            </a:r>
            <a:endParaRPr lang="en-US" sz="1000" dirty="0"/>
          </a:p>
        </p:txBody>
      </p:sp>
      <p:sp>
        <p:nvSpPr>
          <p:cNvPr id="12" name="Text 10"/>
          <p:cNvSpPr txBox="1"/>
          <p:nvPr/>
        </p:nvSpPr>
        <p:spPr>
          <a:xfrm>
            <a:off x="3520440" y="3182112"/>
            <a:ext cx="2194560" cy="502920"/>
          </a:xfrm>
          <a:prstGeom prst="rect">
            <a:avLst/>
          </a:prstGeom>
          <a:noFill/>
          <a:ln/>
        </p:spPr>
        <p:txBody>
          <a:bodyPr wrap="square" lIns="0" tIns="0" rIns="0" bIns="0" rtlCol="0" anchor="ctr"/>
          <a:lstStyle/>
          <a:p>
            <a:pPr indent="0" marL="0">
              <a:buNone/>
            </a:pPr>
            <a:r>
              <a:rPr sz="1400" b="1">
                <a:solidFill>
                  <a:srgbClr val="1B1F3B"/>
                </a:solidFill>
                <a:latin typeface="Calibri"/>
              </a:rPr>
              <a:t>Baseline</a:t>
            </a:r>
            <a:endParaRPr lang="en-US" sz="1400" dirty="0"/>
          </a:p>
        </p:txBody>
      </p:sp>
      <p:sp>
        <p:nvSpPr>
          <p:cNvPr id="13" name="Text 11"/>
          <p:cNvSpPr txBox="1"/>
          <p:nvPr/>
        </p:nvSpPr>
        <p:spPr>
          <a:xfrm>
            <a:off x="3520440" y="3703320"/>
            <a:ext cx="2194560" cy="1463040"/>
          </a:xfrm>
          <a:prstGeom prst="rect">
            <a:avLst/>
          </a:prstGeom>
          <a:noFill/>
          <a:ln/>
        </p:spPr>
        <p:txBody>
          <a:bodyPr wrap="square" lIns="0" tIns="0" rIns="0" bIns="0" rtlCol="0" anchor="ctr"/>
          <a:lstStyle/>
          <a:p>
            <a:pPr indent="0" marL="0">
              <a:lnSpc>
                <a:spcPct val="125000"/>
              </a:lnSpc>
              <a:buNone/>
            </a:pPr>
            <a:r>
              <a:rPr sz="1100">
                <a:solidFill>
                  <a:srgbClr val="44506B"/>
                </a:solidFill>
                <a:latin typeface="Calibri"/>
              </a:rPr>
              <a:t>Reproduce published clean-condition EER and validate against the official challenge baseline scores.</a:t>
            </a:r>
            <a:endParaRPr lang="en-US" sz="1100" dirty="0"/>
          </a:p>
        </p:txBody>
      </p:sp>
      <p:sp>
        <p:nvSpPr>
          <p:cNvPr id="14" name="Shape 12"/>
          <p:cNvSpPr/>
          <p:nvPr/>
        </p:nvSpPr>
        <p:spPr>
          <a:xfrm>
            <a:off x="6126480" y="2011680"/>
            <a:ext cx="2560320" cy="3291840"/>
          </a:xfrm>
          <a:prstGeom prst="roundRect">
            <a:avLst>
              <a:gd name="adj" fmla="val 2857"/>
            </a:avLst>
          </a:prstGeom>
          <a:solidFill>
            <a:srgbClr val="1E2761"/>
          </a:solidFill>
          <a:ln/>
        </p:spPr>
        <p:txBody>
          <a:bodyPr/>
          <a:p/>
        </p:txBody>
      </p:sp>
      <p:sp>
        <p:nvSpPr>
          <p:cNvPr id="15" name="Text 13"/>
          <p:cNvSpPr txBox="1"/>
          <p:nvPr/>
        </p:nvSpPr>
        <p:spPr>
          <a:xfrm>
            <a:off x="6309360" y="2194560"/>
            <a:ext cx="914400" cy="640080"/>
          </a:xfrm>
          <a:prstGeom prst="rect">
            <a:avLst/>
          </a:prstGeom>
          <a:noFill/>
          <a:ln/>
        </p:spPr>
        <p:txBody>
          <a:bodyPr wrap="square" lIns="0" tIns="0" rIns="0" bIns="0" rtlCol="0" anchor="ctr"/>
          <a:lstStyle/>
          <a:p>
            <a:pPr indent="0" marL="0">
              <a:buNone/>
            </a:pPr>
            <a:r>
              <a:rPr lang="en-US" sz="3400" b="1" dirty="0">
                <a:solidFill>
                  <a:srgbClr val="CADCFC"/>
                </a:solidFill>
                <a:latin typeface="Cambria" pitchFamily="34" charset="0"/>
                <a:ea typeface="Cambria" pitchFamily="34" charset="-122"/>
                <a:cs typeface="Cambria" pitchFamily="34" charset="-120"/>
              </a:rPr>
              <a:t>3</a:t>
            </a:r>
            <a:endParaRPr lang="en-US" sz="3400" dirty="0"/>
          </a:p>
        </p:txBody>
      </p:sp>
      <p:sp>
        <p:nvSpPr>
          <p:cNvPr id="16" name="Text 14"/>
          <p:cNvSpPr txBox="1"/>
          <p:nvPr/>
        </p:nvSpPr>
        <p:spPr>
          <a:xfrm>
            <a:off x="6309360" y="2880360"/>
            <a:ext cx="2194560" cy="274320"/>
          </a:xfrm>
          <a:prstGeom prst="rect">
            <a:avLst/>
          </a:prstGeom>
          <a:noFill/>
          <a:ln/>
        </p:spPr>
        <p:txBody>
          <a:bodyPr wrap="square" lIns="0" tIns="0" rIns="0" bIns="0" rtlCol="0" anchor="ctr"/>
          <a:lstStyle/>
          <a:p>
            <a:pPr indent="0" marL="0">
              <a:buNone/>
            </a:pPr>
            <a:r>
              <a:rPr sz="1000" b="1">
                <a:solidFill>
                  <a:srgbClr val="E94F37"/>
                </a:solidFill>
                <a:latin typeface="Calibri"/>
              </a:rPr>
              <a:t>WEEKS 5-9</a:t>
            </a:r>
            <a:endParaRPr lang="en-US" sz="1000" dirty="0"/>
          </a:p>
        </p:txBody>
      </p:sp>
      <p:sp>
        <p:nvSpPr>
          <p:cNvPr id="17" name="Text 15"/>
          <p:cNvSpPr txBox="1"/>
          <p:nvPr/>
        </p:nvSpPr>
        <p:spPr>
          <a:xfrm>
            <a:off x="6309360" y="3182112"/>
            <a:ext cx="2194560" cy="502920"/>
          </a:xfrm>
          <a:prstGeom prst="rect">
            <a:avLst/>
          </a:prstGeom>
          <a:noFill/>
          <a:ln/>
        </p:spPr>
        <p:txBody>
          <a:bodyPr wrap="square" lIns="0" tIns="0" rIns="0" bIns="0" rtlCol="0" anchor="ctr"/>
          <a:lstStyle/>
          <a:p>
            <a:pPr indent="0" marL="0">
              <a:buNone/>
            </a:pPr>
            <a:r>
              <a:rPr sz="1400" b="1">
                <a:solidFill>
                  <a:srgbClr val="FFFFFF"/>
                </a:solidFill>
                <a:latin typeface="Calibri"/>
              </a:rPr>
              <a:t>Generalization</a:t>
            </a:r>
            <a:endParaRPr lang="en-US" sz="1400" dirty="0"/>
          </a:p>
        </p:txBody>
      </p:sp>
      <p:sp>
        <p:nvSpPr>
          <p:cNvPr id="18" name="Text 16"/>
          <p:cNvSpPr txBox="1"/>
          <p:nvPr/>
        </p:nvSpPr>
        <p:spPr>
          <a:xfrm>
            <a:off x="6309360" y="3703320"/>
            <a:ext cx="2194560" cy="1463040"/>
          </a:xfrm>
          <a:prstGeom prst="rect">
            <a:avLst/>
          </a:prstGeom>
          <a:noFill/>
          <a:ln/>
        </p:spPr>
        <p:txBody>
          <a:bodyPr wrap="square" lIns="0" tIns="0" rIns="0" bIns="0" rtlCol="0" anchor="ctr"/>
          <a:lstStyle/>
          <a:p>
            <a:pPr indent="0" marL="0">
              <a:lnSpc>
                <a:spcPct val="125000"/>
              </a:lnSpc>
              <a:buNone/>
            </a:pPr>
            <a:r>
              <a:rPr sz="1100">
                <a:solidFill>
                  <a:srgbClr val="CADCFC"/>
                </a:solidFill>
                <a:latin typeface="Calibri"/>
              </a:rPr>
              <a:t>Degraded-channel and silence augmentation, foundation-model front-end, leave-one-generator-out. The core work.</a:t>
            </a:r>
            <a:endParaRPr lang="en-US" sz="1100" dirty="0"/>
          </a:p>
        </p:txBody>
      </p:sp>
      <p:sp>
        <p:nvSpPr>
          <p:cNvPr id="19" name="Shape 17"/>
          <p:cNvSpPr/>
          <p:nvPr/>
        </p:nvSpPr>
        <p:spPr>
          <a:xfrm>
            <a:off x="8915400" y="2011680"/>
            <a:ext cx="2560320" cy="3291840"/>
          </a:xfrm>
          <a:prstGeom prst="roundRect">
            <a:avLst>
              <a:gd name="adj" fmla="val 2857"/>
            </a:avLst>
          </a:prstGeom>
          <a:solidFill>
            <a:srgbClr val="F4F6FC"/>
          </a:solidFill>
          <a:ln/>
        </p:spPr>
        <p:txBody>
          <a:bodyPr/>
          <a:p/>
        </p:txBody>
      </p:sp>
      <p:sp>
        <p:nvSpPr>
          <p:cNvPr id="20" name="Text 18"/>
          <p:cNvSpPr txBox="1"/>
          <p:nvPr/>
        </p:nvSpPr>
        <p:spPr>
          <a:xfrm>
            <a:off x="9098280" y="2194560"/>
            <a:ext cx="9144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4</a:t>
            </a:r>
            <a:endParaRPr lang="en-US" sz="3400" dirty="0"/>
          </a:p>
        </p:txBody>
      </p:sp>
      <p:sp>
        <p:nvSpPr>
          <p:cNvPr id="21" name="Text 19"/>
          <p:cNvSpPr txBox="1"/>
          <p:nvPr/>
        </p:nvSpPr>
        <p:spPr>
          <a:xfrm>
            <a:off x="9098280" y="2880360"/>
            <a:ext cx="2194560" cy="274320"/>
          </a:xfrm>
          <a:prstGeom prst="rect">
            <a:avLst/>
          </a:prstGeom>
          <a:noFill/>
          <a:ln/>
        </p:spPr>
        <p:txBody>
          <a:bodyPr wrap="square" lIns="0" tIns="0" rIns="0" bIns="0" rtlCol="0" anchor="ctr"/>
          <a:lstStyle/>
          <a:p>
            <a:pPr indent="0" marL="0">
              <a:buNone/>
            </a:pPr>
            <a:r>
              <a:rPr sz="1000" b="1">
                <a:solidFill>
                  <a:srgbClr val="E94F37"/>
                </a:solidFill>
                <a:latin typeface="Calibri"/>
              </a:rPr>
              <a:t>WEEKS 10-12</a:t>
            </a:r>
            <a:endParaRPr lang="en-US" sz="1000" dirty="0"/>
          </a:p>
        </p:txBody>
      </p:sp>
      <p:sp>
        <p:nvSpPr>
          <p:cNvPr id="22" name="Text 20"/>
          <p:cNvSpPr txBox="1"/>
          <p:nvPr/>
        </p:nvSpPr>
        <p:spPr>
          <a:xfrm>
            <a:off x="9098280" y="3182112"/>
            <a:ext cx="2194560" cy="502920"/>
          </a:xfrm>
          <a:prstGeom prst="rect">
            <a:avLst/>
          </a:prstGeom>
          <a:noFill/>
          <a:ln/>
        </p:spPr>
        <p:txBody>
          <a:bodyPr wrap="square" lIns="0" tIns="0" rIns="0" bIns="0" rtlCol="0" anchor="ctr"/>
          <a:lstStyle/>
          <a:p>
            <a:pPr indent="0" marL="0">
              <a:buNone/>
            </a:pPr>
            <a:r>
              <a:rPr sz="1400" b="1">
                <a:solidFill>
                  <a:srgbClr val="1B1F3B"/>
                </a:solidFill>
                <a:latin typeface="Calibri"/>
              </a:rPr>
              <a:t>Real-time &amp; write-up</a:t>
            </a:r>
            <a:endParaRPr lang="en-US" sz="1400" dirty="0"/>
          </a:p>
        </p:txBody>
      </p:sp>
      <p:sp>
        <p:nvSpPr>
          <p:cNvPr id="23" name="Text 21"/>
          <p:cNvSpPr txBox="1"/>
          <p:nvPr/>
        </p:nvSpPr>
        <p:spPr>
          <a:xfrm>
            <a:off x="9098280" y="3703320"/>
            <a:ext cx="2194560" cy="1463040"/>
          </a:xfrm>
          <a:prstGeom prst="rect">
            <a:avLst/>
          </a:prstGeom>
          <a:noFill/>
          <a:ln/>
        </p:spPr>
        <p:txBody>
          <a:bodyPr wrap="square" lIns="0" tIns="0" rIns="0" bIns="0" rtlCol="0" anchor="ctr"/>
          <a:lstStyle/>
          <a:p>
            <a:pPr indent="0" marL="0">
              <a:lnSpc>
                <a:spcPct val="125000"/>
              </a:lnSpc>
              <a:buNone/>
            </a:pPr>
            <a:r>
              <a:rPr sz="1100">
                <a:solidFill>
                  <a:srgbClr val="44506B"/>
                </a:solidFill>
                <a:latin typeface="Calibri"/>
              </a:rPr>
              <a:t>Streaming inference, compression, latency on device, then the report and defence.</a:t>
            </a:r>
            <a:endParaRPr lang="en-US" sz="1100" dirty="0"/>
          </a:p>
        </p:txBody>
      </p:sp>
      <p:sp>
        <p:nvSpPr>
          <p:cNvPr id="24" name="Text 22"/>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25" name="Text 23"/>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lIns="0" tIns="0" rIns="0" bIns="0" rtlCol="0" anchor="ctr"/>
          <a:lstStyle/>
          <a:p>
            <a:pPr indent="0" marL="0">
              <a:buNone/>
            </a:pPr>
            <a:r>
              <a:rPr lang="en-US" sz="1200" b="1" spc="200" kern="0" dirty="0">
                <a:solidFill>
                  <a:srgbClr val="E94F37"/>
                </a:solidFill>
                <a:latin typeface="Calibri" pitchFamily="34" charset="0"/>
                <a:ea typeface="Calibri" pitchFamily="34" charset="-122"/>
                <a:cs typeface="Calibri" pitchFamily="34" charset="-120"/>
              </a:rPr>
              <a:t>LOOKING AHEAD</a:t>
            </a:r>
            <a:endParaRPr lang="en-US" sz="1200" dirty="0"/>
          </a:p>
        </p:txBody>
      </p:sp>
      <p:sp>
        <p:nvSpPr>
          <p:cNvPr id="3" name="Text 1"/>
          <p:cNvSpPr txBox="1"/>
          <p:nvPr/>
        </p:nvSpPr>
        <p:spPr>
          <a:xfrm>
            <a:off x="548640" y="621792"/>
            <a:ext cx="11155680" cy="685800"/>
          </a:xfrm>
          <a:prstGeom prst="rect">
            <a:avLst/>
          </a:prstGeom>
          <a:noFill/>
          <a:ln/>
        </p:spPr>
        <p:txBody>
          <a:bodyPr wrap="square" lIns="0" tIns="0" rIns="0" bIns="0" rtlCol="0" anchor="ctr"/>
          <a:lstStyle/>
          <a:p>
            <a:pPr indent="0" marL="0">
              <a:buNone/>
            </a:pPr>
            <a:r>
              <a:rPr lang="en-US" sz="3000" b="1" dirty="0">
                <a:solidFill>
                  <a:srgbClr val="1B1F3B"/>
                </a:solidFill>
                <a:latin typeface="Cambria" pitchFamily="34" charset="0"/>
                <a:ea typeface="Cambria" pitchFamily="34" charset="-122"/>
                <a:cs typeface="Cambria" pitchFamily="34" charset="-120"/>
              </a:rPr>
              <a:t>Limitations &amp; next steps</a:t>
            </a:r>
            <a:endParaRPr lang="en-US" sz="3000" dirty="0"/>
          </a:p>
        </p:txBody>
      </p:sp>
      <p:sp>
        <p:nvSpPr>
          <p:cNvPr id="4" name="Shape 2"/>
          <p:cNvSpPr/>
          <p:nvPr/>
        </p:nvSpPr>
        <p:spPr>
          <a:xfrm>
            <a:off x="548640" y="1600200"/>
            <a:ext cx="5349240" cy="4434840"/>
          </a:xfrm>
          <a:prstGeom prst="roundRect">
            <a:avLst>
              <a:gd name="adj" fmla="val 1649"/>
            </a:avLst>
          </a:prstGeom>
          <a:solidFill>
            <a:srgbClr val="F4F6FC"/>
          </a:solidFill>
          <a:ln/>
        </p:spPr>
      </p:sp>
      <p:pic>
        <p:nvPicPr>
          <p:cNvPr id="5" name="Image 0" descr="/home/claude/deck/icons/alert_1E2761.png">    </p:cNvPr>
          <p:cNvPicPr>
            <a:picLocks noChangeAspect="1"/>
          </p:cNvPicPr>
          <p:nvPr/>
        </p:nvPicPr>
        <p:blipFill>
          <a:blip r:embed="rId1"/>
          <a:stretch>
            <a:fillRect/>
          </a:stretch>
        </p:blipFill>
        <p:spPr>
          <a:xfrm>
            <a:off x="868680" y="1874520"/>
            <a:ext cx="457200" cy="457200"/>
          </a:xfrm>
          <a:prstGeom prst="rect">
            <a:avLst/>
          </a:prstGeom>
        </p:spPr>
      </p:pic>
      <p:sp>
        <p:nvSpPr>
          <p:cNvPr id="6" name="Text 3"/>
          <p:cNvSpPr txBox="1"/>
          <p:nvPr/>
        </p:nvSpPr>
        <p:spPr>
          <a:xfrm>
            <a:off x="1463040" y="1920240"/>
            <a:ext cx="4206240" cy="365760"/>
          </a:xfrm>
          <a:prstGeom prst="rect">
            <a:avLst/>
          </a:prstGeom>
          <a:noFill/>
          <a:ln/>
        </p:spPr>
        <p:txBody>
          <a:bodyPr wrap="square" lIns="0" tIns="0" rIns="0" bIns="0" rtlCol="0" anchor="ctr"/>
          <a:lstStyle/>
          <a:p>
            <a:pPr indent="0" marL="0">
              <a:buNone/>
            </a:pPr>
            <a:r>
              <a:rPr lang="en-US" sz="1600" b="1" dirty="0">
                <a:solidFill>
                  <a:srgbClr val="1B1F3B"/>
                </a:solidFill>
                <a:latin typeface="Calibri" pitchFamily="34" charset="0"/>
                <a:ea typeface="Calibri" pitchFamily="34" charset="-122"/>
                <a:cs typeface="Calibri" pitchFamily="34" charset="-120"/>
              </a:rPr>
              <a:t>Known limitations</a:t>
            </a:r>
            <a:endParaRPr lang="en-US" sz="1600" dirty="0"/>
          </a:p>
        </p:txBody>
      </p:sp>
      <p:sp>
        <p:nvSpPr>
          <p:cNvPr id="7" name="Text 4"/>
          <p:cNvSpPr txBox="1"/>
          <p:nvPr/>
        </p:nvSpPr>
        <p:spPr>
          <a:xfrm>
            <a:off x="868680" y="251460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44506B"/>
                </a:solidFill>
                <a:latin typeface="Calibri" pitchFamily="34" charset="0"/>
                <a:ea typeface="Calibri" pitchFamily="34" charset="-122"/>
                <a:cs typeface="Calibri" pitchFamily="34" charset="-120"/>
              </a:rPr>
              <a:t>2-day scope limits training data breadth vs. production-scale coverage</a:t>
            </a:r>
            <a:endParaRPr lang="en-US" sz="1250" dirty="0"/>
          </a:p>
        </p:txBody>
      </p:sp>
      <p:sp>
        <p:nvSpPr>
          <p:cNvPr id="8" name="Text 5"/>
          <p:cNvSpPr txBox="1"/>
          <p:nvPr/>
        </p:nvSpPr>
        <p:spPr>
          <a:xfrm>
            <a:off x="868680" y="329184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44506B"/>
                </a:solidFill>
                <a:latin typeface="Calibri" pitchFamily="34" charset="0"/>
                <a:ea typeface="Calibri" pitchFamily="34" charset="-122"/>
                <a:cs typeface="Calibri" pitchFamily="34" charset="-120"/>
              </a:rPr>
              <a:t>Foundation-model backbones raise compute cost per stream vs. lightweight CNNs</a:t>
            </a:r>
            <a:endParaRPr lang="en-US" sz="1250" dirty="0"/>
          </a:p>
        </p:txBody>
      </p:sp>
      <p:sp>
        <p:nvSpPr>
          <p:cNvPr id="9" name="Text 6"/>
          <p:cNvSpPr txBox="1"/>
          <p:nvPr/>
        </p:nvSpPr>
        <p:spPr>
          <a:xfrm>
            <a:off x="868680" y="406908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44506B"/>
                </a:solidFill>
                <a:latin typeface="Calibri" pitchFamily="34" charset="0"/>
                <a:ea typeface="Calibri" pitchFamily="34" charset="-122"/>
                <a:cs typeface="Calibri" pitchFamily="34" charset="-120"/>
              </a:rPr>
              <a:t>No dataset fully replicates live, adversarial vishing call conditions</a:t>
            </a:r>
            <a:endParaRPr lang="en-US" sz="1250" dirty="0"/>
          </a:p>
        </p:txBody>
      </p:sp>
      <p:sp>
        <p:nvSpPr>
          <p:cNvPr id="10" name="Shape 7"/>
          <p:cNvSpPr/>
          <p:nvPr/>
        </p:nvSpPr>
        <p:spPr>
          <a:xfrm>
            <a:off x="6263640" y="1600200"/>
            <a:ext cx="5349240" cy="4434840"/>
          </a:xfrm>
          <a:prstGeom prst="roundRect">
            <a:avLst>
              <a:gd name="adj" fmla="val 1649"/>
            </a:avLst>
          </a:prstGeom>
          <a:solidFill>
            <a:srgbClr val="1E2761"/>
          </a:solidFill>
          <a:ln/>
        </p:spPr>
      </p:sp>
      <p:pic>
        <p:nvPicPr>
          <p:cNvPr id="11" name="Image 1" descr="/home/claude/deck/icons/check_FFFFFF.png">    </p:cNvPr>
          <p:cNvPicPr>
            <a:picLocks noChangeAspect="1"/>
          </p:cNvPicPr>
          <p:nvPr/>
        </p:nvPicPr>
        <p:blipFill>
          <a:blip r:embed="rId2"/>
          <a:stretch>
            <a:fillRect/>
          </a:stretch>
        </p:blipFill>
        <p:spPr>
          <a:xfrm>
            <a:off x="6583680" y="1874520"/>
            <a:ext cx="457200" cy="457200"/>
          </a:xfrm>
          <a:prstGeom prst="rect">
            <a:avLst/>
          </a:prstGeom>
        </p:spPr>
      </p:pic>
      <p:sp>
        <p:nvSpPr>
          <p:cNvPr id="12" name="Text 8"/>
          <p:cNvSpPr txBox="1"/>
          <p:nvPr/>
        </p:nvSpPr>
        <p:spPr>
          <a:xfrm>
            <a:off x="7178040" y="1920240"/>
            <a:ext cx="420624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Next steps beyond the sprint</a:t>
            </a:r>
            <a:endParaRPr lang="en-US" sz="1600" dirty="0"/>
          </a:p>
        </p:txBody>
      </p:sp>
      <p:sp>
        <p:nvSpPr>
          <p:cNvPr id="13" name="Text 9"/>
          <p:cNvSpPr txBox="1"/>
          <p:nvPr/>
        </p:nvSpPr>
        <p:spPr>
          <a:xfrm>
            <a:off x="6583680" y="251460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CADCFC"/>
                </a:solidFill>
                <a:latin typeface="Calibri" pitchFamily="34" charset="0"/>
                <a:ea typeface="Calibri" pitchFamily="34" charset="-122"/>
                <a:cs typeface="Calibri" pitchFamily="34" charset="-120"/>
              </a:rPr>
              <a:t>Expand few-shot enrollment for high-value protected identities</a:t>
            </a:r>
            <a:endParaRPr lang="en-US" sz="1250" dirty="0"/>
          </a:p>
        </p:txBody>
      </p:sp>
      <p:sp>
        <p:nvSpPr>
          <p:cNvPr id="14" name="Text 10"/>
          <p:cNvSpPr txBox="1"/>
          <p:nvPr/>
        </p:nvSpPr>
        <p:spPr>
          <a:xfrm>
            <a:off x="6583680" y="329184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CADCFC"/>
                </a:solidFill>
                <a:latin typeface="Calibri" pitchFamily="34" charset="0"/>
                <a:ea typeface="Calibri" pitchFamily="34" charset="-122"/>
                <a:cs typeface="Calibri" pitchFamily="34" charset="-120"/>
              </a:rPr>
              <a:t>Field-test on real degraded-channel call recordings</a:t>
            </a:r>
            <a:endParaRPr lang="en-US" sz="1250" dirty="0"/>
          </a:p>
        </p:txBody>
      </p:sp>
      <p:sp>
        <p:nvSpPr>
          <p:cNvPr id="15" name="Text 11"/>
          <p:cNvSpPr txBox="1"/>
          <p:nvPr/>
        </p:nvSpPr>
        <p:spPr>
          <a:xfrm>
            <a:off x="6583680" y="4069080"/>
            <a:ext cx="4709160" cy="731520"/>
          </a:xfrm>
          <a:prstGeom prst="rect">
            <a:avLst/>
          </a:prstGeom>
          <a:noFill/>
          <a:ln/>
        </p:spPr>
        <p:txBody>
          <a:bodyPr wrap="square" lIns="0" tIns="0" rIns="0" bIns="0" rtlCol="0" anchor="ctr"/>
          <a:lstStyle/>
          <a:p>
            <a:pPr marL="342900" indent="-342900">
              <a:lnSpc>
                <a:spcPct val="120000"/>
              </a:lnSpc>
              <a:buSzPct val="100000"/>
              <a:buChar char="✓"/>
            </a:pPr>
            <a:r>
              <a:rPr lang="en-US" sz="1250" dirty="0">
                <a:solidFill>
                  <a:srgbClr val="CADCFC"/>
                </a:solidFill>
                <a:latin typeface="Calibri" pitchFamily="34" charset="0"/>
                <a:ea typeface="Calibri" pitchFamily="34" charset="-122"/>
                <a:cs typeface="Calibri" pitchFamily="34" charset="-120"/>
              </a:rPr>
              <a:t>Formalize the fusion/decision policy with the phishing-defense team</a:t>
            </a:r>
            <a:endParaRPr lang="en-US" sz="1250" dirty="0"/>
          </a:p>
        </p:txBody>
      </p:sp>
      <p:sp>
        <p:nvSpPr>
          <p:cNvPr id="16" name="Text 12"/>
          <p:cNvSpPr txBox="1"/>
          <p:nvPr/>
        </p:nvSpPr>
        <p:spPr>
          <a:xfrm>
            <a:off x="457200" y="6537960"/>
            <a:ext cx="8229600" cy="274320"/>
          </a:xfrm>
          <a:prstGeom prst="rect">
            <a:avLst/>
          </a:prstGeom>
          <a:noFill/>
          <a:ln/>
        </p:spPr>
        <p:txBody>
          <a:bodyPr wrap="square" lIns="0" tIns="0" rIns="0" bIns="0" rtlCol="0" anchor="ctr"/>
          <a:lstStyle/>
          <a:p>
            <a:pPr indent="0" marL="0">
              <a:buNone/>
            </a:pPr>
            <a:r>
              <a:rPr lang="en-US" sz="900" dirty="0">
                <a:solidFill>
                  <a:srgbClr val="8792AC"/>
                </a:solidFill>
                <a:latin typeface="Calibri" pitchFamily="34" charset="0"/>
                <a:ea typeface="Calibri" pitchFamily="34" charset="-122"/>
                <a:cs typeface="Calibri" pitchFamily="34" charset="-120"/>
              </a:rPr>
              <a:t>Vishing Challenge  |  Deepfake Voice Detection for Anti-Vishing Systems</a:t>
            </a:r>
            <a:endParaRPr lang="en-US" sz="900" dirty="0"/>
          </a:p>
        </p:txBody>
      </p:sp>
      <p:sp>
        <p:nvSpPr>
          <p:cNvPr id="17" name="Text 13"/>
          <p:cNvSpPr txBox="1"/>
          <p:nvPr/>
        </p:nvSpPr>
        <p:spPr>
          <a:xfrm>
            <a:off x="11430000" y="6537960"/>
            <a:ext cx="457200" cy="274320"/>
          </a:xfrm>
          <a:prstGeom prst="rect">
            <a:avLst/>
          </a:prstGeom>
          <a:noFill/>
          <a:ln/>
        </p:spPr>
        <p:txBody>
          <a:bodyPr wrap="square" lIns="0" tIns="0" rIns="0" bIns="0" rtlCol="0" anchor="ctr"/>
          <a:lstStyle/>
          <a:p>
            <a:pPr algn="r" indent="0" marL="0">
              <a:buNone/>
            </a:pPr>
            <a:r>
              <a:rPr sz="900">
                <a:solidFill>
                  <a:srgbClr val="8792AC"/>
                </a:solidFill>
                <a:latin typeface="Calibri"/>
              </a:rPr>
              <a:t>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pic>
        <p:nvPicPr>
          <p:cNvPr id="2" name="Image 0" descr="/home/claude/deck/icons/shield_CADCFC.png">    </p:cNvPr>
          <p:cNvPicPr>
            <a:picLocks noChangeAspect="1"/>
          </p:cNvPicPr>
          <p:nvPr/>
        </p:nvPicPr>
        <p:blipFill>
          <a:blip r:embed="rId1">
            <a:alphaModFix amt="28000"/>
          </a:blip>
          <a:stretch>
            <a:fillRect/>
          </a:stretch>
        </p:blipFill>
        <p:spPr>
          <a:xfrm>
            <a:off x="9601200" y="-822960"/>
            <a:ext cx="3017520" cy="3017520"/>
          </a:xfrm>
          <a:prstGeom prst="rect">
            <a:avLst/>
          </a:prstGeom>
        </p:spPr>
      </p:pic>
      <p:pic>
        <p:nvPicPr>
          <p:cNvPr id="3" name="Image 1" descr="/home/claude/deck/icons/mic_CADCFC.png">    </p:cNvPr>
          <p:cNvPicPr>
            <a:picLocks noChangeAspect="1"/>
          </p:cNvPicPr>
          <p:nvPr/>
        </p:nvPicPr>
        <p:blipFill>
          <a:blip r:embed="rId2">
            <a:alphaModFix amt="25000"/>
          </a:blip>
          <a:stretch>
            <a:fillRect/>
          </a:stretch>
        </p:blipFill>
        <p:spPr>
          <a:xfrm>
            <a:off x="9418320" y="4297680"/>
            <a:ext cx="2468880" cy="2468880"/>
          </a:xfrm>
          <a:prstGeom prst="rect">
            <a:avLst/>
          </a:prstGeom>
        </p:spPr>
      </p:pic>
      <p:sp>
        <p:nvSpPr>
          <p:cNvPr id="4" name="Text 0"/>
          <p:cNvSpPr txBox="1"/>
          <p:nvPr/>
        </p:nvSpPr>
        <p:spPr>
          <a:xfrm>
            <a:off x="640080" y="2651760"/>
            <a:ext cx="96012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Questions for the panel</a:t>
            </a:r>
            <a:endParaRPr lang="en-US" sz="4000" dirty="0"/>
          </a:p>
        </p:txBody>
      </p:sp>
      <p:sp>
        <p:nvSpPr>
          <p:cNvPr id="5" name="Text 1"/>
          <p:cNvSpPr txBox="1"/>
          <p:nvPr/>
        </p:nvSpPr>
        <p:spPr>
          <a:xfrm>
            <a:off x="640080" y="3429000"/>
            <a:ext cx="9144000" cy="457200"/>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Deepfake Voice Detection for Anti-Vishing Systems  ·  Solution Proposal</a:t>
            </a:r>
            <a:endParaRPr lang="en-US" sz="1500" dirty="0"/>
          </a:p>
        </p:txBody>
      </p:sp>
      <p:sp>
        <p:nvSpPr>
          <p:cNvPr id="6" name="Shape 2"/>
          <p:cNvSpPr/>
          <p:nvPr/>
        </p:nvSpPr>
        <p:spPr>
          <a:xfrm>
            <a:off x="640080" y="4069080"/>
            <a:ext cx="2011680" cy="0"/>
          </a:xfrm>
          <a:prstGeom prst="line">
            <a:avLst/>
          </a:prstGeom>
          <a:noFill/>
          <a:ln w="31750">
            <a:solidFill>
              <a:srgbClr val="E94F37"/>
            </a:solidFill>
            <a:prstDash val="solid"/>
          </a:ln>
        </p:spPr>
      </p:sp>
      <p:sp>
        <p:nvSpPr>
          <p:cNvPr id="7" name="Text 3"/>
          <p:cNvSpPr txBox="1"/>
          <p:nvPr/>
        </p:nvSpPr>
        <p:spPr>
          <a:xfrm>
            <a:off x="640080" y="4251960"/>
            <a:ext cx="5486400" cy="457200"/>
          </a:xfrm>
          <a:prstGeom prst="rect">
            <a:avLst/>
          </a:prstGeom>
          <a:noFill/>
          <a:ln/>
        </p:spPr>
        <p:txBody>
          <a:bodyPr wrap="square" lIns="0" tIns="0" rIns="0" bIns="0" rtlCol="0" anchor="ctr"/>
          <a:lstStyle/>
          <a:p>
            <a:pPr indent="0" marL="0">
              <a:buNone/>
            </a:pPr>
            <a:r>
              <a:rPr lang="en-US" sz="1400" dirty="0">
                <a:solidFill>
                  <a:srgbClr val="8792AC"/>
                </a:solidFill>
                <a:latin typeface="Calibri" pitchFamily="34" charset="0"/>
                <a:ea typeface="Calibri" pitchFamily="34" charset="-122"/>
                <a:cs typeface="Calibri" pitchFamily="34" charset="-120"/>
              </a:rPr>
              <a:t>Thank you.</a:t>
            </a:r>
            <a:endParaRPr lang="en-US" sz="14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square" lIns="0" rIns="0" tIns="0" bIns="0" anchor="t">
            <a:spAutoFit/>
          </a:bodyPr>
          <a:lstStyle/>
          <a:p>
            <a:pPr algn="l">
              <a:lnSpc>
                <a:spcPct val="120000"/>
              </a:lnSpc>
              <a:spcAft>
                <a:spcPts val="0"/>
              </a:spcAft>
            </a:pPr>
            <a:r>
              <a:rPr sz="1200" b="1">
                <a:solidFill>
                  <a:srgbClr val="E94F37"/>
                </a:solidFill>
                <a:latin typeface="Calibri"/>
              </a:rPr>
              <a:t>THE EVIDENCE</a:t>
            </a:r>
          </a:p>
        </p:txBody>
      </p:sp>
      <p:sp>
        <p:nvSpPr>
          <p:cNvPr id="3" name="TextBox 2"/>
          <p:cNvSpPr txBox="1"/>
          <p:nvPr/>
        </p:nvSpPr>
        <p:spPr>
          <a:xfrm>
            <a:off x="548640" y="621792"/>
            <a:ext cx="11155680" cy="777240"/>
          </a:xfrm>
          <a:prstGeom prst="rect">
            <a:avLst/>
          </a:prstGeom>
          <a:noFill/>
        </p:spPr>
        <p:txBody>
          <a:bodyPr wrap="square" lIns="0" rIns="0" tIns="0" bIns="0" anchor="t">
            <a:spAutoFit/>
          </a:bodyPr>
          <a:lstStyle/>
          <a:p>
            <a:pPr algn="l">
              <a:lnSpc>
                <a:spcPct val="110000"/>
              </a:lnSpc>
              <a:spcAft>
                <a:spcPts val="0"/>
              </a:spcAft>
            </a:pPr>
            <a:r>
              <a:rPr sz="3000" b="1">
                <a:solidFill>
                  <a:srgbClr val="1B1F3B"/>
                </a:solidFill>
                <a:latin typeface="Cambria"/>
              </a:rPr>
              <a:t>How far it falls</a:t>
            </a:r>
          </a:p>
        </p:txBody>
      </p:sp>
      <p:sp>
        <p:nvSpPr>
          <p:cNvPr id="4" name="TextBox 3"/>
          <p:cNvSpPr txBox="1"/>
          <p:nvPr/>
        </p:nvSpPr>
        <p:spPr>
          <a:xfrm>
            <a:off x="457200" y="6537960"/>
            <a:ext cx="8229600" cy="274320"/>
          </a:xfrm>
          <a:prstGeom prst="rect">
            <a:avLst/>
          </a:prstGeom>
          <a:noFill/>
        </p:spPr>
        <p:txBody>
          <a:bodyPr wrap="square" lIns="0" rIns="0" tIns="0" bIns="0" anchor="t">
            <a:spAutoFit/>
          </a:bodyPr>
          <a:lstStyle/>
          <a:p>
            <a:pPr algn="l">
              <a:lnSpc>
                <a:spcPct val="120000"/>
              </a:lnSpc>
              <a:spcAft>
                <a:spcPts val="0"/>
              </a:spcAft>
            </a:pPr>
            <a:r>
              <a:rPr sz="900" b="0">
                <a:solidFill>
                  <a:srgbClr val="8792AC"/>
                </a:solidFill>
                <a:latin typeface="Calibri"/>
              </a:rPr>
              <a:t>Vishing Challenge  |  Deepfake Voice Detection for Anti-Vishing Systems</a:t>
            </a:r>
          </a:p>
        </p:txBody>
      </p:sp>
      <p:sp>
        <p:nvSpPr>
          <p:cNvPr id="5" name="Rectangle 4"/>
          <p:cNvSpPr/>
          <p:nvPr/>
        </p:nvSpPr>
        <p:spPr>
          <a:xfrm>
            <a:off x="9845040" y="1810512"/>
            <a:ext cx="1173480" cy="1810512"/>
          </a:xfrm>
          <a:prstGeom prst="rect">
            <a:avLst/>
          </a:prstGeom>
          <a:solidFill>
            <a:srgbClr val="FF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845040" y="1572768"/>
            <a:ext cx="1173480" cy="219456"/>
          </a:xfrm>
          <a:prstGeom prst="rect">
            <a:avLst/>
          </a:prstGeom>
          <a:noFill/>
        </p:spPr>
        <p:txBody>
          <a:bodyPr wrap="square" lIns="0" rIns="0" tIns="0" bIns="0" anchor="t">
            <a:spAutoFit/>
          </a:bodyPr>
          <a:lstStyle/>
          <a:p>
            <a:pPr algn="ctr">
              <a:lnSpc>
                <a:spcPct val="120000"/>
              </a:lnSpc>
              <a:spcAft>
                <a:spcPts val="0"/>
              </a:spcAft>
            </a:pPr>
            <a:r>
              <a:rPr sz="900" b="1">
                <a:solidFill>
                  <a:srgbClr val="E94F37"/>
                </a:solidFill>
                <a:latin typeface="Calibri"/>
              </a:rPr>
              <a:t>COIN FLIP</a:t>
            </a:r>
          </a:p>
        </p:txBody>
      </p:sp>
      <p:sp>
        <p:nvSpPr>
          <p:cNvPr id="7" name="TextBox 6"/>
          <p:cNvSpPr txBox="1"/>
          <p:nvPr/>
        </p:nvSpPr>
        <p:spPr>
          <a:xfrm>
            <a:off x="548640" y="1572768"/>
            <a:ext cx="3291840" cy="219456"/>
          </a:xfrm>
          <a:prstGeom prst="rect">
            <a:avLst/>
          </a:prstGeom>
          <a:noFill/>
        </p:spPr>
        <p:txBody>
          <a:bodyPr wrap="square" lIns="0" rIns="0" tIns="0" bIns="0" anchor="t">
            <a:spAutoFit/>
          </a:bodyPr>
          <a:lstStyle/>
          <a:p>
            <a:pPr algn="l">
              <a:lnSpc>
                <a:spcPct val="120000"/>
              </a:lnSpc>
              <a:spcAft>
                <a:spcPts val="0"/>
              </a:spcAft>
            </a:pPr>
            <a:r>
              <a:rPr sz="900" b="1">
                <a:solidFill>
                  <a:srgbClr val="8792AC"/>
                </a:solidFill>
                <a:latin typeface="Calibri"/>
              </a:rPr>
              <a:t>TRAINED ON ASVSPOOF 2019, TESTED ON:</a:t>
            </a:r>
          </a:p>
        </p:txBody>
      </p:sp>
      <p:sp>
        <p:nvSpPr>
          <p:cNvPr id="8" name="TextBox 7"/>
          <p:cNvSpPr txBox="1"/>
          <p:nvPr/>
        </p:nvSpPr>
        <p:spPr>
          <a:xfrm>
            <a:off x="548640" y="1883664"/>
            <a:ext cx="3200400" cy="502920"/>
          </a:xfrm>
          <a:prstGeom prst="rect">
            <a:avLst/>
          </a:prstGeom>
          <a:noFill/>
        </p:spPr>
        <p:txBody>
          <a:bodyPr wrap="square" lIns="0" rIns="0" tIns="0" bIns="0" anchor="t">
            <a:spAutoFit/>
          </a:bodyPr>
          <a:lstStyle/>
          <a:p>
            <a:pPr algn="l">
              <a:lnSpc>
                <a:spcPct val="120000"/>
              </a:lnSpc>
              <a:spcAft>
                <a:spcPts val="100"/>
              </a:spcAft>
            </a:pPr>
            <a:r>
              <a:rPr sz="1400" b="1">
                <a:solidFill>
                  <a:srgbClr val="1B1F3B"/>
                </a:solidFill>
                <a:latin typeface="Calibri"/>
              </a:rPr>
              <a:t>its own test set</a:t>
            </a:r>
          </a:p>
        </p:txBody>
      </p:sp>
      <p:sp>
        <p:nvSpPr>
          <p:cNvPr id="9" name="Rectangle 8"/>
          <p:cNvSpPr/>
          <p:nvPr/>
        </p:nvSpPr>
        <p:spPr>
          <a:xfrm>
            <a:off x="3977639" y="1901952"/>
            <a:ext cx="144338"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68282" y="1947672"/>
            <a:ext cx="1371600" cy="274320"/>
          </a:xfrm>
          <a:prstGeom prst="rect">
            <a:avLst/>
          </a:prstGeom>
          <a:noFill/>
        </p:spPr>
        <p:txBody>
          <a:bodyPr wrap="square" lIns="0" rIns="0" tIns="0" bIns="0" anchor="t">
            <a:spAutoFit/>
          </a:bodyPr>
          <a:lstStyle/>
          <a:p>
            <a:pPr algn="l">
              <a:lnSpc>
                <a:spcPct val="120000"/>
              </a:lnSpc>
              <a:spcAft>
                <a:spcPts val="0"/>
              </a:spcAft>
            </a:pPr>
            <a:r>
              <a:rPr sz="1700" b="1">
                <a:solidFill>
                  <a:srgbClr val="1E2761"/>
                </a:solidFill>
                <a:latin typeface="Calibri"/>
              </a:rPr>
              <a:t>1.23%</a:t>
            </a:r>
          </a:p>
        </p:txBody>
      </p:sp>
      <p:sp>
        <p:nvSpPr>
          <p:cNvPr id="11" name="TextBox 10"/>
          <p:cNvSpPr txBox="1"/>
          <p:nvPr/>
        </p:nvSpPr>
        <p:spPr>
          <a:xfrm>
            <a:off x="548640" y="2487168"/>
            <a:ext cx="3200400" cy="502920"/>
          </a:xfrm>
          <a:prstGeom prst="rect">
            <a:avLst/>
          </a:prstGeom>
          <a:noFill/>
        </p:spPr>
        <p:txBody>
          <a:bodyPr wrap="square" lIns="0" rIns="0" tIns="0" bIns="0" anchor="t">
            <a:spAutoFit/>
          </a:bodyPr>
          <a:lstStyle/>
          <a:p>
            <a:pPr algn="l">
              <a:lnSpc>
                <a:spcPct val="120000"/>
              </a:lnSpc>
              <a:spcAft>
                <a:spcPts val="100"/>
              </a:spcAft>
            </a:pPr>
            <a:r>
              <a:rPr sz="1400" b="1">
                <a:solidFill>
                  <a:srgbClr val="1B1F3B"/>
                </a:solidFill>
                <a:latin typeface="Calibri"/>
              </a:rPr>
              <a:t>another corpus</a:t>
            </a:r>
          </a:p>
          <a:p>
            <a:pPr>
              <a:lnSpc>
                <a:spcPct val="120000"/>
              </a:lnSpc>
              <a:spcAft>
                <a:spcPts val="0"/>
              </a:spcAft>
            </a:pPr>
            <a:r>
              <a:rPr sz="1000" b="0">
                <a:solidFill>
                  <a:srgbClr val="8792AC"/>
                </a:solidFill>
                <a:latin typeface="Calibri"/>
              </a:rPr>
              <a:t>In-the-Wild</a:t>
            </a:r>
          </a:p>
        </p:txBody>
      </p:sp>
      <p:sp>
        <p:nvSpPr>
          <p:cNvPr id="12" name="Rectangle 11"/>
          <p:cNvSpPr/>
          <p:nvPr/>
        </p:nvSpPr>
        <p:spPr>
          <a:xfrm>
            <a:off x="3977639" y="2505456"/>
            <a:ext cx="4359478" cy="365760"/>
          </a:xfrm>
          <a:prstGeom prst="rect">
            <a:avLst/>
          </a:prstGeom>
          <a:solidFill>
            <a:srgbClr val="E94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83422" y="2551176"/>
            <a:ext cx="1371600" cy="274320"/>
          </a:xfrm>
          <a:prstGeom prst="rect">
            <a:avLst/>
          </a:prstGeom>
          <a:noFill/>
        </p:spPr>
        <p:txBody>
          <a:bodyPr wrap="square" lIns="0" rIns="0" tIns="0" bIns="0" anchor="t">
            <a:spAutoFit/>
          </a:bodyPr>
          <a:lstStyle/>
          <a:p>
            <a:pPr algn="l">
              <a:lnSpc>
                <a:spcPct val="120000"/>
              </a:lnSpc>
              <a:spcAft>
                <a:spcPts val="0"/>
              </a:spcAft>
            </a:pPr>
            <a:r>
              <a:rPr sz="1700" b="1">
                <a:solidFill>
                  <a:srgbClr val="E94F37"/>
                </a:solidFill>
                <a:latin typeface="Calibri"/>
              </a:rPr>
              <a:t>37.15%</a:t>
            </a:r>
          </a:p>
        </p:txBody>
      </p:sp>
      <p:sp>
        <p:nvSpPr>
          <p:cNvPr id="14" name="TextBox 13"/>
          <p:cNvSpPr txBox="1"/>
          <p:nvPr/>
        </p:nvSpPr>
        <p:spPr>
          <a:xfrm>
            <a:off x="548640" y="3090672"/>
            <a:ext cx="3200400" cy="502920"/>
          </a:xfrm>
          <a:prstGeom prst="rect">
            <a:avLst/>
          </a:prstGeom>
          <a:noFill/>
        </p:spPr>
        <p:txBody>
          <a:bodyPr wrap="square" lIns="0" rIns="0" tIns="0" bIns="0" anchor="t">
            <a:spAutoFit/>
          </a:bodyPr>
          <a:lstStyle/>
          <a:p>
            <a:pPr algn="l">
              <a:lnSpc>
                <a:spcPct val="120000"/>
              </a:lnSpc>
              <a:spcAft>
                <a:spcPts val="100"/>
              </a:spcAft>
            </a:pPr>
            <a:r>
              <a:rPr sz="1400" b="1">
                <a:solidFill>
                  <a:srgbClr val="1B1F3B"/>
                </a:solidFill>
                <a:latin typeface="Calibri"/>
              </a:rPr>
              <a:t>2026 cloned voices</a:t>
            </a:r>
          </a:p>
          <a:p>
            <a:pPr>
              <a:lnSpc>
                <a:spcPct val="120000"/>
              </a:lnSpc>
              <a:spcAft>
                <a:spcPts val="0"/>
              </a:spcAft>
            </a:pPr>
            <a:r>
              <a:rPr sz="1000" b="0">
                <a:solidFill>
                  <a:srgbClr val="8792AC"/>
                </a:solidFill>
                <a:latin typeface="Calibri"/>
              </a:rPr>
              <a:t>over a real VoIP call</a:t>
            </a:r>
          </a:p>
        </p:txBody>
      </p:sp>
      <p:sp>
        <p:nvSpPr>
          <p:cNvPr id="15" name="Rectangle 14"/>
          <p:cNvSpPr/>
          <p:nvPr/>
        </p:nvSpPr>
        <p:spPr>
          <a:xfrm>
            <a:off x="3977639" y="3108960"/>
            <a:ext cx="5900257" cy="365760"/>
          </a:xfrm>
          <a:prstGeom prst="rect">
            <a:avLst/>
          </a:prstGeom>
          <a:solidFill>
            <a:srgbClr val="E94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643457" y="3163824"/>
            <a:ext cx="1097280" cy="274320"/>
          </a:xfrm>
          <a:prstGeom prst="rect">
            <a:avLst/>
          </a:prstGeom>
          <a:noFill/>
        </p:spPr>
        <p:txBody>
          <a:bodyPr wrap="square" lIns="0" rIns="0" tIns="0" bIns="0" anchor="t">
            <a:spAutoFit/>
          </a:bodyPr>
          <a:lstStyle/>
          <a:p>
            <a:pPr algn="r">
              <a:lnSpc>
                <a:spcPct val="120000"/>
              </a:lnSpc>
              <a:spcAft>
                <a:spcPts val="0"/>
              </a:spcAft>
            </a:pPr>
            <a:r>
              <a:rPr sz="1700" b="1">
                <a:solidFill>
                  <a:srgbClr val="FFFFFF"/>
                </a:solidFill>
                <a:latin typeface="Calibri"/>
              </a:rPr>
              <a:t>50.28%</a:t>
            </a:r>
          </a:p>
        </p:txBody>
      </p:sp>
      <p:cxnSp>
        <p:nvCxnSpPr>
          <p:cNvPr id="17" name="Connector 16"/>
          <p:cNvCxnSpPr/>
          <p:nvPr/>
        </p:nvCxnSpPr>
        <p:spPr>
          <a:xfrm>
            <a:off x="548640" y="3803904"/>
            <a:ext cx="10469880" cy="0"/>
          </a:xfrm>
          <a:prstGeom prst="line">
            <a:avLst/>
          </a:prstGeom>
          <a:ln w="12700">
            <a:solidFill>
              <a:srgbClr val="D8DEE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48640" y="3931920"/>
            <a:ext cx="3200400" cy="502920"/>
          </a:xfrm>
          <a:prstGeom prst="rect">
            <a:avLst/>
          </a:prstGeom>
          <a:noFill/>
        </p:spPr>
        <p:txBody>
          <a:bodyPr wrap="square" lIns="0" rIns="0" tIns="0" bIns="0" anchor="t">
            <a:spAutoFit/>
          </a:bodyPr>
          <a:lstStyle/>
          <a:p>
            <a:pPr algn="l">
              <a:lnSpc>
                <a:spcPct val="120000"/>
              </a:lnSpc>
              <a:spcAft>
                <a:spcPts val="100"/>
              </a:spcAft>
            </a:pPr>
            <a:r>
              <a:rPr sz="1400" b="1">
                <a:solidFill>
                  <a:srgbClr val="1E2761"/>
                </a:solidFill>
                <a:latin typeface="Calibri"/>
              </a:rPr>
              <a:t>same test, retrained</a:t>
            </a:r>
          </a:p>
          <a:p>
            <a:pPr>
              <a:lnSpc>
                <a:spcPct val="120000"/>
              </a:lnSpc>
              <a:spcAft>
                <a:spcPts val="0"/>
              </a:spcAft>
            </a:pPr>
            <a:r>
              <a:rPr sz="1000" b="0">
                <a:solidFill>
                  <a:srgbClr val="8792AC"/>
                </a:solidFill>
                <a:latin typeface="Calibri"/>
              </a:rPr>
              <a:t>on modern voices</a:t>
            </a:r>
          </a:p>
        </p:txBody>
      </p:sp>
      <p:sp>
        <p:nvSpPr>
          <p:cNvPr id="19" name="Rectangle 18"/>
          <p:cNvSpPr/>
          <p:nvPr/>
        </p:nvSpPr>
        <p:spPr>
          <a:xfrm>
            <a:off x="3977639" y="3950208"/>
            <a:ext cx="681791" cy="36576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805735" y="3995928"/>
            <a:ext cx="3291840" cy="274320"/>
          </a:xfrm>
          <a:prstGeom prst="rect">
            <a:avLst/>
          </a:prstGeom>
          <a:noFill/>
        </p:spPr>
        <p:txBody>
          <a:bodyPr wrap="square" lIns="0" rIns="0" tIns="0" bIns="0" anchor="t">
            <a:spAutoFit/>
          </a:bodyPr>
          <a:lstStyle/>
          <a:p>
            <a:pPr algn="l">
              <a:lnSpc>
                <a:spcPct val="120000"/>
              </a:lnSpc>
              <a:spcAft>
                <a:spcPts val="0"/>
              </a:spcAft>
            </a:pPr>
            <a:r>
              <a:rPr sz="1700" b="1">
                <a:solidFill>
                  <a:srgbClr val="1E2761"/>
                </a:solidFill>
                <a:latin typeface="Calibri"/>
              </a:rPr>
              <a:t>5.81%</a:t>
            </a:r>
            <a:r>
              <a:rPr sz="1300" b="0">
                <a:solidFill>
                  <a:srgbClr val="8792AC"/>
                </a:solidFill>
                <a:latin typeface="Calibri"/>
              </a:rPr>
              <a:t>    so it can be fixed</a:t>
            </a:r>
          </a:p>
        </p:txBody>
      </p:sp>
      <p:cxnSp>
        <p:nvCxnSpPr>
          <p:cNvPr id="21" name="Connector 20"/>
          <p:cNvCxnSpPr/>
          <p:nvPr/>
        </p:nvCxnSpPr>
        <p:spPr>
          <a:xfrm>
            <a:off x="3977639" y="4498848"/>
            <a:ext cx="7040881" cy="0"/>
          </a:xfrm>
          <a:prstGeom prst="line">
            <a:avLst/>
          </a:prstGeom>
          <a:ln w="12700">
            <a:solidFill>
              <a:srgbClr val="D8DE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611879" y="4553712"/>
            <a:ext cx="731520" cy="219456"/>
          </a:xfrm>
          <a:prstGeom prst="rect">
            <a:avLst/>
          </a:prstGeom>
          <a:noFill/>
        </p:spPr>
        <p:txBody>
          <a:bodyPr wrap="square" lIns="0" rIns="0" tIns="0" bIns="0" anchor="t">
            <a:spAutoFit/>
          </a:bodyPr>
          <a:lstStyle/>
          <a:p>
            <a:pPr algn="ctr">
              <a:lnSpc>
                <a:spcPct val="120000"/>
              </a:lnSpc>
              <a:spcAft>
                <a:spcPts val="0"/>
              </a:spcAft>
            </a:pPr>
            <a:r>
              <a:rPr sz="900" b="0">
                <a:solidFill>
                  <a:srgbClr val="8792AC"/>
                </a:solidFill>
                <a:latin typeface="Calibri"/>
              </a:rPr>
              <a:t>0%</a:t>
            </a:r>
          </a:p>
        </p:txBody>
      </p:sp>
      <p:sp>
        <p:nvSpPr>
          <p:cNvPr id="23" name="TextBox 22"/>
          <p:cNvSpPr txBox="1"/>
          <p:nvPr/>
        </p:nvSpPr>
        <p:spPr>
          <a:xfrm>
            <a:off x="5372100" y="4553712"/>
            <a:ext cx="731520" cy="219456"/>
          </a:xfrm>
          <a:prstGeom prst="rect">
            <a:avLst/>
          </a:prstGeom>
          <a:noFill/>
        </p:spPr>
        <p:txBody>
          <a:bodyPr wrap="square" lIns="0" rIns="0" tIns="0" bIns="0" anchor="t">
            <a:spAutoFit/>
          </a:bodyPr>
          <a:lstStyle/>
          <a:p>
            <a:pPr algn="ctr">
              <a:lnSpc>
                <a:spcPct val="120000"/>
              </a:lnSpc>
              <a:spcAft>
                <a:spcPts val="0"/>
              </a:spcAft>
            </a:pPr>
            <a:r>
              <a:rPr sz="900" b="0">
                <a:solidFill>
                  <a:srgbClr val="8792AC"/>
                </a:solidFill>
                <a:latin typeface="Calibri"/>
              </a:rPr>
              <a:t>15%</a:t>
            </a:r>
          </a:p>
        </p:txBody>
      </p:sp>
      <p:sp>
        <p:nvSpPr>
          <p:cNvPr id="24" name="TextBox 23"/>
          <p:cNvSpPr txBox="1"/>
          <p:nvPr/>
        </p:nvSpPr>
        <p:spPr>
          <a:xfrm>
            <a:off x="7132319" y="4553712"/>
            <a:ext cx="731520" cy="219456"/>
          </a:xfrm>
          <a:prstGeom prst="rect">
            <a:avLst/>
          </a:prstGeom>
          <a:noFill/>
        </p:spPr>
        <p:txBody>
          <a:bodyPr wrap="square" lIns="0" rIns="0" tIns="0" bIns="0" anchor="t">
            <a:spAutoFit/>
          </a:bodyPr>
          <a:lstStyle/>
          <a:p>
            <a:pPr algn="ctr">
              <a:lnSpc>
                <a:spcPct val="120000"/>
              </a:lnSpc>
              <a:spcAft>
                <a:spcPts val="0"/>
              </a:spcAft>
            </a:pPr>
            <a:r>
              <a:rPr sz="900" b="0">
                <a:solidFill>
                  <a:srgbClr val="8792AC"/>
                </a:solidFill>
                <a:latin typeface="Calibri"/>
              </a:rPr>
              <a:t>30%</a:t>
            </a:r>
          </a:p>
        </p:txBody>
      </p:sp>
      <p:sp>
        <p:nvSpPr>
          <p:cNvPr id="25" name="TextBox 24"/>
          <p:cNvSpPr txBox="1"/>
          <p:nvPr/>
        </p:nvSpPr>
        <p:spPr>
          <a:xfrm>
            <a:off x="8892540" y="4553712"/>
            <a:ext cx="731520" cy="219456"/>
          </a:xfrm>
          <a:prstGeom prst="rect">
            <a:avLst/>
          </a:prstGeom>
          <a:noFill/>
        </p:spPr>
        <p:txBody>
          <a:bodyPr wrap="square" lIns="0" rIns="0" tIns="0" bIns="0" anchor="t">
            <a:spAutoFit/>
          </a:bodyPr>
          <a:lstStyle/>
          <a:p>
            <a:pPr algn="ctr">
              <a:lnSpc>
                <a:spcPct val="120000"/>
              </a:lnSpc>
              <a:spcAft>
                <a:spcPts val="0"/>
              </a:spcAft>
            </a:pPr>
            <a:r>
              <a:rPr sz="900" b="0">
                <a:solidFill>
                  <a:srgbClr val="8792AC"/>
                </a:solidFill>
                <a:latin typeface="Calibri"/>
              </a:rPr>
              <a:t>45%</a:t>
            </a:r>
          </a:p>
        </p:txBody>
      </p:sp>
      <p:sp>
        <p:nvSpPr>
          <p:cNvPr id="26" name="TextBox 25"/>
          <p:cNvSpPr txBox="1"/>
          <p:nvPr/>
        </p:nvSpPr>
        <p:spPr>
          <a:xfrm>
            <a:off x="10652760" y="4553712"/>
            <a:ext cx="731520" cy="219456"/>
          </a:xfrm>
          <a:prstGeom prst="rect">
            <a:avLst/>
          </a:prstGeom>
          <a:noFill/>
        </p:spPr>
        <p:txBody>
          <a:bodyPr wrap="square" lIns="0" rIns="0" tIns="0" bIns="0" anchor="t">
            <a:spAutoFit/>
          </a:bodyPr>
          <a:lstStyle/>
          <a:p>
            <a:pPr algn="ctr">
              <a:lnSpc>
                <a:spcPct val="120000"/>
              </a:lnSpc>
              <a:spcAft>
                <a:spcPts val="0"/>
              </a:spcAft>
            </a:pPr>
            <a:r>
              <a:rPr sz="900" b="0">
                <a:solidFill>
                  <a:srgbClr val="8792AC"/>
                </a:solidFill>
                <a:latin typeface="Calibri"/>
              </a:rPr>
              <a:t>60%</a:t>
            </a:r>
          </a:p>
        </p:txBody>
      </p:sp>
      <p:sp>
        <p:nvSpPr>
          <p:cNvPr id="27" name="TextBox 26"/>
          <p:cNvSpPr txBox="1"/>
          <p:nvPr/>
        </p:nvSpPr>
        <p:spPr>
          <a:xfrm>
            <a:off x="548640" y="4553712"/>
            <a:ext cx="3200400" cy="219456"/>
          </a:xfrm>
          <a:prstGeom prst="rect">
            <a:avLst/>
          </a:prstGeom>
          <a:noFill/>
        </p:spPr>
        <p:txBody>
          <a:bodyPr wrap="square" lIns="0" rIns="0" tIns="0" bIns="0" anchor="t">
            <a:spAutoFit/>
          </a:bodyPr>
          <a:lstStyle/>
          <a:p>
            <a:pPr algn="l">
              <a:lnSpc>
                <a:spcPct val="120000"/>
              </a:lnSpc>
              <a:spcAft>
                <a:spcPts val="0"/>
              </a:spcAft>
            </a:pPr>
            <a:r>
              <a:rPr sz="900" b="0">
                <a:solidFill>
                  <a:srgbClr val="8792AC"/>
                </a:solidFill>
                <a:latin typeface="Calibri"/>
              </a:rPr>
              <a:t>equal error rate, lower is better</a:t>
            </a:r>
          </a:p>
        </p:txBody>
      </p:sp>
      <p:sp>
        <p:nvSpPr>
          <p:cNvPr id="28" name="Rectangle 27"/>
          <p:cNvSpPr/>
          <p:nvPr/>
        </p:nvSpPr>
        <p:spPr>
          <a:xfrm>
            <a:off x="548640" y="5074920"/>
            <a:ext cx="11091672" cy="86868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48640" y="5074920"/>
            <a:ext cx="41148" cy="868680"/>
          </a:xfrm>
          <a:prstGeom prst="rect">
            <a:avLst/>
          </a:prstGeom>
          <a:solidFill>
            <a:srgbClr val="E94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8680" y="5230368"/>
            <a:ext cx="10515600" cy="566928"/>
          </a:xfrm>
          <a:prstGeom prst="rect">
            <a:avLst/>
          </a:prstGeom>
          <a:noFill/>
        </p:spPr>
        <p:txBody>
          <a:bodyPr wrap="square" lIns="0" rIns="0" tIns="0" bIns="0" anchor="ctr">
            <a:spAutoFit/>
          </a:bodyPr>
          <a:lstStyle/>
          <a:p>
            <a:pPr algn="l">
              <a:lnSpc>
                <a:spcPct val="125000"/>
              </a:lnSpc>
              <a:spcAft>
                <a:spcPts val="0"/>
              </a:spcAft>
            </a:pPr>
            <a:r>
              <a:rPr sz="1400" b="0">
                <a:solidFill>
                  <a:srgbClr val="44506B"/>
                </a:solidFill>
                <a:latin typeface="Calibri"/>
              </a:rPr>
              <a:t>A 36-point gap between the benchmark and anything else. </a:t>
            </a:r>
            <a:r>
              <a:rPr sz="1400" b="1">
                <a:solidFill>
                  <a:srgbClr val="1B1F3B"/>
                </a:solidFill>
                <a:latin typeface="Calibri"/>
              </a:rPr>
              <a:t>Closing that gap is what we are building.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9144000" cy="274320"/>
          </a:xfrm>
          <a:prstGeom prst="rect">
            <a:avLst/>
          </a:prstGeom>
          <a:noFill/>
        </p:spPr>
        <p:txBody>
          <a:bodyPr wrap="square" lIns="0" rIns="0" tIns="0" bIns="0" anchor="t">
            <a:spAutoFit/>
          </a:bodyPr>
          <a:lstStyle/>
          <a:p>
            <a:pPr algn="l">
              <a:lnSpc>
                <a:spcPct val="120000"/>
              </a:lnSpc>
              <a:spcAft>
                <a:spcPts val="0"/>
              </a:spcAft>
            </a:pPr>
            <a:r>
              <a:rPr sz="1200" b="1">
                <a:solidFill>
                  <a:srgbClr val="E94F37"/>
                </a:solidFill>
                <a:latin typeface="Calibri"/>
              </a:rPr>
              <a:t>DIAGNOSIS</a:t>
            </a:r>
          </a:p>
        </p:txBody>
      </p:sp>
      <p:sp>
        <p:nvSpPr>
          <p:cNvPr id="3" name="TextBox 2"/>
          <p:cNvSpPr txBox="1"/>
          <p:nvPr/>
        </p:nvSpPr>
        <p:spPr>
          <a:xfrm>
            <a:off x="548640" y="621792"/>
            <a:ext cx="11155680" cy="777240"/>
          </a:xfrm>
          <a:prstGeom prst="rect">
            <a:avLst/>
          </a:prstGeom>
          <a:noFill/>
        </p:spPr>
        <p:txBody>
          <a:bodyPr wrap="square" lIns="0" rIns="0" tIns="0" bIns="0" anchor="t">
            <a:spAutoFit/>
          </a:bodyPr>
          <a:lstStyle/>
          <a:p>
            <a:pPr algn="l">
              <a:lnSpc>
                <a:spcPct val="110000"/>
              </a:lnSpc>
              <a:spcAft>
                <a:spcPts val="0"/>
              </a:spcAft>
            </a:pPr>
            <a:r>
              <a:rPr sz="3000" b="1">
                <a:solidFill>
                  <a:srgbClr val="1B1F3B"/>
                </a:solidFill>
                <a:latin typeface="Cambria"/>
              </a:rPr>
              <a:t>It learns the dataset, not the voice</a:t>
            </a:r>
          </a:p>
        </p:txBody>
      </p:sp>
      <p:sp>
        <p:nvSpPr>
          <p:cNvPr id="4" name="TextBox 3"/>
          <p:cNvSpPr txBox="1"/>
          <p:nvPr/>
        </p:nvSpPr>
        <p:spPr>
          <a:xfrm>
            <a:off x="457200" y="6537960"/>
            <a:ext cx="8229600" cy="274320"/>
          </a:xfrm>
          <a:prstGeom prst="rect">
            <a:avLst/>
          </a:prstGeom>
          <a:noFill/>
        </p:spPr>
        <p:txBody>
          <a:bodyPr wrap="square" lIns="0" rIns="0" tIns="0" bIns="0" anchor="t">
            <a:spAutoFit/>
          </a:bodyPr>
          <a:lstStyle/>
          <a:p>
            <a:pPr algn="l">
              <a:lnSpc>
                <a:spcPct val="120000"/>
              </a:lnSpc>
              <a:spcAft>
                <a:spcPts val="0"/>
              </a:spcAft>
            </a:pPr>
            <a:r>
              <a:rPr sz="900" b="0">
                <a:solidFill>
                  <a:srgbClr val="8792AC"/>
                </a:solidFill>
                <a:latin typeface="Calibri"/>
              </a:rPr>
              <a:t>Vishing Challenge  |  Deepfake Voice Detection for Anti-Vishing Systems</a:t>
            </a:r>
          </a:p>
        </p:txBody>
      </p:sp>
      <p:sp>
        <p:nvSpPr>
          <p:cNvPr id="5" name="TextBox 4"/>
          <p:cNvSpPr txBox="1"/>
          <p:nvPr/>
        </p:nvSpPr>
        <p:spPr>
          <a:xfrm>
            <a:off x="548640" y="1481328"/>
            <a:ext cx="11091672" cy="457200"/>
          </a:xfrm>
          <a:prstGeom prst="rect">
            <a:avLst/>
          </a:prstGeom>
          <a:noFill/>
        </p:spPr>
        <p:txBody>
          <a:bodyPr wrap="square" lIns="0" rIns="0" tIns="0" bIns="0" anchor="t">
            <a:spAutoFit/>
          </a:bodyPr>
          <a:lstStyle/>
          <a:p>
            <a:pPr algn="l">
              <a:lnSpc>
                <a:spcPct val="130000"/>
              </a:lnSpc>
              <a:spcAft>
                <a:spcPts val="0"/>
              </a:spcAft>
            </a:pPr>
            <a:r>
              <a:rPr sz="1300" b="0">
                <a:solidFill>
                  <a:srgbClr val="44506B"/>
                </a:solidFill>
                <a:latin typeface="Calibri"/>
              </a:rPr>
              <a:t>Before choosing an architecture we asked what the failing detectors are actually keying on. The answer explains the collapse, and it tells us what to remove during training.</a:t>
            </a:r>
          </a:p>
        </p:txBody>
      </p:sp>
      <p:sp>
        <p:nvSpPr>
          <p:cNvPr id="6" name="Rectangle 5"/>
          <p:cNvSpPr/>
          <p:nvPr/>
        </p:nvSpPr>
        <p:spPr>
          <a:xfrm>
            <a:off x="548640" y="2212848"/>
            <a:ext cx="3483864" cy="224028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04672" y="2432304"/>
            <a:ext cx="2971800" cy="1783080"/>
          </a:xfrm>
          <a:prstGeom prst="rect">
            <a:avLst/>
          </a:prstGeom>
          <a:noFill/>
        </p:spPr>
        <p:txBody>
          <a:bodyPr wrap="square" lIns="0" rIns="0" tIns="0" bIns="0" anchor="t">
            <a:spAutoFit/>
          </a:bodyPr>
          <a:lstStyle/>
          <a:p>
            <a:pPr algn="l">
              <a:lnSpc>
                <a:spcPct val="120000"/>
              </a:lnSpc>
              <a:spcAft>
                <a:spcPts val="1000"/>
              </a:spcAft>
            </a:pPr>
            <a:r>
              <a:rPr sz="1000" b="1">
                <a:solidFill>
                  <a:srgbClr val="8792AC"/>
                </a:solidFill>
                <a:latin typeface="Calibri"/>
              </a:rPr>
              <a:t>SILENCE ALONE</a:t>
            </a:r>
          </a:p>
          <a:p>
            <a:pPr>
              <a:lnSpc>
                <a:spcPct val="100000"/>
              </a:lnSpc>
              <a:spcAft>
                <a:spcPts val="1200"/>
              </a:spcAft>
            </a:pPr>
            <a:r>
              <a:rPr sz="3400" b="1">
                <a:solidFill>
                  <a:srgbClr val="E94F37"/>
                </a:solidFill>
                <a:latin typeface="Calibri"/>
              </a:rPr>
              <a:t>85%</a:t>
            </a:r>
          </a:p>
          <a:p>
            <a:pPr>
              <a:lnSpc>
                <a:spcPct val="130000"/>
              </a:lnSpc>
              <a:spcAft>
                <a:spcPts val="1000"/>
              </a:spcAft>
            </a:pPr>
            <a:r>
              <a:rPr sz="1250" b="0">
                <a:solidFill>
                  <a:srgbClr val="44506B"/>
                </a:solidFill>
                <a:latin typeface="Calibri"/>
              </a:rPr>
              <a:t>accuracy from a classifier given only the length of the opening silence</a:t>
            </a:r>
          </a:p>
          <a:p>
            <a:pPr>
              <a:lnSpc>
                <a:spcPct val="120000"/>
              </a:lnSpc>
              <a:spcAft>
                <a:spcPts val="0"/>
              </a:spcAft>
            </a:pPr>
            <a:r>
              <a:rPr sz="900" b="0">
                <a:solidFill>
                  <a:srgbClr val="8792AC"/>
                </a:solidFill>
                <a:latin typeface="Calibri"/>
              </a:rPr>
              <a:t>Muller et al.</a:t>
            </a:r>
          </a:p>
        </p:txBody>
      </p:sp>
      <p:sp>
        <p:nvSpPr>
          <p:cNvPr id="8" name="Rectangle 7"/>
          <p:cNvSpPr/>
          <p:nvPr/>
        </p:nvSpPr>
        <p:spPr>
          <a:xfrm>
            <a:off x="4352544" y="2212848"/>
            <a:ext cx="3483864" cy="224028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08576" y="2432304"/>
            <a:ext cx="2971800" cy="1783080"/>
          </a:xfrm>
          <a:prstGeom prst="rect">
            <a:avLst/>
          </a:prstGeom>
          <a:noFill/>
        </p:spPr>
        <p:txBody>
          <a:bodyPr wrap="square" lIns="0" rIns="0" tIns="0" bIns="0" anchor="t">
            <a:spAutoFit/>
          </a:bodyPr>
          <a:lstStyle/>
          <a:p>
            <a:pPr algn="l">
              <a:lnSpc>
                <a:spcPct val="120000"/>
              </a:lnSpc>
              <a:spcAft>
                <a:spcPts val="1000"/>
              </a:spcAft>
            </a:pPr>
            <a:r>
              <a:rPr sz="1000" b="1">
                <a:solidFill>
                  <a:srgbClr val="8792AC"/>
                </a:solidFill>
                <a:latin typeface="Calibri"/>
              </a:rPr>
              <a:t>ATTACK ON SILENCE ONLY</a:t>
            </a:r>
          </a:p>
          <a:p>
            <a:pPr>
              <a:lnSpc>
                <a:spcPct val="100000"/>
              </a:lnSpc>
              <a:spcAft>
                <a:spcPts val="1200"/>
              </a:spcAft>
            </a:pPr>
            <a:r>
              <a:rPr sz="3400" b="1">
                <a:solidFill>
                  <a:srgbClr val="E94F37"/>
                </a:solidFill>
                <a:latin typeface="Calibri"/>
              </a:rPr>
              <a:t>82.2%</a:t>
            </a:r>
          </a:p>
          <a:p>
            <a:pPr>
              <a:lnSpc>
                <a:spcPct val="130000"/>
              </a:lnSpc>
              <a:spcAft>
                <a:spcPts val="1000"/>
              </a:spcAft>
            </a:pPr>
            <a:r>
              <a:rPr sz="1250" b="0">
                <a:solidFill>
                  <a:srgbClr val="44506B"/>
                </a:solidFill>
                <a:latin typeface="Calibri"/>
              </a:rPr>
              <a:t>attack success from changing only the background noise and the mute segments, never the voice</a:t>
            </a:r>
          </a:p>
          <a:p>
            <a:pPr>
              <a:lnSpc>
                <a:spcPct val="120000"/>
              </a:lnSpc>
              <a:spcAft>
                <a:spcPts val="0"/>
              </a:spcAft>
            </a:pPr>
            <a:r>
              <a:rPr sz="900" b="0">
                <a:solidFill>
                  <a:srgbClr val="8792AC"/>
                </a:solidFill>
                <a:latin typeface="Calibri"/>
              </a:rPr>
              <a:t>SiFDetectCracker, ACM MM 2023</a:t>
            </a:r>
          </a:p>
        </p:txBody>
      </p:sp>
      <p:sp>
        <p:nvSpPr>
          <p:cNvPr id="10" name="Rectangle 9"/>
          <p:cNvSpPr/>
          <p:nvPr/>
        </p:nvSpPr>
        <p:spPr>
          <a:xfrm>
            <a:off x="8156448" y="2212848"/>
            <a:ext cx="3483864" cy="224028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80" y="2432304"/>
            <a:ext cx="2971800" cy="1783080"/>
          </a:xfrm>
          <a:prstGeom prst="rect">
            <a:avLst/>
          </a:prstGeom>
          <a:noFill/>
        </p:spPr>
        <p:txBody>
          <a:bodyPr wrap="square" lIns="0" rIns="0" tIns="0" bIns="0" anchor="t">
            <a:spAutoFit/>
          </a:bodyPr>
          <a:lstStyle/>
          <a:p>
            <a:pPr algn="l">
              <a:lnSpc>
                <a:spcPct val="120000"/>
              </a:lnSpc>
              <a:spcAft>
                <a:spcPts val="1000"/>
              </a:spcAft>
            </a:pPr>
            <a:r>
              <a:rPr sz="1000" b="1">
                <a:solidFill>
                  <a:srgbClr val="8792AC"/>
                </a:solidFill>
                <a:latin typeface="Calibri"/>
              </a:rPr>
              <a:t>WHERE IT LOOKS</a:t>
            </a:r>
          </a:p>
          <a:p>
            <a:pPr>
              <a:lnSpc>
                <a:spcPct val="100000"/>
              </a:lnSpc>
              <a:spcAft>
                <a:spcPts val="1200"/>
              </a:spcAft>
            </a:pPr>
            <a:r>
              <a:rPr sz="3400" b="1">
                <a:solidFill>
                  <a:srgbClr val="E94F37"/>
                </a:solidFill>
                <a:latin typeface="Calibri"/>
              </a:rPr>
              <a:t>0.5-0.6 kHz</a:t>
            </a:r>
          </a:p>
          <a:p>
            <a:pPr>
              <a:lnSpc>
                <a:spcPct val="130000"/>
              </a:lnSpc>
              <a:spcAft>
                <a:spcPts val="1000"/>
              </a:spcAft>
            </a:pPr>
            <a:r>
              <a:rPr sz="1250" b="0">
                <a:solidFill>
                  <a:srgbClr val="44506B"/>
                </a:solidFill>
                <a:latin typeface="Calibri"/>
              </a:rPr>
              <a:t>SHAP analysis: the model attends to the gaps between words and one narrow low band</a:t>
            </a:r>
          </a:p>
          <a:p>
            <a:pPr>
              <a:lnSpc>
                <a:spcPct val="120000"/>
              </a:lnSpc>
              <a:spcAft>
                <a:spcPts val="0"/>
              </a:spcAft>
            </a:pPr>
            <a:r>
              <a:rPr sz="900" b="0">
                <a:solidFill>
                  <a:srgbClr val="8792AC"/>
                </a:solidFill>
                <a:latin typeface="Calibri"/>
              </a:rPr>
              <a:t>arXiv:2110.03309</a:t>
            </a:r>
          </a:p>
        </p:txBody>
      </p:sp>
      <p:sp>
        <p:nvSpPr>
          <p:cNvPr id="12" name="Rectangle 11"/>
          <p:cNvSpPr/>
          <p:nvPr/>
        </p:nvSpPr>
        <p:spPr>
          <a:xfrm>
            <a:off x="548640" y="4800600"/>
            <a:ext cx="11091672" cy="96012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14400" y="4983480"/>
            <a:ext cx="10424160" cy="621792"/>
          </a:xfrm>
          <a:prstGeom prst="rect">
            <a:avLst/>
          </a:prstGeom>
          <a:noFill/>
        </p:spPr>
        <p:txBody>
          <a:bodyPr wrap="square" lIns="0" rIns="0" tIns="0" bIns="0" anchor="ctr">
            <a:spAutoFit/>
          </a:bodyPr>
          <a:lstStyle/>
          <a:p>
            <a:pPr algn="l">
              <a:lnSpc>
                <a:spcPct val="130000"/>
              </a:lnSpc>
              <a:spcAft>
                <a:spcPts val="0"/>
              </a:spcAft>
            </a:pPr>
            <a:r>
              <a:rPr sz="1450" b="0">
                <a:solidFill>
                  <a:srgbClr val="CADCFC"/>
                </a:solidFill>
                <a:latin typeface="Calibri"/>
              </a:rPr>
              <a:t>The detector wins on what belongs to the corpus, not to the speech. </a:t>
            </a:r>
            <a:r>
              <a:rPr sz="1450" b="1">
                <a:solidFill>
                  <a:srgbClr val="FFFFFF"/>
                </a:solidFill>
                <a:latin typeface="Calibri"/>
              </a:rPr>
              <a:t>Every one of those cues can be taken away in training.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2026-09-15T06:48:07Z</dcterms:created>
  <dcterms:modified xsi:type="dcterms:W3CDTF">2026-09-15T06:48:07Z</dcterms:modified>
</cp:coreProperties>
</file>