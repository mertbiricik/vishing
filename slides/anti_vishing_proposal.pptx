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Target ms</c:v>
                </c:pt>
              </c:strCache>
            </c:strRef>
          </c:tx>
          <c:spPr>
            <a:solidFill>
              <a:srgbClr val="1E2761"/>
            </a:solidFill>
            <a:effectLst/>
          </c:spPr>
          <c:invertIfNegative val="0"/>
          <c:dLbls>
            <c:numFmt formatCode="#,##0" sourceLinked="0"/>
            <c:txPr>
              <a:bodyPr/>
              <a:lstStyle/>
              <a:p>
                <a:pPr>
                  <a:defRPr b="0" i="0" strike="noStrike" sz="1100" u="none">
                    <a:solidFill>
                      <a:srgbClr val="1B1F3B"/>
                    </a:solidFill>
                    <a:latin typeface="Arial"/>
                  </a:defRPr>
                </a:pPr>
              </a:p>
            </c:txPr>
            <c:showLegendKey val="0"/>
            <c:showVal val="1"/>
            <c:showCatName val="0"/>
            <c:showSerName val="0"/>
            <c:showPercent val="0"/>
            <c:showBubbleSize val="0"/>
            <c:showLeaderLines val="0"/>
          </c:dLbls>
          <c:cat>
            <c:multiLvlStrRef>
              <c:f>Sheet1!$A$2:$A$5</c:f>
              <c:multiLvlStrCache>
                <c:ptCount val="4"/>
                <c:lvl>
                  <c:pt idx="0">
                    <c:v>Feature
extraction</c:v>
                  </c:pt>
                  <c:pt idx="1">
                    <c:v>Backbone
inference</c:v>
                  </c:pt>
                  <c:pt idx="2">
                    <c:v>Head +
fusion</c:v>
                  </c:pt>
                  <c:pt idx="3">
                    <c:v>Network /
buffer</c:v>
                  </c:pt>
                </c:lvl>
              </c:multiLvlStrCache>
            </c:multiLvlStrRef>
          </c:cat>
          <c:val>
            <c:numRef>
              <c:f>Sheet1!$B$2:$B$5</c:f>
              <c:numCache>
                <c:formatCode>General</c:formatCode>
                <c:ptCount val="4"/>
                <c:pt idx="0">
                  <c:v>60</c:v>
                </c:pt>
                <c:pt idx="1">
                  <c:v>90</c:v>
                </c:pt>
                <c:pt idx="2">
                  <c:v>20</c:v>
                </c:pt>
                <c:pt idx="3">
                  <c:v>30</c:v>
                </c:pt>
              </c:numCache>
            </c:numRef>
          </c:val>
        </c:ser>
        <c:dLbls>
          <c:numFmt formatCode="#,##0" sourceLinked="0"/>
          <c:txPr>
            <a:bodyPr/>
            <a:lstStyle/>
            <a:p>
              <a:pPr>
                <a:defRPr b="0" i="0" strike="noStrike" sz="1100" u="none">
                  <a:solidFill>
                    <a:srgbClr val="1B1F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44506B"/>
                </a:solidFill>
                <a:latin typeface="Arial"/>
              </a:defRPr>
            </a:pPr>
            <a:endParaRPr lang="en-US"/>
          </a:p>
        </c:txPr>
        <c:crossAx val="2094734552"/>
        <c:crosses val="autoZero"/>
        <c:auto val="1"/>
        <c:lblAlgn val="ctr"/>
        <c:noMultiLvlLbl val="1"/>
      </c:catAx>
      <c:valAx>
        <c:axId val="2094734552"/>
        <c:scaling>
          <c:orientation val="minMax"/>
          <c:max val="110"/>
        </c:scaling>
        <c:delete val="0"/>
        <c:axPos val="l"/>
        <c:majorGridlines>
          <c:spPr>
            <a:ln w="12700" cap="flat">
              <a:solidFill>
                <a:srgbClr val="E5E9F5"/>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ms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792A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framing: this is a proposal for a real-time Presentation Attack Detection (PAD) system that plugs into voice authentication and call-center defenses against AI-cloned voices. Two-day sprint, presenting findings and proposed solution to the panel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stakes before the solution: cloning is cheap now, static detectors don't generalize to generators they weren't trained on (this is the central finding we're designing against), and the attack surface is the authentication moment itself -- so false negatives are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brief in our own words so the panel knows we understood the ask: robust + generalized PAD model, real-time capable, 2-day timeframe, 20-minute readout. The italic line is our own success criterion, sharper than the brief -- generalization to unseen generators is the real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This is the single most important design decision in the deck, and it now needs a caveat.</a:t>
            </a:r>
          </a:p>
          <a:p/>
          <a:p>
            <a:r>
              <a:rPr sz="1200"/>
              <a:t>The claim: detectors trained from scratch overfit to the vocoders they saw. Foundation models generalise better. The source is SONAR, which is reading [1] from the brief, so say the name.</a:t>
            </a:r>
          </a:p>
          <a:p>
            <a:r>
              <a:rPr sz="1200"/>
              <a:t>Numbers if asked: on In-the-Wild, trained on Wavefake, Wav2Vec2BERT reaches 7.676% EER where AASIST is 27.277%, RawNet2 46.792% and LFCC-LCNN 99.2%, which is worse than guessing.</a:t>
            </a:r>
          </a:p>
          <a:p/>
          <a:p>
            <a:r>
              <a:rPr sz="1200"/>
              <a:t>Now the caveat, and volunteer it rather than waiting to be caught. Delgado et al., ICASSP 2026, cloned voices with ElevenLabs, Play.ht and OpenAI Voice Engine and presented them into a real call-centre path at 8 kHz. There, a 3.55M-parameter logmel-ResNet matched WavLM Large, and beat it on real-world injection, 89.4% versus 88.2% detection at 1% false alarm.</a:t>
            </a:r>
          </a:p>
          <a:p/>
          <a:p>
            <a:r>
              <a:rPr sz="1200"/>
              <a:t>Both results are true and they are about different axes. SONAR measures generalisation across generators. Delgado measures the real telephony path. Our deployment is the second one, so we treat the foundation-model choice as a hypothesis to test, not a settled bet. That is why on-device triage sits next to the heavy backbone in the systems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streaming audio in, dual feature extraction (SSL embeddings plus handcrafted spectral/pitch cues so we're not solely dependent on the backbone), a lightweight attention head kept small on purpose for latency, and a continuously-updated trust score. The callout box is the hook into the next slide -- this score isn't the end of the pipeline, it's an input to a bigger decision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answers the 'operational feasibility' requirement from the brief directly. Four levers: streaming windows instead of whole-call batch processing, compression to hit latency, training on degraded/codec/narrowband audio because real vishing calls are never studio-clean, and an edge/cloud split so the perceived latency stays low even though the full model runs heavier analysis asynchronously.</a:t>
            </a:r>
          </a:p>
          <a:p/>
          <a:p>
            <a:r>
              <a:t>Measured ourselves from the official ASVspoof 2021 baseline scores. RawNet2 by codec: none 5.84, u-law 6.33, G.722 6.41, a-law 6.59, Opus 7.95, GSM 10.66, PSTN 16.72 percent EER. Note a-law and u-law are 8 kHz narrowband yet beat wideband Opus, so the simple 'narrowband is the problem' story is wrong. G.711 only band-limits and keeps the waveform; GSM is a 13 kbps LPC vocoder and PSTN adds unknown repeated transcoding. That is what our augmentation has to cover.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'reducing dangers associated with multi-layer phishing assaults' part of the brief. Our voice PAD is layer 1 -- necessary but not sufficient. Layer 2 adds call-metadata and behavioral context. Layer 3 is where the adaptive decision actually gets made: a borderline voice score plus high-risk context can still trigger step-up authentication even if neither signal alone crosses a hard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Evaluation has to prove generalization, not accuracy. Three things we track.</a:t>
            </a:r>
          </a:p>
          <a:p/>
          <a:p>
            <a:r>
              <a:rPr sz="1200"/>
              <a:t>EER and min t-DCF on held-out splits. Standard PAD metrics, not raw accuracy.</a:t>
            </a:r>
          </a:p>
          <a:p/>
          <a:p>
            <a:r>
              <a:rPr sz="1200"/>
              <a:t>False alarms per call-minute, because a streaming detector is judged per call, not per window. Do</a:t>
            </a:r>
          </a:p>
          <a:p>
            <a:r>
              <a:rPr sz="1200"/>
              <a:t>the arithmetic out loud if asked: 5% per-window error, 2-second windows, 30 windows in a minute,</a:t>
            </a:r>
          </a:p>
          <a:p>
            <a:r>
              <a:rPr sz="1200"/>
              <a:t>one minus 0.95 to the 30th is 79%. Four calls in five would raise a false alarm. That is why</a:t>
            </a:r>
          </a:p>
          <a:p>
            <a:r>
              <a:rPr sz="1200"/>
              <a:t>per-window error is the wrong number to put on a slide.</a:t>
            </a:r>
          </a:p>
          <a:p/>
          <a:p>
            <a:r>
              <a:rPr sz="1200"/>
              <a:t>Leave-one-generator-out. Whole vocoder and TTS families kept out of training, so cross-generator</a:t>
            </a:r>
          </a:p>
          <a:p>
            <a:r>
              <a:rPr sz="1200"/>
              <a:t>robustness is measured rather than assumed.</a:t>
            </a:r>
          </a:p>
          <a:p/>
          <a:p>
            <a:r>
              <a:rPr sz="1200"/>
              <a:t>Every EER reported twice, with and without silence. ASVspoof 2021 ships a VAD-trimmed subset of</a:t>
            </a:r>
          </a:p>
          <a:p>
            <a:r>
              <a:rPr sz="1200"/>
              <a:t>16,926 trials, so this costs us nothing, and after slide 4 any expert in the room will ask for it.</a:t>
            </a:r>
          </a:p>
          <a:p/>
          <a:p>
            <a:r>
              <a:rPr sz="1200"/>
              <a:t>The chart is where the time goes per 2-second chunk, not a promise. The alarm is read by a person,</a:t>
            </a:r>
          </a:p>
          <a:p>
            <a:r>
              <a:rPr sz="1200"/>
              <a:t>so the real budget is seconds. Per chunk we only have to keep up with the stream.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Keep this short. It exists so the panel knows the timeline is real.</a:t>
            </a:r>
          </a:p>
          <a:p/>
          <a:p>
            <a:r>
              <a:rPr sz="1200"/>
              <a:t>The 2-day sprint is this deck: survey the generalization failure, fix the evaluation protocol,</a:t>
            </a:r>
          </a:p>
          <a:p>
            <a:r>
              <a:rPr sz="1200"/>
              <a:t>commit to an architecture. We are not claiming to have built a system in two days.</a:t>
            </a:r>
          </a:p>
          <a:p/>
          <a:p>
            <a:r>
              <a:rPr sz="1200"/>
              <a:t>Weeks 2 to 4, baseline. Reproduce the published clean-condition EER. We can already validate our</a:t>
            </a:r>
          </a:p>
          <a:p>
            <a:r>
              <a:rPr sz="1200"/>
              <a:t>evaluation code against the official baseline score files that ship with the challenge keys, so if</a:t>
            </a:r>
          </a:p>
          <a:p>
            <a:r>
              <a:rPr sz="1200"/>
              <a:t>our number does not match, the bug is ours and we find it in week 3 rather than week 10.</a:t>
            </a:r>
          </a:p>
          <a:p/>
          <a:p>
            <a:r>
              <a:rPr sz="1200"/>
              <a:t>Weeks 5 to 9 are the core. Degraded-channel and silence augmentation, the foundation-model</a:t>
            </a:r>
          </a:p>
          <a:p>
            <a:r>
              <a:rPr sz="1200"/>
              <a:t>front-end, leave-one-generator-out. This is where the gap closes or it does not.</a:t>
            </a:r>
          </a:p>
          <a:p/>
          <a:p>
            <a:r>
              <a:rPr sz="1200"/>
              <a:t>Weeks 10 to 12, streaming inference, compression, latency on the device, then the report.</a:t>
            </a:r>
          </a:p>
          <a:p/>
          <a:p>
            <a:r>
              <a:rPr sz="1200"/>
              <a:t>Say the risk out loud: weeks 5 to 9 are where we expect to slip. Building an augmentation pipeline</a:t>
            </a:r>
          </a:p>
          <a:p>
            <a:r>
              <a:rPr sz="1200"/>
              <a:t>and chasing generalization both historically overrun. Compute is one 16 GB laptop GPU at roughly</a:t>
            </a:r>
          </a:p>
          <a:p>
            <a:r>
              <a:rPr sz="1200"/>
              <a:t>1.5 to 3 hours per training run, which serialises the experiments.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limitations -- it builds credibility with an expert panel. None of these are fatal to the approach; they're the honest boundary of what a 2-day sprint can prove versus what a production rollout would need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questions. Be ready to defend: (1) why foundation models over training from scratch, (2) how the ~200ms latency target holds up under real degraded-channel audio, (3) how the trust score actually gets consumed by the multi-layer fusion layer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number behind the claim on the previous slide. Walk the bars top to bottom.</a:t>
            </a:r>
          </a:p>
          <a:p/>
          <a:p>
            <a:r>
              <a:t>Bar 1: RawGAT-ST, 1.23% EER on ASVspoof 2019 LA eval. The published state of the art.</a:t>
            </a:r>
          </a:p>
          <a:p>
            <a:r>
              <a:t>Bar 2: the SAME model, same weights, nothing retrained, tested on In-the-Wild, a corpus of found</a:t>
            </a:r>
          </a:p>
          <a:p>
            <a:r>
              <a:t>celebrity audio. 37.15%. Say "same weights" out loud, that is the point.</a:t>
            </a:r>
          </a:p>
          <a:p>
            <a:r>
              <a:t>Bar 3: an ASVspoof-trained detector against 2026 cloned voices over a real VoIP call. 50.28%,</a:t>
            </a:r>
          </a:p>
          <a:p>
            <a:r>
              <a:t>which is a coin flip. Source is RTCFake, a recent preprint, so say "a recent preprint reports"</a:t>
            </a:r>
          </a:p>
          <a:p>
            <a:r>
              <a:t>rather than presenting it as settled.</a:t>
            </a:r>
          </a:p>
          <a:p/>
          <a:p>
            <a:r>
              <a:t>Then the navy bar: train the same architecture on modern voices instead and it drops to 5.81%.</a:t>
            </a:r>
          </a:p>
          <a:p>
            <a:r>
              <a:t>So this is not a law of nature, it is a training and data problem. That is the whole reason the</a:t>
            </a:r>
          </a:p>
          <a:p>
            <a:r>
              <a:t>project is worth doing, and it sets up the foundation-model bet two slides later.</a:t>
            </a:r>
          </a:p>
          <a:p/>
          <a:p>
            <a:r>
              <a:t>If asked whether more data fixes it: measured, it does not. 33.9% to 33.1%. Every ASVspoof split</a:t>
            </a:r>
          </a:p>
          <a:p>
            <a:r>
              <a:t>derives from the same VCTK recordings, so more of it adds no new domain.</a:t>
            </a:r>
          </a:p>
          <a:p/>
          <a:p>
            <a:r>
              <a:t>EER means equal error rate. 50% is random guessing.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findings, one conclusion. Do not read the cards, explain each in a sentence.</a:t>
            </a:r>
          </a:p>
          <a:p/>
          <a:p>
            <a:r>
              <a:t>1. Muller et al. trained a classifier on nothing but the DURATION of the silence at the start of</a:t>
            </a:r>
          </a:p>
          <a:p>
            <a:r>
              <a:t>   the clip. 85% accuracy, 15.1% EER. In ASVspoof, real recordings happen to have longer leading</a:t>
            </a:r>
          </a:p>
          <a:p>
            <a:r>
              <a:t>   silence than fake ones, so silence length leaks the label.</a:t>
            </a:r>
          </a:p>
          <a:p>
            <a:r>
              <a:t>2. SiFDetectCracker, ACM MM 2023. A black-box attack that changes only the background noise and</a:t>
            </a:r>
          </a:p>
          <a:p>
            <a:r>
              <a:t>   the mute segments and never touches the speech itself. 82.2% success against RawNet2,</a:t>
            </a:r>
          </a:p>
          <a:p>
            <a:r>
              <a:t>   RawGAT-ST and others.</a:t>
            </a:r>
          </a:p>
          <a:p>
            <a:r>
              <a:t>3. SHAP analysis, arXiv:2110.03309. The classifier attends to non-speech intervals and one narrow</a:t>
            </a:r>
          </a:p>
          <a:p>
            <a:r>
              <a:t>   band around 0.5 to 0.6 kHz.</a:t>
            </a:r>
          </a:p>
          <a:p/>
          <a:p>
            <a:r>
              <a:t>Conclusion, say it out loud: a meaningful share of published performance is a dataset artifact,</a:t>
            </a:r>
          </a:p>
          <a:p>
            <a:r>
              <a:t>not voice authenticity. That is precisely why it does not transfer. An attacker can strip the</a:t>
            </a:r>
          </a:p>
          <a:p>
            <a:r>
              <a:t>silence trivially, and a live phone call has no clean studio silence anyway.</a:t>
            </a:r>
          </a:p>
          <a:p/>
          <a:p>
            <a:r>
              <a:t>This is also why we go to foundation models on the next slide rather than training a detector</a:t>
            </a:r>
          </a:p>
          <a:p>
            <a:r>
              <a:t>from scratch on spectrograms, and why degraded-channel and silence augmentation are in the</a:t>
            </a:r>
          </a:p>
          <a:p>
            <a:r>
              <a:t>engineering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chart" Target="../charts/chart1.xml"/><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pic>
        <p:nvPicPr>
          <p:cNvPr id="2" name="Image 0" descr="/home/claude/deck/icons/shield_1E2761.png">    </p:cNvPr>
          <p:cNvPicPr>
            <a:picLocks noChangeAspect="1"/>
          </p:cNvPicPr>
          <p:nvPr/>
        </p:nvPicPr>
        <p:blipFill>
          <a:blip r:embed="rId1">
            <a:alphaModFix amt="45000"/>
          </a:blip>
          <a:stretch>
            <a:fillRect/>
          </a:stretch>
        </p:blipFill>
        <p:spPr>
          <a:xfrm>
            <a:off x="8778240" y="4023360"/>
            <a:ext cx="3291840" cy="3291840"/>
          </a:xfrm>
          <a:prstGeom prst="rect">
            <a:avLst/>
          </a:prstGeom>
        </p:spPr>
      </p:pic>
      <p:pic>
        <p:nvPicPr>
          <p:cNvPr id="3" name="Image 1" descr="/home/claude/deck/icons/shield_CADCFC.png">    </p:cNvPr>
          <p:cNvPicPr>
            <a:picLocks noChangeAspect="1"/>
          </p:cNvPicPr>
          <p:nvPr/>
        </p:nvPicPr>
        <p:blipFill>
          <a:blip r:embed="rId2">
            <a:alphaModFix amt="22000"/>
          </a:blip>
          <a:stretch>
            <a:fillRect/>
          </a:stretch>
        </p:blipFill>
        <p:spPr>
          <a:xfrm>
            <a:off x="9052560" y="1005840"/>
            <a:ext cx="2377440" cy="2377440"/>
          </a:xfrm>
          <a:prstGeom prst="rect">
            <a:avLst/>
          </a:prstGeom>
        </p:spPr>
      </p:pic>
      <p:sp>
        <p:nvSpPr>
          <p:cNvPr id="4" name="Text 0"/>
          <p:cNvSpPr txBox="1"/>
          <p:nvPr/>
        </p:nvSpPr>
        <p:spPr>
          <a:xfrm>
            <a:off x="640080" y="1371600"/>
            <a:ext cx="9144000" cy="320040"/>
          </a:xfrm>
          <a:prstGeom prst="rect">
            <a:avLst/>
          </a:prstGeom>
          <a:noFill/>
          <a:ln/>
        </p:spPr>
        <p:txBody>
          <a:bodyPr wrap="square" lIns="0" tIns="0" rIns="0" bIns="0" rtlCol="0" anchor="ctr"/>
          <a:lstStyle/>
          <a:p>
            <a:pPr indent="0" marL="0">
              <a:buNone/>
            </a:pPr>
            <a:r>
              <a:rPr lang="en-US" sz="1300" b="1" spc="300" kern="0" dirty="0">
                <a:solidFill>
                  <a:srgbClr val="CADCFC"/>
                </a:solidFill>
                <a:latin typeface="Calibri" pitchFamily="34" charset="0"/>
                <a:ea typeface="Calibri" pitchFamily="34" charset="-122"/>
                <a:cs typeface="Calibri" pitchFamily="34" charset="-120"/>
              </a:rPr>
              <a:t>VISHING CHALLENGE  ·  PRESENTATION ATTACK DETECTION</a:t>
            </a:r>
            <a:endParaRPr lang="en-US" sz="1300" dirty="0"/>
          </a:p>
        </p:txBody>
      </p:sp>
      <p:sp>
        <p:nvSpPr>
          <p:cNvPr id="5" name="Text 1"/>
          <p:cNvSpPr txBox="1"/>
          <p:nvPr/>
        </p:nvSpPr>
        <p:spPr>
          <a:xfrm>
            <a:off x="594360" y="1828800"/>
            <a:ext cx="9875520" cy="192024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Deepfake Voice Detection</a:t>
            </a:r>
            <a:endParaRPr lang="en-US" sz="4200" dirty="0"/>
          </a:p>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for Anti-Vishing Systems</a:t>
            </a:r>
            <a:endParaRPr lang="en-US" sz="4200" dirty="0"/>
          </a:p>
        </p:txBody>
      </p:sp>
      <p:sp>
        <p:nvSpPr>
          <p:cNvPr id="6" name="Text 2"/>
          <p:cNvSpPr txBox="1"/>
          <p:nvPr/>
        </p:nvSpPr>
        <p:spPr>
          <a:xfrm>
            <a:off x="640080" y="3794760"/>
            <a:ext cx="8412480" cy="822960"/>
          </a:xfrm>
          <a:prstGeom prst="rect">
            <a:avLst/>
          </a:prstGeom>
          <a:noFill/>
          <a:ln/>
        </p:spPr>
        <p:txBody>
          <a:bodyPr wrap="square" lIns="0" tIns="0" rIns="0" bIns="0" rtlCol="0" anchor="ctr"/>
          <a:lstStyle/>
          <a:p>
            <a:pPr indent="0" marL="0">
              <a:lnSpc>
                <a:spcPct val="130000"/>
              </a:lnSpc>
              <a:buNone/>
            </a:pPr>
            <a:r>
              <a:rPr sz="1600">
                <a:solidFill>
                  <a:srgbClr val="CADCFC"/>
                </a:solidFill>
                <a:latin typeface="Calibri"/>
              </a:rPr>
              <a:t>A real-time, generalizable Presentation Attack Detection architecture
that runs on the callee's phone and feeds a multi-layer phishing defense</a:t>
            </a:r>
            <a:endParaRPr lang="en-US" sz="1600" dirty="0"/>
          </a:p>
        </p:txBody>
      </p:sp>
      <p:sp>
        <p:nvSpPr>
          <p:cNvPr id="7" name="Shape 3"/>
          <p:cNvSpPr/>
          <p:nvPr/>
        </p:nvSpPr>
        <p:spPr>
          <a:xfrm>
            <a:off x="640080" y="4892040"/>
            <a:ext cx="2011680" cy="0"/>
          </a:xfrm>
          <a:prstGeom prst="line">
            <a:avLst/>
          </a:prstGeom>
          <a:noFill/>
          <a:ln w="31750">
            <a:solidFill>
              <a:srgbClr val="E94F37"/>
            </a:solidFill>
            <a:prstDash val="solid"/>
          </a:ln>
        </p:spPr>
        <p:txBody>
          <a:bodyPr/>
          <a:p/>
        </p:txBody>
      </p:sp>
      <p:sp>
        <p:nvSpPr>
          <p:cNvPr id="8" name="Text 4"/>
          <p:cNvSpPr txBox="1"/>
          <p:nvPr/>
        </p:nvSpPr>
        <p:spPr>
          <a:xfrm>
            <a:off x="640080" y="5074920"/>
            <a:ext cx="7315200" cy="320040"/>
          </a:xfrm>
          <a:prstGeom prst="rect">
            <a:avLst/>
          </a:prstGeom>
          <a:noFill/>
          <a:ln/>
        </p:spPr>
        <p:txBody>
          <a:bodyPr wrap="square" lIns="0" tIns="0" rIns="0" bIns="0" rtlCol="0" anchor="ctr"/>
          <a:lstStyle/>
          <a:p>
            <a:pPr indent="0" marL="0">
              <a:buNone/>
            </a:pPr>
            <a:r>
              <a:rPr lang="en-US" sz="1200" dirty="0">
                <a:solidFill>
                  <a:srgbClr val="8792AC"/>
                </a:solidFill>
                <a:latin typeface="Calibri" pitchFamily="34" charset="0"/>
                <a:ea typeface="Calibri" pitchFamily="34" charset="-122"/>
                <a:cs typeface="Calibri" pitchFamily="34" charset="-120"/>
              </a:rPr>
              <a:t>Solution Proposal  ·  2-Day Sprint  ·  Panel Review</a:t>
            </a:r>
            <a:endParaRPr lang="en-US" sz="1200" dirty="0"/>
          </a:p>
        </p:txBody>
      </p:sp>
      <p:sp>
        <p:nvSpPr>
          <p:cNvPr id="9" name="TextBox 8"/>
          <p:cNvSpPr txBox="1"/>
          <p:nvPr/>
        </p:nvSpPr>
        <p:spPr>
          <a:xfrm>
            <a:off x="640080" y="5367528"/>
            <a:ext cx="7315200" cy="292608"/>
          </a:xfrm>
          <a:prstGeom prst="rect">
            <a:avLst/>
          </a:prstGeom>
          <a:noFill/>
        </p:spPr>
        <p:txBody>
          <a:bodyPr wrap="square" lIns="0" rIns="0" tIns="0" bIns="0">
            <a:spAutoFit/>
          </a:bodyPr>
          <a:lstStyle/>
          <a:p>
            <a:pPr algn="l">
              <a:spcAft>
                <a:spcPts val="0"/>
              </a:spcAft>
            </a:pPr>
            <a:r>
              <a:rPr sz="1200" b="0">
                <a:solidFill>
                  <a:srgbClr val="8792AC"/>
                </a:solidFill>
                <a:latin typeface="Calibri"/>
              </a:rPr>
              <a:t>Mert Biricik  ·  Ameer Hamza  ·  Khalid Ibrahimi  ·  Ward Zahran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Voice cloning has outpaced voice defense</a:t>
            </a:r>
            <a:endParaRPr lang="en-US" sz="3000" dirty="0"/>
          </a:p>
        </p:txBody>
      </p:sp>
      <p:sp>
        <p:nvSpPr>
          <p:cNvPr id="4" name="Shape 2"/>
          <p:cNvSpPr/>
          <p:nvPr/>
        </p:nvSpPr>
        <p:spPr>
          <a:xfrm>
            <a:off x="548640" y="1600200"/>
            <a:ext cx="685800" cy="685800"/>
          </a:xfrm>
          <a:prstGeom prst="ellipse">
            <a:avLst/>
          </a:prstGeom>
          <a:solidFill>
            <a:srgbClr val="1E2761"/>
          </a:solidFill>
          <a:ln/>
        </p:spPr>
        <p:txBody>
          <a:bodyPr/>
          <a:p/>
        </p:txBody>
      </p:sp>
      <p:pic>
        <p:nvPicPr>
          <p:cNvPr id="5" name="Image 0" descr="/home/claude/deck/icons/mic_FFFFFF.png">    </p:cNvPr>
          <p:cNvPicPr>
            <a:picLocks noChangeAspect="1"/>
          </p:cNvPicPr>
          <p:nvPr/>
        </p:nvPicPr>
        <p:blipFill>
          <a:blip r:embed="rId1"/>
          <a:stretch>
            <a:fillRect/>
          </a:stretch>
        </p:blipFill>
        <p:spPr>
          <a:xfrm>
            <a:off x="708660" y="1760220"/>
            <a:ext cx="365760" cy="365760"/>
          </a:xfrm>
          <a:prstGeom prst="rect">
            <a:avLst/>
          </a:prstGeom>
        </p:spPr>
      </p:pic>
      <p:sp>
        <p:nvSpPr>
          <p:cNvPr id="6" name="Text 3"/>
          <p:cNvSpPr txBox="1"/>
          <p:nvPr/>
        </p:nvSpPr>
        <p:spPr>
          <a:xfrm>
            <a:off x="1463040" y="1554480"/>
            <a:ext cx="9875520" cy="365760"/>
          </a:xfrm>
          <a:prstGeom prst="rect">
            <a:avLst/>
          </a:prstGeom>
          <a:noFill/>
          <a:ln/>
        </p:spPr>
        <p:txBody>
          <a:bodyPr wrap="square" lIns="0" tIns="0" rIns="0" bIns="0" rtlCol="0" anchor="ctr"/>
          <a:lstStyle/>
          <a:p>
            <a:pPr indent="0" marL="0">
              <a:buNone/>
            </a:pPr>
            <a:r>
              <a:rPr lang="en-US" sz="1700" b="1" dirty="0">
                <a:solidFill>
                  <a:srgbClr val="1B1F3B"/>
                </a:solidFill>
                <a:latin typeface="Calibri" pitchFamily="34" charset="0"/>
                <a:ea typeface="Calibri" pitchFamily="34" charset="-122"/>
                <a:cs typeface="Calibri" pitchFamily="34" charset="-120"/>
              </a:rPr>
              <a:t>Cloning is now trivial</a:t>
            </a:r>
            <a:endParaRPr lang="en-US" sz="1700" dirty="0"/>
          </a:p>
        </p:txBody>
      </p:sp>
      <p:sp>
        <p:nvSpPr>
          <p:cNvPr id="7" name="Text 4"/>
          <p:cNvSpPr txBox="1"/>
          <p:nvPr/>
        </p:nvSpPr>
        <p:spPr>
          <a:xfrm>
            <a:off x="1463040" y="1920240"/>
            <a:ext cx="9875520" cy="640080"/>
          </a:xfrm>
          <a:prstGeom prst="rect">
            <a:avLst/>
          </a:prstGeom>
          <a:noFill/>
          <a:ln/>
        </p:spPr>
        <p:txBody>
          <a:bodyPr wrap="square" lIns="0" tIns="0" rIns="0" bIns="0" rtlCol="0" anchor="ctr"/>
          <a:lstStyle/>
          <a:p>
            <a:pPr indent="0" marL="0">
              <a:lnSpc>
                <a:spcPct val="125000"/>
              </a:lnSpc>
              <a:buNone/>
            </a:pPr>
            <a:r>
              <a:rPr sz="1300">
                <a:solidFill>
                  <a:srgbClr val="44506B"/>
                </a:solidFill>
                <a:latin typeface="Calibri"/>
              </a:rPr>
              <a:t>Modern TTS and voice-conversion models build a convincing copy of a voice from a few minutes of public audio, so impersonation no longer takes skill.</a:t>
            </a:r>
            <a:endParaRPr lang="en-US" sz="1300" dirty="0"/>
          </a:p>
        </p:txBody>
      </p:sp>
      <p:sp>
        <p:nvSpPr>
          <p:cNvPr id="8" name="Shape 5"/>
          <p:cNvSpPr/>
          <p:nvPr/>
        </p:nvSpPr>
        <p:spPr>
          <a:xfrm>
            <a:off x="548640" y="3017520"/>
            <a:ext cx="685800" cy="685800"/>
          </a:xfrm>
          <a:prstGeom prst="ellipse">
            <a:avLst/>
          </a:prstGeom>
          <a:solidFill>
            <a:srgbClr val="1E2761"/>
          </a:solidFill>
          <a:ln/>
        </p:spPr>
        <p:txBody>
          <a:bodyPr/>
          <a:p/>
        </p:txBody>
      </p:sp>
      <p:pic>
        <p:nvPicPr>
          <p:cNvPr id="9" name="Image 1" descr="/home/claude/deck/icons/alert_FFFFFF.png">    </p:cNvPr>
          <p:cNvPicPr>
            <a:picLocks noChangeAspect="1"/>
          </p:cNvPicPr>
          <p:nvPr/>
        </p:nvPicPr>
        <p:blipFill>
          <a:blip r:embed="rId2"/>
          <a:stretch>
            <a:fillRect/>
          </a:stretch>
        </p:blipFill>
        <p:spPr>
          <a:xfrm>
            <a:off x="708660" y="3177540"/>
            <a:ext cx="365760" cy="365760"/>
          </a:xfrm>
          <a:prstGeom prst="rect">
            <a:avLst/>
          </a:prstGeom>
        </p:spPr>
      </p:pic>
      <p:sp>
        <p:nvSpPr>
          <p:cNvPr id="10" name="Text 6"/>
          <p:cNvSpPr txBox="1"/>
          <p:nvPr/>
        </p:nvSpPr>
        <p:spPr>
          <a:xfrm>
            <a:off x="1463040" y="2971800"/>
            <a:ext cx="9875520" cy="365760"/>
          </a:xfrm>
          <a:prstGeom prst="rect">
            <a:avLst/>
          </a:prstGeom>
          <a:noFill/>
          <a:ln/>
        </p:spPr>
        <p:txBody>
          <a:bodyPr wrap="square" lIns="0" tIns="0" rIns="0" bIns="0" rtlCol="0" anchor="ctr"/>
          <a:lstStyle/>
          <a:p>
            <a:pPr indent="0" marL="0">
              <a:buNone/>
            </a:pPr>
            <a:r>
              <a:rPr lang="en-US" sz="1700" b="1" dirty="0">
                <a:solidFill>
                  <a:srgbClr val="1B1F3B"/>
                </a:solidFill>
                <a:latin typeface="Calibri" pitchFamily="34" charset="0"/>
                <a:ea typeface="Calibri" pitchFamily="34" charset="-122"/>
                <a:cs typeface="Calibri" pitchFamily="34" charset="-120"/>
              </a:rPr>
              <a:t>Static detectors collapse on new generators</a:t>
            </a:r>
            <a:endParaRPr lang="en-US" sz="1700" dirty="0"/>
          </a:p>
        </p:txBody>
      </p:sp>
      <p:sp>
        <p:nvSpPr>
          <p:cNvPr id="11" name="Text 7"/>
          <p:cNvSpPr txBox="1"/>
          <p:nvPr/>
        </p:nvSpPr>
        <p:spPr>
          <a:xfrm>
            <a:off x="1463040" y="3337560"/>
            <a:ext cx="9875520" cy="640080"/>
          </a:xfrm>
          <a:prstGeom prst="rect">
            <a:avLst/>
          </a:prstGeom>
          <a:noFill/>
          <a:ln/>
        </p:spPr>
        <p:txBody>
          <a:bodyPr wrap="square" lIns="0" tIns="0" rIns="0" bIns="0" rtlCol="0" anchor="ctr"/>
          <a:lstStyle/>
          <a:p>
            <a:pPr indent="0" marL="0">
              <a:lnSpc>
                <a:spcPct val="125000"/>
              </a:lnSpc>
              <a:buNone/>
            </a:pPr>
            <a:r>
              <a:rPr sz="1300">
                <a:solidFill>
                  <a:srgbClr val="44506B"/>
                </a:solidFill>
                <a:latin typeface="Calibri"/>
              </a:rPr>
              <a:t>Detectors trained on known synthesis methods do not carry over to generators they have not seen (Li &amp; Chen, 2024).</a:t>
            </a:r>
            <a:endParaRPr lang="en-US" sz="1300" dirty="0"/>
          </a:p>
        </p:txBody>
      </p:sp>
      <p:sp>
        <p:nvSpPr>
          <p:cNvPr id="12" name="Shape 8"/>
          <p:cNvSpPr/>
          <p:nvPr/>
        </p:nvSpPr>
        <p:spPr>
          <a:xfrm>
            <a:off x="548640" y="4434840"/>
            <a:ext cx="685800" cy="685800"/>
          </a:xfrm>
          <a:prstGeom prst="ellipse">
            <a:avLst/>
          </a:prstGeom>
          <a:solidFill>
            <a:srgbClr val="1E2761"/>
          </a:solidFill>
          <a:ln/>
        </p:spPr>
        <p:txBody>
          <a:bodyPr/>
          <a:p/>
        </p:txBody>
      </p:sp>
      <p:pic>
        <p:nvPicPr>
          <p:cNvPr id="13" name="Image 2" descr="/home/claude/deck/icons/phoneoff_FFFFFF.png">    </p:cNvPr>
          <p:cNvPicPr>
            <a:picLocks noChangeAspect="1"/>
          </p:cNvPicPr>
          <p:nvPr/>
        </p:nvPicPr>
        <p:blipFill>
          <a:blip r:embed="rId3"/>
          <a:stretch>
            <a:fillRect/>
          </a:stretch>
        </p:blipFill>
        <p:spPr>
          <a:xfrm>
            <a:off x="708660" y="4594860"/>
            <a:ext cx="365760" cy="365760"/>
          </a:xfrm>
          <a:prstGeom prst="rect">
            <a:avLst/>
          </a:prstGeom>
        </p:spPr>
      </p:pic>
      <p:sp>
        <p:nvSpPr>
          <p:cNvPr id="14" name="Text 9"/>
          <p:cNvSpPr txBox="1"/>
          <p:nvPr/>
        </p:nvSpPr>
        <p:spPr>
          <a:xfrm>
            <a:off x="1463040" y="4389120"/>
            <a:ext cx="9875520" cy="365760"/>
          </a:xfrm>
          <a:prstGeom prst="rect">
            <a:avLst/>
          </a:prstGeom>
          <a:noFill/>
          <a:ln/>
        </p:spPr>
        <p:txBody>
          <a:bodyPr wrap="square" lIns="0" tIns="0" rIns="0" bIns="0" rtlCol="0" anchor="ctr"/>
          <a:lstStyle/>
          <a:p>
            <a:pPr indent="0" marL="0">
              <a:buNone/>
            </a:pPr>
            <a:r>
              <a:rPr sz="1700" b="1">
                <a:solidFill>
                  <a:srgbClr val="1B1F3B"/>
                </a:solidFill>
                <a:latin typeface="Calibri"/>
              </a:rPr>
              <a:t>The stakes sit with the person answering</a:t>
            </a:r>
            <a:endParaRPr lang="en-US" sz="1700" dirty="0"/>
          </a:p>
        </p:txBody>
      </p:sp>
      <p:sp>
        <p:nvSpPr>
          <p:cNvPr id="15" name="Text 10"/>
          <p:cNvSpPr txBox="1"/>
          <p:nvPr/>
        </p:nvSpPr>
        <p:spPr>
          <a:xfrm>
            <a:off x="1463040" y="4754880"/>
            <a:ext cx="9875520" cy="640080"/>
          </a:xfrm>
          <a:prstGeom prst="rect">
            <a:avLst/>
          </a:prstGeom>
          <a:noFill/>
          <a:ln/>
        </p:spPr>
        <p:txBody>
          <a:bodyPr wrap="square" lIns="0" tIns="0" rIns="0" bIns="0" rtlCol="0" anchor="ctr"/>
          <a:lstStyle/>
          <a:p>
            <a:pPr indent="0" marL="0">
              <a:lnSpc>
                <a:spcPct val="125000"/>
              </a:lnSpc>
              <a:buNone/>
            </a:pPr>
            <a:r>
              <a:rPr sz="1300">
                <a:solidFill>
                  <a:srgbClr val="44506B"/>
                </a:solidFill>
                <a:latin typeface="Calibri"/>
              </a:rPr>
              <a:t>A cloned voice asking for an urgent transfer reaches the victim directly, with nothing behind it, a single miss is costly.</a:t>
            </a:r>
            <a:endParaRPr lang="en-US" sz="1300" dirty="0"/>
          </a:p>
        </p:txBody>
      </p:sp>
      <p:sp>
        <p:nvSpPr>
          <p:cNvPr id="16" name="Text 11"/>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17" name="Text 12"/>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2</a:t>
            </a:r>
            <a:endParaRPr lang="en-US" sz="9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9144000" cy="274320"/>
          </a:xfrm>
          <a:prstGeom prst="rect">
            <a:avLst/>
          </a:prstGeom>
          <a:noFill/>
        </p:spPr>
        <p:txBody>
          <a:bodyPr wrap="square" lIns="0" rIns="0" tIns="0" bIns="0" anchor="t">
            <a:spAutoFit/>
          </a:bodyPr>
          <a:lstStyle/>
          <a:p>
            <a:pPr algn="l">
              <a:lnSpc>
                <a:spcPct val="120000"/>
              </a:lnSpc>
              <a:spcAft>
                <a:spcPts val="0"/>
              </a:spcAft>
            </a:pPr>
            <a:r>
              <a:rPr sz="1200" b="1">
                <a:solidFill>
                  <a:srgbClr val="E94F37"/>
                </a:solidFill>
                <a:latin typeface="Calibri"/>
              </a:rPr>
              <a:t>THE EVIDENCE</a:t>
            </a:r>
          </a:p>
        </p:txBody>
      </p:sp>
      <p:sp>
        <p:nvSpPr>
          <p:cNvPr id="3" name="TextBox 2"/>
          <p:cNvSpPr txBox="1"/>
          <p:nvPr/>
        </p:nvSpPr>
        <p:spPr>
          <a:xfrm>
            <a:off x="548640" y="621792"/>
            <a:ext cx="11155680" cy="777240"/>
          </a:xfrm>
          <a:prstGeom prst="rect">
            <a:avLst/>
          </a:prstGeom>
          <a:noFill/>
        </p:spPr>
        <p:txBody>
          <a:bodyPr wrap="square" lIns="0" rIns="0" tIns="0" bIns="0" anchor="t">
            <a:spAutoFit/>
          </a:bodyPr>
          <a:lstStyle/>
          <a:p>
            <a:pPr algn="l">
              <a:lnSpc>
                <a:spcPct val="110000"/>
              </a:lnSpc>
              <a:spcAft>
                <a:spcPts val="0"/>
              </a:spcAft>
            </a:pPr>
            <a:r>
              <a:rPr sz="3000" b="1">
                <a:solidFill>
                  <a:srgbClr val="1B1F3B"/>
                </a:solidFill>
                <a:latin typeface="Cambria"/>
              </a:rPr>
              <a:t>How far it falls</a:t>
            </a:r>
          </a:p>
        </p:txBody>
      </p:sp>
      <p:sp>
        <p:nvSpPr>
          <p:cNvPr id="4" name="TextBox 3"/>
          <p:cNvSpPr txBox="1"/>
          <p:nvPr/>
        </p:nvSpPr>
        <p:spPr>
          <a:xfrm>
            <a:off x="457200" y="6537960"/>
            <a:ext cx="8229600" cy="274320"/>
          </a:xfrm>
          <a:prstGeom prst="rect">
            <a:avLst/>
          </a:prstGeom>
          <a:noFill/>
        </p:spPr>
        <p:txBody>
          <a:bodyPr wrap="square" lIns="0" rIns="0" tIns="0" bIns="0" anchor="t">
            <a:spAutoFit/>
          </a:bodyPr>
          <a:lstStyle/>
          <a:p>
            <a:pPr algn="l">
              <a:lnSpc>
                <a:spcPct val="120000"/>
              </a:lnSpc>
              <a:spcAft>
                <a:spcPts val="0"/>
              </a:spcAft>
            </a:pPr>
            <a:r>
              <a:rPr sz="900" b="0">
                <a:solidFill>
                  <a:srgbClr val="8792AC"/>
                </a:solidFill>
                <a:latin typeface="Calibri"/>
              </a:rPr>
              <a:t>Vishing Challenge  |  Deepfake Voice Detection for Anti-Vishing Systems</a:t>
            </a:r>
          </a:p>
        </p:txBody>
      </p:sp>
      <p:sp>
        <p:nvSpPr>
          <p:cNvPr id="5" name="Rectangle 4"/>
          <p:cNvSpPr/>
          <p:nvPr/>
        </p:nvSpPr>
        <p:spPr>
          <a:xfrm>
            <a:off x="9845040" y="1810512"/>
            <a:ext cx="1173480" cy="1810512"/>
          </a:xfrm>
          <a:prstGeom prst="rect">
            <a:avLst/>
          </a:prstGeom>
          <a:solidFill>
            <a:srgbClr val="F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845040" y="1572768"/>
            <a:ext cx="1173480" cy="219456"/>
          </a:xfrm>
          <a:prstGeom prst="rect">
            <a:avLst/>
          </a:prstGeom>
          <a:noFill/>
        </p:spPr>
        <p:txBody>
          <a:bodyPr wrap="square" lIns="0" rIns="0" tIns="0" bIns="0" anchor="t">
            <a:spAutoFit/>
          </a:bodyPr>
          <a:lstStyle/>
          <a:p>
            <a:pPr algn="ctr">
              <a:lnSpc>
                <a:spcPct val="120000"/>
              </a:lnSpc>
              <a:spcAft>
                <a:spcPts val="0"/>
              </a:spcAft>
            </a:pPr>
            <a:r>
              <a:rPr sz="900" b="1">
                <a:solidFill>
                  <a:srgbClr val="E94F37"/>
                </a:solidFill>
                <a:latin typeface="Calibri"/>
              </a:rPr>
              <a:t>COIN FLIP</a:t>
            </a:r>
          </a:p>
        </p:txBody>
      </p:sp>
      <p:sp>
        <p:nvSpPr>
          <p:cNvPr id="7" name="TextBox 6"/>
          <p:cNvSpPr txBox="1"/>
          <p:nvPr/>
        </p:nvSpPr>
        <p:spPr>
          <a:xfrm>
            <a:off x="548640" y="1572768"/>
            <a:ext cx="3291840" cy="219456"/>
          </a:xfrm>
          <a:prstGeom prst="rect">
            <a:avLst/>
          </a:prstGeom>
          <a:noFill/>
        </p:spPr>
        <p:txBody>
          <a:bodyPr wrap="square" lIns="0" rIns="0" tIns="0" bIns="0" anchor="t">
            <a:spAutoFit/>
          </a:bodyPr>
          <a:lstStyle/>
          <a:p>
            <a:pPr algn="l">
              <a:lnSpc>
                <a:spcPct val="120000"/>
              </a:lnSpc>
              <a:spcAft>
                <a:spcPts val="0"/>
              </a:spcAft>
            </a:pPr>
            <a:r>
              <a:rPr sz="900" b="1">
                <a:solidFill>
                  <a:srgbClr val="8792AC"/>
                </a:solidFill>
                <a:latin typeface="Calibri"/>
              </a:rPr>
              <a:t>TRAINED ON ASVSPOOF 2019, TESTED ON:</a:t>
            </a:r>
          </a:p>
        </p:txBody>
      </p:sp>
      <p:sp>
        <p:nvSpPr>
          <p:cNvPr id="8" name="TextBox 7"/>
          <p:cNvSpPr txBox="1"/>
          <p:nvPr/>
        </p:nvSpPr>
        <p:spPr>
          <a:xfrm>
            <a:off x="548640" y="1883664"/>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B1F3B"/>
                </a:solidFill>
                <a:latin typeface="Calibri"/>
              </a:rPr>
              <a:t>its own test set</a:t>
            </a:r>
          </a:p>
        </p:txBody>
      </p:sp>
      <p:sp>
        <p:nvSpPr>
          <p:cNvPr id="9" name="Rectangle 8"/>
          <p:cNvSpPr/>
          <p:nvPr/>
        </p:nvSpPr>
        <p:spPr>
          <a:xfrm>
            <a:off x="3977639" y="1901952"/>
            <a:ext cx="144338" cy="3657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68282" y="1947672"/>
            <a:ext cx="1371600" cy="274320"/>
          </a:xfrm>
          <a:prstGeom prst="rect">
            <a:avLst/>
          </a:prstGeom>
          <a:noFill/>
        </p:spPr>
        <p:txBody>
          <a:bodyPr wrap="square" lIns="0" rIns="0" tIns="0" bIns="0" anchor="t">
            <a:spAutoFit/>
          </a:bodyPr>
          <a:lstStyle/>
          <a:p>
            <a:pPr algn="l">
              <a:lnSpc>
                <a:spcPct val="120000"/>
              </a:lnSpc>
              <a:spcAft>
                <a:spcPts val="0"/>
              </a:spcAft>
            </a:pPr>
            <a:r>
              <a:rPr sz="1700" b="1">
                <a:solidFill>
                  <a:srgbClr val="1E2761"/>
                </a:solidFill>
                <a:latin typeface="Calibri"/>
              </a:rPr>
              <a:t>1.23%</a:t>
            </a:r>
          </a:p>
        </p:txBody>
      </p:sp>
      <p:sp>
        <p:nvSpPr>
          <p:cNvPr id="11" name="TextBox 10"/>
          <p:cNvSpPr txBox="1"/>
          <p:nvPr/>
        </p:nvSpPr>
        <p:spPr>
          <a:xfrm>
            <a:off x="548640" y="2487168"/>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B1F3B"/>
                </a:solidFill>
                <a:latin typeface="Calibri"/>
              </a:rPr>
              <a:t>another corpus</a:t>
            </a:r>
          </a:p>
          <a:p>
            <a:pPr>
              <a:lnSpc>
                <a:spcPct val="120000"/>
              </a:lnSpc>
              <a:spcAft>
                <a:spcPts val="0"/>
              </a:spcAft>
            </a:pPr>
            <a:r>
              <a:rPr sz="1000" b="0">
                <a:solidFill>
                  <a:srgbClr val="8792AC"/>
                </a:solidFill>
                <a:latin typeface="Calibri"/>
              </a:rPr>
              <a:t>In-the-Wild</a:t>
            </a:r>
          </a:p>
        </p:txBody>
      </p:sp>
      <p:sp>
        <p:nvSpPr>
          <p:cNvPr id="12" name="Rectangle 11"/>
          <p:cNvSpPr/>
          <p:nvPr/>
        </p:nvSpPr>
        <p:spPr>
          <a:xfrm>
            <a:off x="3977639" y="2505456"/>
            <a:ext cx="4359478" cy="365760"/>
          </a:xfrm>
          <a:prstGeom prst="rect">
            <a:avLst/>
          </a:prstGeom>
          <a:solidFill>
            <a:srgbClr val="E94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83422" y="2551176"/>
            <a:ext cx="1371600" cy="274320"/>
          </a:xfrm>
          <a:prstGeom prst="rect">
            <a:avLst/>
          </a:prstGeom>
          <a:noFill/>
        </p:spPr>
        <p:txBody>
          <a:bodyPr wrap="square" lIns="0" rIns="0" tIns="0" bIns="0" anchor="t">
            <a:spAutoFit/>
          </a:bodyPr>
          <a:lstStyle/>
          <a:p>
            <a:pPr algn="l">
              <a:lnSpc>
                <a:spcPct val="120000"/>
              </a:lnSpc>
              <a:spcAft>
                <a:spcPts val="0"/>
              </a:spcAft>
            </a:pPr>
            <a:r>
              <a:rPr sz="1700" b="1">
                <a:solidFill>
                  <a:srgbClr val="E94F37"/>
                </a:solidFill>
                <a:latin typeface="Calibri"/>
              </a:rPr>
              <a:t>37.15%</a:t>
            </a:r>
          </a:p>
        </p:txBody>
      </p:sp>
      <p:sp>
        <p:nvSpPr>
          <p:cNvPr id="14" name="TextBox 13"/>
          <p:cNvSpPr txBox="1"/>
          <p:nvPr/>
        </p:nvSpPr>
        <p:spPr>
          <a:xfrm>
            <a:off x="548640" y="3090672"/>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B1F3B"/>
                </a:solidFill>
                <a:latin typeface="Calibri"/>
              </a:rPr>
              <a:t>2026 cloned voices</a:t>
            </a:r>
          </a:p>
          <a:p>
            <a:pPr>
              <a:lnSpc>
                <a:spcPct val="120000"/>
              </a:lnSpc>
              <a:spcAft>
                <a:spcPts val="0"/>
              </a:spcAft>
            </a:pPr>
            <a:r>
              <a:rPr sz="1000" b="0">
                <a:solidFill>
                  <a:srgbClr val="8792AC"/>
                </a:solidFill>
                <a:latin typeface="Calibri"/>
              </a:rPr>
              <a:t>over a real VoIP call</a:t>
            </a:r>
          </a:p>
        </p:txBody>
      </p:sp>
      <p:sp>
        <p:nvSpPr>
          <p:cNvPr id="15" name="Rectangle 14"/>
          <p:cNvSpPr/>
          <p:nvPr/>
        </p:nvSpPr>
        <p:spPr>
          <a:xfrm>
            <a:off x="3977639" y="3108960"/>
            <a:ext cx="5900257" cy="365760"/>
          </a:xfrm>
          <a:prstGeom prst="rect">
            <a:avLst/>
          </a:prstGeom>
          <a:solidFill>
            <a:srgbClr val="E94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43457" y="3163824"/>
            <a:ext cx="1097280" cy="274320"/>
          </a:xfrm>
          <a:prstGeom prst="rect">
            <a:avLst/>
          </a:prstGeom>
          <a:noFill/>
        </p:spPr>
        <p:txBody>
          <a:bodyPr wrap="square" lIns="0" rIns="0" tIns="0" bIns="0" anchor="t">
            <a:spAutoFit/>
          </a:bodyPr>
          <a:lstStyle/>
          <a:p>
            <a:pPr algn="r">
              <a:lnSpc>
                <a:spcPct val="120000"/>
              </a:lnSpc>
              <a:spcAft>
                <a:spcPts val="0"/>
              </a:spcAft>
            </a:pPr>
            <a:r>
              <a:rPr sz="1700" b="1">
                <a:solidFill>
                  <a:srgbClr val="FFFFFF"/>
                </a:solidFill>
                <a:latin typeface="Calibri"/>
              </a:rPr>
              <a:t>50.28%</a:t>
            </a:r>
          </a:p>
        </p:txBody>
      </p:sp>
      <p:cxnSp>
        <p:nvCxnSpPr>
          <p:cNvPr id="17" name="Connector 16"/>
          <p:cNvCxnSpPr/>
          <p:nvPr/>
        </p:nvCxnSpPr>
        <p:spPr>
          <a:xfrm>
            <a:off x="548640" y="3803904"/>
            <a:ext cx="10469880" cy="0"/>
          </a:xfrm>
          <a:prstGeom prst="line">
            <a:avLst/>
          </a:prstGeom>
          <a:ln w="12700">
            <a:solidFill>
              <a:srgbClr val="D8DE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3931920"/>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E2761"/>
                </a:solidFill>
                <a:latin typeface="Calibri"/>
              </a:rPr>
              <a:t>same test, retrained</a:t>
            </a:r>
          </a:p>
          <a:p>
            <a:pPr>
              <a:lnSpc>
                <a:spcPct val="120000"/>
              </a:lnSpc>
              <a:spcAft>
                <a:spcPts val="0"/>
              </a:spcAft>
            </a:pPr>
            <a:r>
              <a:rPr sz="1000" b="0">
                <a:solidFill>
                  <a:srgbClr val="8792AC"/>
                </a:solidFill>
                <a:latin typeface="Calibri"/>
              </a:rPr>
              <a:t>on modern voices</a:t>
            </a:r>
          </a:p>
        </p:txBody>
      </p:sp>
      <p:sp>
        <p:nvSpPr>
          <p:cNvPr id="19" name="Rectangle 18"/>
          <p:cNvSpPr/>
          <p:nvPr/>
        </p:nvSpPr>
        <p:spPr>
          <a:xfrm>
            <a:off x="3977639" y="3950208"/>
            <a:ext cx="681791" cy="3657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805735" y="3995928"/>
            <a:ext cx="3291840" cy="274320"/>
          </a:xfrm>
          <a:prstGeom prst="rect">
            <a:avLst/>
          </a:prstGeom>
          <a:noFill/>
        </p:spPr>
        <p:txBody>
          <a:bodyPr wrap="square" lIns="0" rIns="0" tIns="0" bIns="0" anchor="t">
            <a:spAutoFit/>
          </a:bodyPr>
          <a:lstStyle/>
          <a:p>
            <a:pPr algn="l">
              <a:lnSpc>
                <a:spcPct val="120000"/>
              </a:lnSpc>
              <a:spcAft>
                <a:spcPts val="0"/>
              </a:spcAft>
            </a:pPr>
            <a:r>
              <a:rPr sz="1700" b="1">
                <a:solidFill>
                  <a:srgbClr val="1E2761"/>
                </a:solidFill>
                <a:latin typeface="Calibri"/>
              </a:rPr>
              <a:t>5.81%</a:t>
            </a:r>
            <a:r>
              <a:rPr sz="1300" b="0">
                <a:solidFill>
                  <a:srgbClr val="8792AC"/>
                </a:solidFill>
                <a:latin typeface="Calibri"/>
              </a:rPr>
              <a:t>    so it can be fixed</a:t>
            </a:r>
          </a:p>
        </p:txBody>
      </p:sp>
      <p:cxnSp>
        <p:nvCxnSpPr>
          <p:cNvPr id="21" name="Connector 20"/>
          <p:cNvCxnSpPr/>
          <p:nvPr/>
        </p:nvCxnSpPr>
        <p:spPr>
          <a:xfrm>
            <a:off x="3977639" y="4498848"/>
            <a:ext cx="7040881" cy="0"/>
          </a:xfrm>
          <a:prstGeom prst="line">
            <a:avLst/>
          </a:prstGeom>
          <a:ln w="12700">
            <a:solidFill>
              <a:srgbClr val="D8DE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11879"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0%</a:t>
            </a:r>
          </a:p>
        </p:txBody>
      </p:sp>
      <p:sp>
        <p:nvSpPr>
          <p:cNvPr id="23" name="TextBox 22"/>
          <p:cNvSpPr txBox="1"/>
          <p:nvPr/>
        </p:nvSpPr>
        <p:spPr>
          <a:xfrm>
            <a:off x="5372100"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15%</a:t>
            </a:r>
          </a:p>
        </p:txBody>
      </p:sp>
      <p:sp>
        <p:nvSpPr>
          <p:cNvPr id="24" name="TextBox 23"/>
          <p:cNvSpPr txBox="1"/>
          <p:nvPr/>
        </p:nvSpPr>
        <p:spPr>
          <a:xfrm>
            <a:off x="7132319"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30%</a:t>
            </a:r>
          </a:p>
        </p:txBody>
      </p:sp>
      <p:sp>
        <p:nvSpPr>
          <p:cNvPr id="25" name="TextBox 24"/>
          <p:cNvSpPr txBox="1"/>
          <p:nvPr/>
        </p:nvSpPr>
        <p:spPr>
          <a:xfrm>
            <a:off x="8892540"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45%</a:t>
            </a:r>
          </a:p>
        </p:txBody>
      </p:sp>
      <p:sp>
        <p:nvSpPr>
          <p:cNvPr id="26" name="TextBox 25"/>
          <p:cNvSpPr txBox="1"/>
          <p:nvPr/>
        </p:nvSpPr>
        <p:spPr>
          <a:xfrm>
            <a:off x="10652760"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60%</a:t>
            </a:r>
          </a:p>
        </p:txBody>
      </p:sp>
      <p:sp>
        <p:nvSpPr>
          <p:cNvPr id="27" name="TextBox 26"/>
          <p:cNvSpPr txBox="1"/>
          <p:nvPr/>
        </p:nvSpPr>
        <p:spPr>
          <a:xfrm>
            <a:off x="548640" y="4553712"/>
            <a:ext cx="3200400" cy="219456"/>
          </a:xfrm>
          <a:prstGeom prst="rect">
            <a:avLst/>
          </a:prstGeom>
          <a:noFill/>
        </p:spPr>
        <p:txBody>
          <a:bodyPr wrap="square" lIns="0" rIns="0" tIns="0" bIns="0" anchor="t">
            <a:spAutoFit/>
          </a:bodyPr>
          <a:lstStyle/>
          <a:p>
            <a:pPr algn="l">
              <a:lnSpc>
                <a:spcPct val="120000"/>
              </a:lnSpc>
              <a:spcAft>
                <a:spcPts val="0"/>
              </a:spcAft>
            </a:pPr>
            <a:r>
              <a:rPr sz="900" b="0">
                <a:solidFill>
                  <a:srgbClr val="8792AC"/>
                </a:solidFill>
                <a:latin typeface="Calibri"/>
              </a:rPr>
              <a:t>equal error rate, lower is better</a:t>
            </a:r>
          </a:p>
        </p:txBody>
      </p:sp>
      <p:sp>
        <p:nvSpPr>
          <p:cNvPr id="28" name="Rectangle 27"/>
          <p:cNvSpPr/>
          <p:nvPr/>
        </p:nvSpPr>
        <p:spPr>
          <a:xfrm>
            <a:off x="548640" y="5074920"/>
            <a:ext cx="11091672" cy="8686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48640" y="5074920"/>
            <a:ext cx="41148" cy="868680"/>
          </a:xfrm>
          <a:prstGeom prst="rect">
            <a:avLst/>
          </a:prstGeom>
          <a:solidFill>
            <a:srgbClr val="E94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68680" y="5230368"/>
            <a:ext cx="10515600" cy="566928"/>
          </a:xfrm>
          <a:prstGeom prst="rect">
            <a:avLst/>
          </a:prstGeom>
          <a:noFill/>
        </p:spPr>
        <p:txBody>
          <a:bodyPr wrap="square" lIns="0" rIns="0" tIns="0" bIns="0" anchor="ctr">
            <a:spAutoFit/>
          </a:bodyPr>
          <a:lstStyle/>
          <a:p>
            <a:pPr algn="l">
              <a:lnSpc>
                <a:spcPct val="125000"/>
              </a:lnSpc>
              <a:spcAft>
                <a:spcPts val="0"/>
              </a:spcAft>
            </a:pPr>
            <a:r>
              <a:rPr sz="1400" b="0">
                <a:solidFill>
                  <a:srgbClr val="44506B"/>
                </a:solidFill>
                <a:latin typeface="Calibri"/>
              </a:rPr>
              <a:t>A 36-point gap between the benchmark and anything else. </a:t>
            </a:r>
            <a:r>
              <a:rPr sz="1400" b="1">
                <a:solidFill>
                  <a:srgbClr val="1B1F3B"/>
                </a:solidFill>
                <a:latin typeface="Calibri"/>
              </a:rPr>
              <a:t>Closing that gap is what we are building.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9144000" cy="274320"/>
          </a:xfrm>
          <a:prstGeom prst="rect">
            <a:avLst/>
          </a:prstGeom>
          <a:noFill/>
        </p:spPr>
        <p:txBody>
          <a:bodyPr wrap="square" lIns="0" rIns="0" tIns="0" bIns="0" anchor="t">
            <a:spAutoFit/>
          </a:bodyPr>
          <a:lstStyle/>
          <a:p>
            <a:pPr algn="l">
              <a:lnSpc>
                <a:spcPct val="120000"/>
              </a:lnSpc>
              <a:spcAft>
                <a:spcPts val="0"/>
              </a:spcAft>
            </a:pPr>
            <a:r>
              <a:rPr sz="1200" b="1">
                <a:solidFill>
                  <a:srgbClr val="E94F37"/>
                </a:solidFill>
                <a:latin typeface="Calibri"/>
              </a:rPr>
              <a:t>DIAGNOSIS</a:t>
            </a:r>
          </a:p>
        </p:txBody>
      </p:sp>
      <p:sp>
        <p:nvSpPr>
          <p:cNvPr id="3" name="TextBox 2"/>
          <p:cNvSpPr txBox="1"/>
          <p:nvPr/>
        </p:nvSpPr>
        <p:spPr>
          <a:xfrm>
            <a:off x="548640" y="621792"/>
            <a:ext cx="11155680" cy="777240"/>
          </a:xfrm>
          <a:prstGeom prst="rect">
            <a:avLst/>
          </a:prstGeom>
          <a:noFill/>
        </p:spPr>
        <p:txBody>
          <a:bodyPr wrap="square" lIns="0" rIns="0" tIns="0" bIns="0" anchor="t">
            <a:spAutoFit/>
          </a:bodyPr>
          <a:lstStyle/>
          <a:p>
            <a:pPr algn="l">
              <a:lnSpc>
                <a:spcPct val="110000"/>
              </a:lnSpc>
              <a:spcAft>
                <a:spcPts val="0"/>
              </a:spcAft>
            </a:pPr>
            <a:r>
              <a:rPr sz="3000" b="1">
                <a:solidFill>
                  <a:srgbClr val="1B1F3B"/>
                </a:solidFill>
                <a:latin typeface="Cambria"/>
              </a:rPr>
              <a:t>It learns the dataset, not the voice</a:t>
            </a:r>
          </a:p>
        </p:txBody>
      </p:sp>
      <p:sp>
        <p:nvSpPr>
          <p:cNvPr id="4" name="TextBox 3"/>
          <p:cNvSpPr txBox="1"/>
          <p:nvPr/>
        </p:nvSpPr>
        <p:spPr>
          <a:xfrm>
            <a:off x="457200" y="6537960"/>
            <a:ext cx="8229600" cy="274320"/>
          </a:xfrm>
          <a:prstGeom prst="rect">
            <a:avLst/>
          </a:prstGeom>
          <a:noFill/>
        </p:spPr>
        <p:txBody>
          <a:bodyPr wrap="square" lIns="0" rIns="0" tIns="0" bIns="0" anchor="t">
            <a:spAutoFit/>
          </a:bodyPr>
          <a:lstStyle/>
          <a:p>
            <a:pPr algn="l">
              <a:lnSpc>
                <a:spcPct val="120000"/>
              </a:lnSpc>
              <a:spcAft>
                <a:spcPts val="0"/>
              </a:spcAft>
            </a:pPr>
            <a:r>
              <a:rPr sz="900" b="0">
                <a:solidFill>
                  <a:srgbClr val="8792AC"/>
                </a:solidFill>
                <a:latin typeface="Calibri"/>
              </a:rPr>
              <a:t>Vishing Challenge  |  Deepfake Voice Detection for Anti-Vishing Systems</a:t>
            </a:r>
          </a:p>
        </p:txBody>
      </p:sp>
      <p:sp>
        <p:nvSpPr>
          <p:cNvPr id="5" name="TextBox 4"/>
          <p:cNvSpPr txBox="1"/>
          <p:nvPr/>
        </p:nvSpPr>
        <p:spPr>
          <a:xfrm>
            <a:off x="548640" y="1481328"/>
            <a:ext cx="11091672" cy="457200"/>
          </a:xfrm>
          <a:prstGeom prst="rect">
            <a:avLst/>
          </a:prstGeom>
          <a:noFill/>
        </p:spPr>
        <p:txBody>
          <a:bodyPr wrap="square" lIns="0" rIns="0" tIns="0" bIns="0" anchor="t">
            <a:spAutoFit/>
          </a:bodyPr>
          <a:lstStyle/>
          <a:p>
            <a:pPr algn="l">
              <a:lnSpc>
                <a:spcPct val="130000"/>
              </a:lnSpc>
              <a:spcAft>
                <a:spcPts val="0"/>
              </a:spcAft>
            </a:pPr>
            <a:r>
              <a:rPr sz="1300" b="0">
                <a:solidFill>
                  <a:srgbClr val="44506B"/>
                </a:solidFill>
                <a:latin typeface="Calibri"/>
              </a:rPr>
              <a:t>Before choosing an architecture we asked what the failing detectors are actually keying on. The answer explains the collapse, and it tells us what to remove during training.</a:t>
            </a:r>
          </a:p>
        </p:txBody>
      </p:sp>
      <p:sp>
        <p:nvSpPr>
          <p:cNvPr id="6" name="Rectangle 5"/>
          <p:cNvSpPr/>
          <p:nvPr/>
        </p:nvSpPr>
        <p:spPr>
          <a:xfrm>
            <a:off x="548640" y="2212848"/>
            <a:ext cx="3483864" cy="22402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2432304"/>
            <a:ext cx="2971800" cy="1783080"/>
          </a:xfrm>
          <a:prstGeom prst="rect">
            <a:avLst/>
          </a:prstGeom>
          <a:noFill/>
        </p:spPr>
        <p:txBody>
          <a:bodyPr wrap="square" lIns="0" rIns="0" tIns="0" bIns="0" anchor="t">
            <a:spAutoFit/>
          </a:bodyPr>
          <a:lstStyle/>
          <a:p>
            <a:pPr algn="l">
              <a:lnSpc>
                <a:spcPct val="120000"/>
              </a:lnSpc>
              <a:spcAft>
                <a:spcPts val="1000"/>
              </a:spcAft>
            </a:pPr>
            <a:r>
              <a:rPr sz="1000" b="1">
                <a:solidFill>
                  <a:srgbClr val="8792AC"/>
                </a:solidFill>
                <a:latin typeface="Calibri"/>
              </a:rPr>
              <a:t>SILENCE ALONE</a:t>
            </a:r>
          </a:p>
          <a:p>
            <a:pPr>
              <a:lnSpc>
                <a:spcPct val="100000"/>
              </a:lnSpc>
              <a:spcAft>
                <a:spcPts val="1200"/>
              </a:spcAft>
            </a:pPr>
            <a:r>
              <a:rPr sz="3400" b="1">
                <a:solidFill>
                  <a:srgbClr val="E94F37"/>
                </a:solidFill>
                <a:latin typeface="Calibri"/>
              </a:rPr>
              <a:t>85%</a:t>
            </a:r>
          </a:p>
          <a:p>
            <a:pPr>
              <a:lnSpc>
                <a:spcPct val="130000"/>
              </a:lnSpc>
              <a:spcAft>
                <a:spcPts val="1000"/>
              </a:spcAft>
            </a:pPr>
            <a:r>
              <a:rPr sz="1250" b="0">
                <a:solidFill>
                  <a:srgbClr val="44506B"/>
                </a:solidFill>
                <a:latin typeface="Calibri"/>
              </a:rPr>
              <a:t>accuracy from a classifier given only the length of the opening silence</a:t>
            </a:r>
          </a:p>
          <a:p>
            <a:pPr>
              <a:lnSpc>
                <a:spcPct val="120000"/>
              </a:lnSpc>
              <a:spcAft>
                <a:spcPts val="0"/>
              </a:spcAft>
            </a:pPr>
            <a:r>
              <a:rPr sz="900" b="0">
                <a:solidFill>
                  <a:srgbClr val="8792AC"/>
                </a:solidFill>
                <a:latin typeface="Calibri"/>
              </a:rPr>
              <a:t>Muller et al.</a:t>
            </a:r>
          </a:p>
        </p:txBody>
      </p:sp>
      <p:sp>
        <p:nvSpPr>
          <p:cNvPr id="8" name="Rectangle 7"/>
          <p:cNvSpPr/>
          <p:nvPr/>
        </p:nvSpPr>
        <p:spPr>
          <a:xfrm>
            <a:off x="4352544" y="2212848"/>
            <a:ext cx="3483864" cy="22402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608576" y="2432304"/>
            <a:ext cx="2971800" cy="1783080"/>
          </a:xfrm>
          <a:prstGeom prst="rect">
            <a:avLst/>
          </a:prstGeom>
          <a:noFill/>
        </p:spPr>
        <p:txBody>
          <a:bodyPr wrap="square" lIns="0" rIns="0" tIns="0" bIns="0" anchor="t">
            <a:spAutoFit/>
          </a:bodyPr>
          <a:lstStyle/>
          <a:p>
            <a:pPr algn="l">
              <a:lnSpc>
                <a:spcPct val="120000"/>
              </a:lnSpc>
              <a:spcAft>
                <a:spcPts val="1000"/>
              </a:spcAft>
            </a:pPr>
            <a:r>
              <a:rPr sz="1000" b="1">
                <a:solidFill>
                  <a:srgbClr val="8792AC"/>
                </a:solidFill>
                <a:latin typeface="Calibri"/>
              </a:rPr>
              <a:t>ATTACK ON SILENCE ONLY</a:t>
            </a:r>
          </a:p>
          <a:p>
            <a:pPr>
              <a:lnSpc>
                <a:spcPct val="100000"/>
              </a:lnSpc>
              <a:spcAft>
                <a:spcPts val="1200"/>
              </a:spcAft>
            </a:pPr>
            <a:r>
              <a:rPr sz="3400" b="1">
                <a:solidFill>
                  <a:srgbClr val="E94F37"/>
                </a:solidFill>
                <a:latin typeface="Calibri"/>
              </a:rPr>
              <a:t>82.2%</a:t>
            </a:r>
          </a:p>
          <a:p>
            <a:pPr>
              <a:lnSpc>
                <a:spcPct val="130000"/>
              </a:lnSpc>
              <a:spcAft>
                <a:spcPts val="1000"/>
              </a:spcAft>
            </a:pPr>
            <a:r>
              <a:rPr sz="1250" b="0">
                <a:solidFill>
                  <a:srgbClr val="44506B"/>
                </a:solidFill>
                <a:latin typeface="Calibri"/>
              </a:rPr>
              <a:t>attack success from changing only the background noise and the mute segments, never the voice</a:t>
            </a:r>
          </a:p>
          <a:p>
            <a:pPr>
              <a:lnSpc>
                <a:spcPct val="120000"/>
              </a:lnSpc>
              <a:spcAft>
                <a:spcPts val="0"/>
              </a:spcAft>
            </a:pPr>
            <a:r>
              <a:rPr sz="900" b="0">
                <a:solidFill>
                  <a:srgbClr val="8792AC"/>
                </a:solidFill>
                <a:latin typeface="Calibri"/>
              </a:rPr>
              <a:t>SiFDetectCracker, ACM MM 2023</a:t>
            </a:r>
          </a:p>
        </p:txBody>
      </p:sp>
      <p:sp>
        <p:nvSpPr>
          <p:cNvPr id="10" name="Rectangle 9"/>
          <p:cNvSpPr/>
          <p:nvPr/>
        </p:nvSpPr>
        <p:spPr>
          <a:xfrm>
            <a:off x="8156448" y="2212848"/>
            <a:ext cx="3483864" cy="22402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0" y="2432304"/>
            <a:ext cx="2971800" cy="1783080"/>
          </a:xfrm>
          <a:prstGeom prst="rect">
            <a:avLst/>
          </a:prstGeom>
          <a:noFill/>
        </p:spPr>
        <p:txBody>
          <a:bodyPr wrap="square" lIns="0" rIns="0" tIns="0" bIns="0" anchor="t">
            <a:spAutoFit/>
          </a:bodyPr>
          <a:lstStyle/>
          <a:p>
            <a:pPr algn="l">
              <a:lnSpc>
                <a:spcPct val="120000"/>
              </a:lnSpc>
              <a:spcAft>
                <a:spcPts val="1000"/>
              </a:spcAft>
            </a:pPr>
            <a:r>
              <a:rPr sz="1000" b="1">
                <a:solidFill>
                  <a:srgbClr val="8792AC"/>
                </a:solidFill>
                <a:latin typeface="Calibri"/>
              </a:rPr>
              <a:t>WHERE IT LOOKS</a:t>
            </a:r>
          </a:p>
          <a:p>
            <a:pPr>
              <a:lnSpc>
                <a:spcPct val="100000"/>
              </a:lnSpc>
              <a:spcAft>
                <a:spcPts val="1200"/>
              </a:spcAft>
            </a:pPr>
            <a:r>
              <a:rPr sz="3400" b="1">
                <a:solidFill>
                  <a:srgbClr val="E94F37"/>
                </a:solidFill>
                <a:latin typeface="Calibri"/>
              </a:rPr>
              <a:t>0.5-0.6 kHz</a:t>
            </a:r>
          </a:p>
          <a:p>
            <a:pPr>
              <a:lnSpc>
                <a:spcPct val="130000"/>
              </a:lnSpc>
              <a:spcAft>
                <a:spcPts val="1000"/>
              </a:spcAft>
            </a:pPr>
            <a:r>
              <a:rPr sz="1250" b="0">
                <a:solidFill>
                  <a:srgbClr val="44506B"/>
                </a:solidFill>
                <a:latin typeface="Calibri"/>
              </a:rPr>
              <a:t>SHAP analysis: the model attends to the gaps between words and one narrow low band</a:t>
            </a:r>
          </a:p>
          <a:p>
            <a:pPr>
              <a:lnSpc>
                <a:spcPct val="120000"/>
              </a:lnSpc>
              <a:spcAft>
                <a:spcPts val="0"/>
              </a:spcAft>
            </a:pPr>
            <a:r>
              <a:rPr sz="900" b="0">
                <a:solidFill>
                  <a:srgbClr val="8792AC"/>
                </a:solidFill>
                <a:latin typeface="Calibri"/>
              </a:rPr>
              <a:t>arXiv:2110.03309</a:t>
            </a:r>
          </a:p>
        </p:txBody>
      </p:sp>
      <p:sp>
        <p:nvSpPr>
          <p:cNvPr id="12" name="Rectangle 11"/>
          <p:cNvSpPr/>
          <p:nvPr/>
        </p:nvSpPr>
        <p:spPr>
          <a:xfrm>
            <a:off x="548640" y="4800600"/>
            <a:ext cx="11091672" cy="9601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4983480"/>
            <a:ext cx="10424160" cy="621792"/>
          </a:xfrm>
          <a:prstGeom prst="rect">
            <a:avLst/>
          </a:prstGeom>
          <a:noFill/>
        </p:spPr>
        <p:txBody>
          <a:bodyPr wrap="square" lIns="0" rIns="0" tIns="0" bIns="0" anchor="ctr">
            <a:spAutoFit/>
          </a:bodyPr>
          <a:lstStyle/>
          <a:p>
            <a:pPr algn="l">
              <a:lnSpc>
                <a:spcPct val="130000"/>
              </a:lnSpc>
              <a:spcAft>
                <a:spcPts val="0"/>
              </a:spcAft>
            </a:pPr>
            <a:r>
              <a:rPr sz="1450" b="0">
                <a:solidFill>
                  <a:srgbClr val="CADCFC"/>
                </a:solidFill>
                <a:latin typeface="Calibri"/>
              </a:rPr>
              <a:t>The detector wins on what belongs to the corpus, not to the speech. </a:t>
            </a:r>
            <a:r>
              <a:rPr sz="1450" b="1">
                <a:solidFill>
                  <a:srgbClr val="FFFFFF"/>
                </a:solidFill>
                <a:latin typeface="Calibri"/>
              </a:rPr>
              <a:t>Every one of those cues can be taken away in training.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CHALLENGE BRIEF</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What the panel is asking us to solve</a:t>
            </a:r>
            <a:endParaRPr lang="en-US" sz="3000" dirty="0"/>
          </a:p>
        </p:txBody>
      </p:sp>
      <p:sp>
        <p:nvSpPr>
          <p:cNvPr id="4" name="Shape 2"/>
          <p:cNvSpPr/>
          <p:nvPr/>
        </p:nvSpPr>
        <p:spPr>
          <a:xfrm>
            <a:off x="548640" y="1600200"/>
            <a:ext cx="5577840" cy="4434840"/>
          </a:xfrm>
          <a:prstGeom prst="roundRect">
            <a:avLst>
              <a:gd name="adj" fmla="val 1649"/>
            </a:avLst>
          </a:prstGeom>
          <a:solidFill>
            <a:srgbClr val="F4F6FC"/>
          </a:solidFill>
          <a:ln/>
        </p:spPr>
        <p:txBody>
          <a:bodyPr/>
          <a:p/>
        </p:txBody>
      </p:sp>
      <p:pic>
        <p:nvPicPr>
          <p:cNvPr id="5" name="Image 0" descr="/home/claude/deck/icons/target_1E2761.png">    </p:cNvPr>
          <p:cNvPicPr>
            <a:picLocks noChangeAspect="1"/>
          </p:cNvPicPr>
          <p:nvPr/>
        </p:nvPicPr>
        <p:blipFill>
          <a:blip r:embed="rId1"/>
          <a:stretch>
            <a:fillRect/>
          </a:stretch>
        </p:blipFill>
        <p:spPr>
          <a:xfrm>
            <a:off x="868680" y="1874520"/>
            <a:ext cx="457200" cy="457200"/>
          </a:xfrm>
          <a:prstGeom prst="rect">
            <a:avLst/>
          </a:prstGeom>
        </p:spPr>
      </p:pic>
      <p:sp>
        <p:nvSpPr>
          <p:cNvPr id="6" name="Text 3"/>
          <p:cNvSpPr txBox="1"/>
          <p:nvPr/>
        </p:nvSpPr>
        <p:spPr>
          <a:xfrm>
            <a:off x="1463040" y="1920240"/>
            <a:ext cx="4389120" cy="365760"/>
          </a:xfrm>
          <a:prstGeom prst="rect">
            <a:avLst/>
          </a:prstGeom>
          <a:noFill/>
          <a:ln/>
        </p:spPr>
        <p:txBody>
          <a:bodyPr wrap="square" lIns="0" tIns="0" rIns="0" bIns="0" rtlCol="0" anchor="ctr"/>
          <a:lstStyle/>
          <a:p>
            <a:pPr indent="0" marL="0">
              <a:buNone/>
            </a:pPr>
            <a:r>
              <a:rPr lang="en-US" sz="1600" b="1" dirty="0">
                <a:solidFill>
                  <a:srgbClr val="1B1F3B"/>
                </a:solidFill>
                <a:latin typeface="Calibri" pitchFamily="34" charset="0"/>
                <a:ea typeface="Calibri" pitchFamily="34" charset="-122"/>
                <a:cs typeface="Calibri" pitchFamily="34" charset="-120"/>
              </a:rPr>
              <a:t>Objective</a:t>
            </a:r>
            <a:endParaRPr lang="en-US" sz="1600" dirty="0"/>
          </a:p>
        </p:txBody>
      </p:sp>
      <p:sp>
        <p:nvSpPr>
          <p:cNvPr id="7" name="Text 4"/>
          <p:cNvSpPr txBox="1"/>
          <p:nvPr/>
        </p:nvSpPr>
        <p:spPr>
          <a:xfrm>
            <a:off x="868680" y="2514600"/>
            <a:ext cx="4937760" cy="1554480"/>
          </a:xfrm>
          <a:prstGeom prst="rect">
            <a:avLst/>
          </a:prstGeom>
          <a:noFill/>
          <a:ln/>
        </p:spPr>
        <p:txBody>
          <a:bodyPr wrap="square" lIns="0" tIns="0" rIns="0" bIns="0" rtlCol="0" anchor="ctr"/>
          <a:lstStyle/>
          <a:p>
            <a:pPr indent="0" marL="0">
              <a:lnSpc>
                <a:spcPct val="130000"/>
              </a:lnSpc>
              <a:buNone/>
            </a:pPr>
            <a:r>
              <a:rPr sz="1300">
                <a:solidFill>
                  <a:srgbClr val="44506B"/>
                </a:solidFill>
                <a:latin typeface="Calibri"/>
              </a:rPr>
              <a:t>Develop and test a robust, generalized deep learning model for Presentation Attack Detection against modern audio deepfake and synthetic voice-spoofing techniques, improving voice authentication security while reducing multi-layer phishing risk.</a:t>
            </a:r>
            <a:endParaRPr lang="en-US" sz="1300" dirty="0"/>
          </a:p>
        </p:txBody>
      </p:sp>
      <p:sp>
        <p:nvSpPr>
          <p:cNvPr id="8" name="Shape 5"/>
          <p:cNvSpPr/>
          <p:nvPr/>
        </p:nvSpPr>
        <p:spPr>
          <a:xfrm>
            <a:off x="868680" y="4160520"/>
            <a:ext cx="4937760" cy="0"/>
          </a:xfrm>
          <a:prstGeom prst="line">
            <a:avLst/>
          </a:prstGeom>
          <a:noFill/>
          <a:ln w="19050">
            <a:solidFill>
              <a:srgbClr val="CADCFC"/>
            </a:solidFill>
            <a:prstDash val="solid"/>
          </a:ln>
        </p:spPr>
        <p:txBody>
          <a:bodyPr/>
          <a:p/>
        </p:txBody>
      </p:sp>
      <p:sp>
        <p:nvSpPr>
          <p:cNvPr id="9" name="Text 6"/>
          <p:cNvSpPr txBox="1"/>
          <p:nvPr/>
        </p:nvSpPr>
        <p:spPr>
          <a:xfrm>
            <a:off x="868680" y="4343400"/>
            <a:ext cx="4937760" cy="1463040"/>
          </a:xfrm>
          <a:prstGeom prst="rect">
            <a:avLst/>
          </a:prstGeom>
          <a:noFill/>
          <a:ln/>
        </p:spPr>
        <p:txBody>
          <a:bodyPr wrap="square" lIns="0" tIns="0" rIns="0" bIns="0" rtlCol="0" anchor="ctr"/>
          <a:lstStyle/>
          <a:p>
            <a:pPr indent="0" marL="0">
              <a:lnSpc>
                <a:spcPct val="130000"/>
              </a:lnSpc>
              <a:buNone/>
            </a:pPr>
            <a:r>
              <a:rPr sz="1300" i="1">
                <a:solidFill>
                  <a:srgbClr val="1E2761"/>
                </a:solidFill>
                <a:latin typeface="Calibri"/>
              </a:rPr>
              <a:t>Success means accuracy that holds up on generators it has never seen, not just the ones it trained on.</a:t>
            </a:r>
            <a:endParaRPr lang="en-US" sz="1300" dirty="0"/>
          </a:p>
        </p:txBody>
      </p:sp>
      <p:sp>
        <p:nvSpPr>
          <p:cNvPr id="10" name="Shape 7"/>
          <p:cNvSpPr/>
          <p:nvPr/>
        </p:nvSpPr>
        <p:spPr>
          <a:xfrm>
            <a:off x="6400800" y="1600200"/>
            <a:ext cx="5212080" cy="960120"/>
          </a:xfrm>
          <a:prstGeom prst="roundRect">
            <a:avLst>
              <a:gd name="adj" fmla="val 5714"/>
            </a:avLst>
          </a:prstGeom>
          <a:solidFill>
            <a:srgbClr val="F4F6FC"/>
          </a:solidFill>
          <a:ln/>
        </p:spPr>
        <p:txBody>
          <a:bodyPr/>
          <a:p/>
        </p:txBody>
      </p:sp>
      <p:pic>
        <p:nvPicPr>
          <p:cNvPr id="11" name="Image 1" descr="/home/claude/deck/icons/clock_1E2761.png">    </p:cNvPr>
          <p:cNvPicPr>
            <a:picLocks noChangeAspect="1"/>
          </p:cNvPicPr>
          <p:nvPr/>
        </p:nvPicPr>
        <p:blipFill>
          <a:blip r:embed="rId2"/>
          <a:stretch>
            <a:fillRect/>
          </a:stretch>
        </p:blipFill>
        <p:spPr>
          <a:xfrm>
            <a:off x="6629400" y="1856232"/>
            <a:ext cx="438912" cy="438912"/>
          </a:xfrm>
          <a:prstGeom prst="rect">
            <a:avLst/>
          </a:prstGeom>
        </p:spPr>
      </p:pic>
      <p:sp>
        <p:nvSpPr>
          <p:cNvPr id="12" name="Text 8"/>
          <p:cNvSpPr txBox="1"/>
          <p:nvPr/>
        </p:nvSpPr>
        <p:spPr>
          <a:xfrm>
            <a:off x="7315200" y="1691640"/>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Real-time</a:t>
            </a:r>
            <a:endParaRPr lang="en-US" sz="1400" dirty="0"/>
          </a:p>
        </p:txBody>
      </p:sp>
      <p:sp>
        <p:nvSpPr>
          <p:cNvPr id="13" name="Text 9"/>
          <p:cNvSpPr txBox="1"/>
          <p:nvPr/>
        </p:nvSpPr>
        <p:spPr>
          <a:xfrm>
            <a:off x="7315200" y="2011680"/>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Low enough latency for live-call integration</a:t>
            </a:r>
            <a:endParaRPr lang="en-US" sz="1150" dirty="0"/>
          </a:p>
        </p:txBody>
      </p:sp>
      <p:sp>
        <p:nvSpPr>
          <p:cNvPr id="14" name="Shape 10"/>
          <p:cNvSpPr/>
          <p:nvPr/>
        </p:nvSpPr>
        <p:spPr>
          <a:xfrm>
            <a:off x="6400800" y="2715768"/>
            <a:ext cx="5212080" cy="960120"/>
          </a:xfrm>
          <a:prstGeom prst="roundRect">
            <a:avLst>
              <a:gd name="adj" fmla="val 5714"/>
            </a:avLst>
          </a:prstGeom>
          <a:solidFill>
            <a:srgbClr val="F4F6FC"/>
          </a:solidFill>
          <a:ln/>
        </p:spPr>
        <p:txBody>
          <a:bodyPr/>
          <a:p/>
        </p:txBody>
      </p:sp>
      <p:pic>
        <p:nvPicPr>
          <p:cNvPr id="15" name="Image 2" descr="/home/claude/deck/icons/layers_1E2761.png">    </p:cNvPr>
          <p:cNvPicPr>
            <a:picLocks noChangeAspect="1"/>
          </p:cNvPicPr>
          <p:nvPr/>
        </p:nvPicPr>
        <p:blipFill>
          <a:blip r:embed="rId3"/>
          <a:stretch>
            <a:fillRect/>
          </a:stretch>
        </p:blipFill>
        <p:spPr>
          <a:xfrm>
            <a:off x="6629400" y="2971800"/>
            <a:ext cx="438912" cy="438912"/>
          </a:xfrm>
          <a:prstGeom prst="rect">
            <a:avLst/>
          </a:prstGeom>
        </p:spPr>
      </p:pic>
      <p:sp>
        <p:nvSpPr>
          <p:cNvPr id="16" name="Text 11"/>
          <p:cNvSpPr txBox="1"/>
          <p:nvPr/>
        </p:nvSpPr>
        <p:spPr>
          <a:xfrm>
            <a:off x="7315200" y="2807208"/>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Multi-layer ready</a:t>
            </a:r>
            <a:endParaRPr lang="en-US" sz="1400" dirty="0"/>
          </a:p>
        </p:txBody>
      </p:sp>
      <p:sp>
        <p:nvSpPr>
          <p:cNvPr id="17" name="Text 12"/>
          <p:cNvSpPr txBox="1"/>
          <p:nvPr/>
        </p:nvSpPr>
        <p:spPr>
          <a:xfrm>
            <a:off x="7315200" y="3127248"/>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Feeds an adaptive phishing-defense stack</a:t>
            </a:r>
            <a:endParaRPr lang="en-US" sz="1150" dirty="0"/>
          </a:p>
        </p:txBody>
      </p:sp>
      <p:sp>
        <p:nvSpPr>
          <p:cNvPr id="18" name="Shape 13"/>
          <p:cNvSpPr/>
          <p:nvPr/>
        </p:nvSpPr>
        <p:spPr>
          <a:xfrm>
            <a:off x="6400800" y="3831336"/>
            <a:ext cx="5212080" cy="960120"/>
          </a:xfrm>
          <a:prstGeom prst="roundRect">
            <a:avLst>
              <a:gd name="adj" fmla="val 5714"/>
            </a:avLst>
          </a:prstGeom>
          <a:solidFill>
            <a:srgbClr val="F4F6FC"/>
          </a:solidFill>
          <a:ln/>
        </p:spPr>
        <p:txBody>
          <a:bodyPr/>
          <a:p/>
        </p:txBody>
      </p:sp>
      <p:pic>
        <p:nvPicPr>
          <p:cNvPr id="19" name="Image 3" descr="/home/claude/deck/icons/calendar_1E2761.png">    </p:cNvPr>
          <p:cNvPicPr>
            <a:picLocks noChangeAspect="1"/>
          </p:cNvPicPr>
          <p:nvPr/>
        </p:nvPicPr>
        <p:blipFill>
          <a:blip r:embed="rId4"/>
          <a:stretch>
            <a:fillRect/>
          </a:stretch>
        </p:blipFill>
        <p:spPr>
          <a:xfrm>
            <a:off x="6629400" y="4087368"/>
            <a:ext cx="438912" cy="438912"/>
          </a:xfrm>
          <a:prstGeom prst="rect">
            <a:avLst/>
          </a:prstGeom>
        </p:spPr>
      </p:pic>
      <p:sp>
        <p:nvSpPr>
          <p:cNvPr id="20" name="Text 14"/>
          <p:cNvSpPr txBox="1"/>
          <p:nvPr/>
        </p:nvSpPr>
        <p:spPr>
          <a:xfrm>
            <a:off x="7315200" y="3922776"/>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2-day sprint</a:t>
            </a:r>
            <a:endParaRPr lang="en-US" sz="1400" dirty="0"/>
          </a:p>
        </p:txBody>
      </p:sp>
      <p:sp>
        <p:nvSpPr>
          <p:cNvPr id="21" name="Text 15"/>
          <p:cNvSpPr txBox="1"/>
          <p:nvPr/>
        </p:nvSpPr>
        <p:spPr>
          <a:xfrm>
            <a:off x="7315200" y="4242816"/>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Build, test, and prep an expert panel review</a:t>
            </a:r>
            <a:endParaRPr lang="en-US" sz="1150" dirty="0"/>
          </a:p>
        </p:txBody>
      </p:sp>
      <p:sp>
        <p:nvSpPr>
          <p:cNvPr id="22" name="Shape 16"/>
          <p:cNvSpPr/>
          <p:nvPr/>
        </p:nvSpPr>
        <p:spPr>
          <a:xfrm>
            <a:off x="6400800" y="4946904"/>
            <a:ext cx="5212080" cy="960120"/>
          </a:xfrm>
          <a:prstGeom prst="roundRect">
            <a:avLst>
              <a:gd name="adj" fmla="val 5714"/>
            </a:avLst>
          </a:prstGeom>
          <a:solidFill>
            <a:srgbClr val="F4F6FC"/>
          </a:solidFill>
          <a:ln/>
        </p:spPr>
        <p:txBody>
          <a:bodyPr/>
          <a:p/>
        </p:txBody>
      </p:sp>
      <p:pic>
        <p:nvPicPr>
          <p:cNvPr id="23" name="Image 4" descr="/home/claude/deck/icons/check_1E2761.png">    </p:cNvPr>
          <p:cNvPicPr>
            <a:picLocks noChangeAspect="1"/>
          </p:cNvPicPr>
          <p:nvPr/>
        </p:nvPicPr>
        <p:blipFill>
          <a:blip r:embed="rId5"/>
          <a:stretch>
            <a:fillRect/>
          </a:stretch>
        </p:blipFill>
        <p:spPr>
          <a:xfrm>
            <a:off x="6629400" y="5202936"/>
            <a:ext cx="438912" cy="438912"/>
          </a:xfrm>
          <a:prstGeom prst="rect">
            <a:avLst/>
          </a:prstGeom>
        </p:spPr>
      </p:pic>
      <p:sp>
        <p:nvSpPr>
          <p:cNvPr id="24" name="Text 17"/>
          <p:cNvSpPr txBox="1"/>
          <p:nvPr/>
        </p:nvSpPr>
        <p:spPr>
          <a:xfrm>
            <a:off x="7315200" y="5038344"/>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20-min readout</a:t>
            </a:r>
            <a:endParaRPr lang="en-US" sz="1400" dirty="0"/>
          </a:p>
        </p:txBody>
      </p:sp>
      <p:sp>
        <p:nvSpPr>
          <p:cNvPr id="25" name="Text 18"/>
          <p:cNvSpPr txBox="1"/>
          <p:nvPr/>
        </p:nvSpPr>
        <p:spPr>
          <a:xfrm>
            <a:off x="7315200" y="5358384"/>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Findings + proposed solution to the panel</a:t>
            </a:r>
            <a:endParaRPr lang="en-US" sz="1150" dirty="0"/>
          </a:p>
        </p:txBody>
      </p:sp>
      <p:sp>
        <p:nvSpPr>
          <p:cNvPr id="26" name="Text 19"/>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7" name="Text 20"/>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DESIGN INSIGHT</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The core bet: foundation models, not detectors from scratch</a:t>
            </a:r>
            <a:endParaRPr lang="en-US" sz="3000" dirty="0"/>
          </a:p>
        </p:txBody>
      </p:sp>
      <p:sp>
        <p:nvSpPr>
          <p:cNvPr id="4" name="Text 2"/>
          <p:cNvSpPr txBox="1"/>
          <p:nvPr/>
        </p:nvSpPr>
        <p:spPr>
          <a:xfrm>
            <a:off x="548640" y="1417320"/>
            <a:ext cx="11064240" cy="685800"/>
          </a:xfrm>
          <a:prstGeom prst="rect">
            <a:avLst/>
          </a:prstGeom>
          <a:noFill/>
          <a:ln/>
        </p:spPr>
        <p:txBody>
          <a:bodyPr wrap="square" lIns="0" tIns="0" rIns="0" bIns="0" rtlCol="0" anchor="ctr"/>
          <a:lstStyle/>
          <a:p>
            <a:pPr indent="0" marL="0">
              <a:lnSpc>
                <a:spcPct val="130000"/>
              </a:lnSpc>
              <a:buNone/>
            </a:pPr>
            <a:r>
              <a:rPr sz="1350">
                <a:solidFill>
                  <a:srgbClr val="44506B"/>
                </a:solidFill>
                <a:latin typeface="Calibri"/>
              </a:rPr>
              <a:t>Benchmarks across many generators keep showing the same thing. A detector trained from scratch learns the synthesis methods it saw. A large pretrained speech model holds up better, because it learned what real speech is before it ever saw a fake.</a:t>
            </a:r>
            <a:endParaRPr lang="en-US" sz="1350" dirty="0"/>
          </a:p>
        </p:txBody>
      </p:sp>
      <p:sp>
        <p:nvSpPr>
          <p:cNvPr id="5" name="Shape 3"/>
          <p:cNvSpPr/>
          <p:nvPr/>
        </p:nvSpPr>
        <p:spPr>
          <a:xfrm>
            <a:off x="548640" y="2331720"/>
            <a:ext cx="5349240" cy="3703320"/>
          </a:xfrm>
          <a:prstGeom prst="roundRect">
            <a:avLst>
              <a:gd name="adj" fmla="val 1975"/>
            </a:avLst>
          </a:prstGeom>
          <a:solidFill>
            <a:srgbClr val="F4F6FC"/>
          </a:solidFill>
          <a:ln w="12700">
            <a:solidFill>
              <a:srgbClr val="CADCFC"/>
            </a:solidFill>
            <a:prstDash val="solid"/>
          </a:ln>
        </p:spPr>
        <p:txBody>
          <a:bodyPr/>
          <a:p/>
        </p:txBody>
      </p:sp>
      <p:sp>
        <p:nvSpPr>
          <p:cNvPr id="6" name="Text 4"/>
          <p:cNvSpPr txBox="1"/>
          <p:nvPr/>
        </p:nvSpPr>
        <p:spPr>
          <a:xfrm>
            <a:off x="868680" y="2606040"/>
            <a:ext cx="4754880" cy="457200"/>
          </a:xfrm>
          <a:prstGeom prst="rect">
            <a:avLst/>
          </a:prstGeom>
          <a:noFill/>
          <a:ln/>
        </p:spPr>
        <p:txBody>
          <a:bodyPr wrap="square" lIns="0" tIns="0" rIns="0" bIns="0" rtlCol="0" anchor="ctr"/>
          <a:lstStyle/>
          <a:p>
            <a:pPr indent="0" marL="0">
              <a:buNone/>
            </a:pPr>
            <a:r>
              <a:rPr lang="en-US" sz="1600" b="1" dirty="0">
                <a:solidFill>
                  <a:srgbClr val="8792AC"/>
                </a:solidFill>
                <a:latin typeface="Calibri" pitchFamily="34" charset="0"/>
                <a:ea typeface="Calibri" pitchFamily="34" charset="-122"/>
                <a:cs typeface="Calibri" pitchFamily="34" charset="-120"/>
              </a:rPr>
              <a:t>Traditional CNN / RNN Detectors</a:t>
            </a:r>
            <a:endParaRPr lang="en-US" sz="1600" dirty="0"/>
          </a:p>
        </p:txBody>
      </p:sp>
      <p:sp>
        <p:nvSpPr>
          <p:cNvPr id="7" name="Text 5"/>
          <p:cNvSpPr txBox="1"/>
          <p:nvPr/>
        </p:nvSpPr>
        <p:spPr>
          <a:xfrm>
            <a:off x="868680" y="3200400"/>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Trained end-to-end on spectrograms from known vocoders</a:t>
            </a:r>
            <a:endParaRPr lang="en-US" sz="1250" dirty="0"/>
          </a:p>
        </p:txBody>
      </p:sp>
      <p:sp>
        <p:nvSpPr>
          <p:cNvPr id="8" name="Text 6"/>
          <p:cNvSpPr txBox="1"/>
          <p:nvPr/>
        </p:nvSpPr>
        <p:spPr>
          <a:xfrm>
            <a:off x="868680" y="3858768"/>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Strong on in-distribution benchmarks</a:t>
            </a:r>
            <a:endParaRPr lang="en-US" sz="1250" dirty="0"/>
          </a:p>
        </p:txBody>
      </p:sp>
      <p:sp>
        <p:nvSpPr>
          <p:cNvPr id="9" name="Text 7"/>
          <p:cNvSpPr txBox="1"/>
          <p:nvPr/>
        </p:nvSpPr>
        <p:spPr>
          <a:xfrm>
            <a:off x="868680" y="4517136"/>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Accuracy drops sharply on unseen generator families</a:t>
            </a:r>
            <a:endParaRPr lang="en-US" sz="1250" dirty="0"/>
          </a:p>
        </p:txBody>
      </p:sp>
      <p:sp>
        <p:nvSpPr>
          <p:cNvPr id="10" name="Text 8"/>
          <p:cNvSpPr txBox="1"/>
          <p:nvPr/>
        </p:nvSpPr>
        <p:spPr>
          <a:xfrm>
            <a:off x="868680" y="5175504"/>
            <a:ext cx="4754880" cy="594360"/>
          </a:xfrm>
          <a:prstGeom prst="rect">
            <a:avLst/>
          </a:prstGeom>
          <a:noFill/>
          <a:ln/>
        </p:spPr>
        <p:txBody>
          <a:bodyPr wrap="square" lIns="0" tIns="0" rIns="0" bIns="0" rtlCol="0" anchor="ctr"/>
          <a:lstStyle/>
          <a:p>
            <a:pPr marL="342900" indent="-342900">
              <a:lnSpc>
                <a:spcPct val="115000"/>
              </a:lnSpc>
              <a:buSzPct val="100000"/>
              <a:buChar char="✗"/>
            </a:pPr>
            <a:r>
              <a:rPr sz="1250">
                <a:solidFill>
                  <a:srgbClr val="44506B"/>
                </a:solidFill>
                <a:latin typeface="Calibri"/>
              </a:rPr>
              <a:t>Little transfer to a new corpus or channel</a:t>
            </a:r>
            <a:endParaRPr lang="en-US" sz="1250" dirty="0"/>
          </a:p>
        </p:txBody>
      </p:sp>
      <p:sp>
        <p:nvSpPr>
          <p:cNvPr id="11" name="Shape 9"/>
          <p:cNvSpPr/>
          <p:nvPr/>
        </p:nvSpPr>
        <p:spPr>
          <a:xfrm>
            <a:off x="6263640" y="2331720"/>
            <a:ext cx="5349240" cy="3703320"/>
          </a:xfrm>
          <a:prstGeom prst="roundRect">
            <a:avLst>
              <a:gd name="adj" fmla="val 1975"/>
            </a:avLst>
          </a:prstGeom>
          <a:solidFill>
            <a:srgbClr val="1E2761"/>
          </a:solidFill>
          <a:ln/>
        </p:spPr>
        <p:txBody>
          <a:bodyPr/>
          <a:p/>
        </p:txBody>
      </p:sp>
      <p:sp>
        <p:nvSpPr>
          <p:cNvPr id="12" name="Text 10"/>
          <p:cNvSpPr txBox="1"/>
          <p:nvPr/>
        </p:nvSpPr>
        <p:spPr>
          <a:xfrm>
            <a:off x="6583680" y="2606040"/>
            <a:ext cx="475488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SSL Foundation Models (Wav2Vec2 / WavLM)</a:t>
            </a:r>
            <a:endParaRPr lang="en-US" sz="1600" dirty="0"/>
          </a:p>
        </p:txBody>
      </p:sp>
      <p:sp>
        <p:nvSpPr>
          <p:cNvPr id="13" name="Text 11"/>
          <p:cNvSpPr txBox="1"/>
          <p:nvPr/>
        </p:nvSpPr>
        <p:spPr>
          <a:xfrm>
            <a:off x="6583680" y="3200400"/>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Large-scale pretraining gives richer, more general speech representations</a:t>
            </a:r>
            <a:endParaRPr lang="en-US" sz="1250" dirty="0"/>
          </a:p>
        </p:txBody>
      </p:sp>
      <p:sp>
        <p:nvSpPr>
          <p:cNvPr id="14" name="Text 12"/>
          <p:cNvSpPr txBox="1"/>
          <p:nvPr/>
        </p:nvSpPr>
        <p:spPr>
          <a:xfrm>
            <a:off x="6583680" y="3858768"/>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Demonstrated cross-generator generalization in benchmark studies</a:t>
            </a:r>
            <a:endParaRPr lang="en-US" sz="1250" dirty="0"/>
          </a:p>
        </p:txBody>
      </p:sp>
      <p:sp>
        <p:nvSpPr>
          <p:cNvPr id="15" name="Text 13"/>
          <p:cNvSpPr txBox="1"/>
          <p:nvPr/>
        </p:nvSpPr>
        <p:spPr>
          <a:xfrm>
            <a:off x="6583680" y="4517136"/>
            <a:ext cx="4754880" cy="594360"/>
          </a:xfrm>
          <a:prstGeom prst="rect">
            <a:avLst/>
          </a:prstGeom>
          <a:noFill/>
          <a:ln/>
        </p:spPr>
        <p:txBody>
          <a:bodyPr wrap="square" lIns="0" tIns="0" rIns="0" bIns="0" rtlCol="0" anchor="ctr"/>
          <a:lstStyle/>
          <a:p>
            <a:pPr marL="342900" indent="-342900">
              <a:lnSpc>
                <a:spcPct val="115000"/>
              </a:lnSpc>
              <a:buSzPct val="100000"/>
              <a:buChar char="✓"/>
            </a:pPr>
            <a:r>
              <a:rPr sz="1250">
                <a:solidFill>
                  <a:srgbClr val="CADCFC"/>
                </a:solidFill>
                <a:latin typeface="Calibri"/>
              </a:rPr>
              <a:t>Holds up under attack: 11.6% EER where a CNN detector goes to 61.81%</a:t>
            </a:r>
            <a:endParaRPr lang="en-US" sz="1250" dirty="0"/>
          </a:p>
        </p:txBody>
      </p:sp>
      <p:sp>
        <p:nvSpPr>
          <p:cNvPr id="16" name="Text 14"/>
          <p:cNvSpPr txBox="1"/>
          <p:nvPr/>
        </p:nvSpPr>
        <p:spPr>
          <a:xfrm>
            <a:off x="6583680" y="5175504"/>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Supports few-shot adaptation for high-value protected identities</a:t>
            </a:r>
            <a:endParaRPr lang="en-US" sz="1250" dirty="0"/>
          </a:p>
        </p:txBody>
      </p:sp>
      <p:sp>
        <p:nvSpPr>
          <p:cNvPr id="17" name="Text 15"/>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18" name="Text 16"/>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6</a:t>
            </a:r>
            <a:endParaRPr lang="en-US" sz="900" dirty="0"/>
          </a:p>
        </p:txBody>
      </p:sp>
      <p:sp>
        <p:nvSpPr>
          <p:cNvPr id="19" name="TextBox 18"/>
          <p:cNvSpPr txBox="1"/>
          <p:nvPr/>
        </p:nvSpPr>
        <p:spPr>
          <a:xfrm>
            <a:off x="548640" y="6025896"/>
            <a:ext cx="11091672" cy="502920"/>
          </a:xfrm>
          <a:prstGeom prst="rect">
            <a:avLst/>
          </a:prstGeom>
          <a:noFill/>
        </p:spPr>
        <p:txBody>
          <a:bodyPr wrap="square" lIns="0" rIns="0" tIns="0" bIns="0">
            <a:spAutoFit/>
          </a:bodyPr>
          <a:lstStyle/>
          <a:p>
            <a:pPr>
              <a:lnSpc>
                <a:spcPct val="125000"/>
              </a:lnSpc>
              <a:spcAft>
                <a:spcPts val="0"/>
              </a:spcAft>
            </a:pPr>
            <a:r>
              <a:rPr sz="1100" i="1">
                <a:solidFill>
                  <a:srgbClr val="8792AC"/>
                </a:solidFill>
                <a:latin typeface="Calibri"/>
              </a:rPr>
              <a:t>Comparison from SONAR (Li, Chen &amp; Wei, 2024). The caveat we have to carry: at 8 kHz over a real call-centre path, a 3.55M-parameter model matched WavLM Large (Delgado et al., ICASSP 2026). Which holds for us is an open question we intend to measure, not assume.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PROPOSED SYSTEM</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Detection pipeline, end to end</a:t>
            </a:r>
            <a:endParaRPr lang="en-US" sz="3000" dirty="0"/>
          </a:p>
        </p:txBody>
      </p:sp>
      <p:sp>
        <p:nvSpPr>
          <p:cNvPr id="4" name="Shape 2"/>
          <p:cNvSpPr/>
          <p:nvPr/>
        </p:nvSpPr>
        <p:spPr>
          <a:xfrm>
            <a:off x="548640" y="2331720"/>
            <a:ext cx="2331720" cy="2194560"/>
          </a:xfrm>
          <a:prstGeom prst="roundRect">
            <a:avLst>
              <a:gd name="adj" fmla="val 3333"/>
            </a:avLst>
          </a:prstGeom>
          <a:solidFill>
            <a:srgbClr val="F4F6FC"/>
          </a:solidFill>
          <a:ln/>
        </p:spPr>
        <p:txBody>
          <a:bodyPr/>
          <a:p/>
        </p:txBody>
      </p:sp>
      <p:pic>
        <p:nvPicPr>
          <p:cNvPr id="5" name="Image 0" descr="/home/claude/deck/icons/mic_1E2761.png">    </p:cNvPr>
          <p:cNvPicPr>
            <a:picLocks noChangeAspect="1"/>
          </p:cNvPicPr>
          <p:nvPr/>
        </p:nvPicPr>
        <p:blipFill>
          <a:blip r:embed="rId1"/>
          <a:stretch>
            <a:fillRect/>
          </a:stretch>
        </p:blipFill>
        <p:spPr>
          <a:xfrm>
            <a:off x="1440180" y="2587752"/>
            <a:ext cx="548640" cy="548640"/>
          </a:xfrm>
          <a:prstGeom prst="rect">
            <a:avLst/>
          </a:prstGeom>
        </p:spPr>
      </p:pic>
      <p:sp>
        <p:nvSpPr>
          <p:cNvPr id="6" name="Text 3"/>
          <p:cNvSpPr txBox="1"/>
          <p:nvPr/>
        </p:nvSpPr>
        <p:spPr>
          <a:xfrm>
            <a:off x="685800" y="3246120"/>
            <a:ext cx="2057400" cy="457200"/>
          </a:xfrm>
          <a:prstGeom prst="rect">
            <a:avLst/>
          </a:prstGeom>
          <a:noFill/>
          <a:ln/>
        </p:spPr>
        <p:txBody>
          <a:bodyPr wrap="square" lIns="0" tIns="0" rIns="0" bIns="0" rtlCol="0" anchor="ctr"/>
          <a:lstStyle/>
          <a:p>
            <a:pPr algn="ctr" indent="0" marL="0">
              <a:buNone/>
            </a:pPr>
            <a:r>
              <a:rPr lang="en-US" sz="1350" b="1" dirty="0">
                <a:solidFill>
                  <a:srgbClr val="1B1F3B"/>
                </a:solidFill>
                <a:latin typeface="Calibri" pitchFamily="34" charset="0"/>
                <a:ea typeface="Calibri" pitchFamily="34" charset="-122"/>
                <a:cs typeface="Calibri" pitchFamily="34" charset="-120"/>
              </a:rPr>
              <a:t>Audio Stream</a:t>
            </a:r>
            <a:endParaRPr lang="en-US" sz="1350" dirty="0"/>
          </a:p>
        </p:txBody>
      </p:sp>
      <p:sp>
        <p:nvSpPr>
          <p:cNvPr id="7" name="Text 4"/>
          <p:cNvSpPr txBox="1"/>
          <p:nvPr/>
        </p:nvSpPr>
        <p:spPr>
          <a:xfrm>
            <a:off x="685800" y="3657600"/>
            <a:ext cx="2057400" cy="822960"/>
          </a:xfrm>
          <a:prstGeom prst="rect">
            <a:avLst/>
          </a:prstGeom>
          <a:noFill/>
          <a:ln/>
        </p:spPr>
        <p:txBody>
          <a:bodyPr wrap="square" lIns="0" tIns="0" rIns="0" bIns="0" rtlCol="0" anchor="ctr"/>
          <a:lstStyle/>
          <a:p>
            <a:pPr algn="ctr" indent="0" marL="0">
              <a:lnSpc>
                <a:spcPct val="115000"/>
              </a:lnSpc>
              <a:buNone/>
            </a:pPr>
            <a:r>
              <a:rPr sz="1050">
                <a:solidFill>
                  <a:srgbClr val="44506B"/>
                </a:solidFill>
                <a:latin typeface="Calibri"/>
              </a:rPr>
              <a:t>Live call audio, chunked into overlapping 1-2s windows</a:t>
            </a:r>
            <a:endParaRPr lang="en-US" sz="1050" dirty="0"/>
          </a:p>
        </p:txBody>
      </p:sp>
      <p:sp>
        <p:nvSpPr>
          <p:cNvPr id="8" name="Text 5"/>
          <p:cNvSpPr txBox="1"/>
          <p:nvPr/>
        </p:nvSpPr>
        <p:spPr>
          <a:xfrm>
            <a:off x="2880360" y="3108960"/>
            <a:ext cx="384048" cy="640080"/>
          </a:xfrm>
          <a:prstGeom prst="rect">
            <a:avLst/>
          </a:prstGeom>
          <a:noFill/>
          <a:ln/>
        </p:spPr>
        <p:txBody>
          <a:bodyPr wrap="square" lIns="0" tIns="0" rIns="0" bIns="0" rtlCol="0" anchor="ctr"/>
          <a:lstStyle/>
          <a:p>
            <a:pPr algn="ctr" indent="0" marL="0">
              <a:buNone/>
            </a:pPr>
            <a:r>
              <a:rPr lang="en-US" sz="2600" b="1" dirty="0">
                <a:solidFill>
                  <a:srgbClr val="E94F37"/>
                </a:solidFill>
                <a:latin typeface="Arial" pitchFamily="34" charset="0"/>
                <a:ea typeface="Arial" pitchFamily="34" charset="-122"/>
                <a:cs typeface="Arial" pitchFamily="34" charset="-120"/>
              </a:rPr>
              <a:t>→</a:t>
            </a:r>
            <a:endParaRPr lang="en-US" sz="2600" dirty="0"/>
          </a:p>
        </p:txBody>
      </p:sp>
      <p:sp>
        <p:nvSpPr>
          <p:cNvPr id="9" name="Shape 6"/>
          <p:cNvSpPr/>
          <p:nvPr/>
        </p:nvSpPr>
        <p:spPr>
          <a:xfrm>
            <a:off x="3264408" y="2331720"/>
            <a:ext cx="2331720" cy="2194560"/>
          </a:xfrm>
          <a:prstGeom prst="roundRect">
            <a:avLst>
              <a:gd name="adj" fmla="val 3333"/>
            </a:avLst>
          </a:prstGeom>
          <a:solidFill>
            <a:srgbClr val="F4F6FC"/>
          </a:solidFill>
          <a:ln/>
        </p:spPr>
        <p:txBody>
          <a:bodyPr/>
          <a:p/>
        </p:txBody>
      </p:sp>
      <p:pic>
        <p:nvPicPr>
          <p:cNvPr id="10" name="Image 1" descr="/home/claude/deck/icons/layers_1E2761.png">    </p:cNvPr>
          <p:cNvPicPr>
            <a:picLocks noChangeAspect="1"/>
          </p:cNvPicPr>
          <p:nvPr/>
        </p:nvPicPr>
        <p:blipFill>
          <a:blip r:embed="rId2"/>
          <a:stretch>
            <a:fillRect/>
          </a:stretch>
        </p:blipFill>
        <p:spPr>
          <a:xfrm>
            <a:off x="4155948" y="2587752"/>
            <a:ext cx="548640" cy="548640"/>
          </a:xfrm>
          <a:prstGeom prst="rect">
            <a:avLst/>
          </a:prstGeom>
        </p:spPr>
      </p:pic>
      <p:sp>
        <p:nvSpPr>
          <p:cNvPr id="11" name="Text 7"/>
          <p:cNvSpPr txBox="1"/>
          <p:nvPr/>
        </p:nvSpPr>
        <p:spPr>
          <a:xfrm>
            <a:off x="3401568" y="3246120"/>
            <a:ext cx="2057400" cy="457200"/>
          </a:xfrm>
          <a:prstGeom prst="rect">
            <a:avLst/>
          </a:prstGeom>
          <a:noFill/>
          <a:ln/>
        </p:spPr>
        <p:txBody>
          <a:bodyPr wrap="square" lIns="0" tIns="0" rIns="0" bIns="0" rtlCol="0" anchor="ctr"/>
          <a:lstStyle/>
          <a:p>
            <a:pPr algn="ctr" indent="0" marL="0">
              <a:buNone/>
            </a:pPr>
            <a:r>
              <a:rPr lang="en-US" sz="1350" b="1" dirty="0">
                <a:solidFill>
                  <a:srgbClr val="1B1F3B"/>
                </a:solidFill>
                <a:latin typeface="Calibri" pitchFamily="34" charset="0"/>
                <a:ea typeface="Calibri" pitchFamily="34" charset="-122"/>
                <a:cs typeface="Calibri" pitchFamily="34" charset="-120"/>
              </a:rPr>
              <a:t>Feature Front-End</a:t>
            </a:r>
            <a:endParaRPr lang="en-US" sz="1350" dirty="0"/>
          </a:p>
        </p:txBody>
      </p:sp>
      <p:sp>
        <p:nvSpPr>
          <p:cNvPr id="12" name="Text 8"/>
          <p:cNvSpPr txBox="1"/>
          <p:nvPr/>
        </p:nvSpPr>
        <p:spPr>
          <a:xfrm>
            <a:off x="3401568"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44506B"/>
                </a:solidFill>
                <a:latin typeface="Calibri" pitchFamily="34" charset="0"/>
                <a:ea typeface="Calibri" pitchFamily="34" charset="-122"/>
                <a:cs typeface="Calibri" pitchFamily="34" charset="-120"/>
              </a:rPr>
              <a:t>SSL embeddings (Wav2Vec2/WavLM) + CQT/LFCC + pitch &amp; phase artifacts</a:t>
            </a:r>
            <a:endParaRPr lang="en-US" sz="1050" dirty="0"/>
          </a:p>
        </p:txBody>
      </p:sp>
      <p:sp>
        <p:nvSpPr>
          <p:cNvPr id="13" name="Text 9"/>
          <p:cNvSpPr txBox="1"/>
          <p:nvPr/>
        </p:nvSpPr>
        <p:spPr>
          <a:xfrm>
            <a:off x="5596128" y="3108960"/>
            <a:ext cx="384048" cy="640080"/>
          </a:xfrm>
          <a:prstGeom prst="rect">
            <a:avLst/>
          </a:prstGeom>
          <a:noFill/>
          <a:ln/>
        </p:spPr>
        <p:txBody>
          <a:bodyPr wrap="square" lIns="0" tIns="0" rIns="0" bIns="0" rtlCol="0" anchor="ctr"/>
          <a:lstStyle/>
          <a:p>
            <a:pPr algn="ctr" indent="0" marL="0">
              <a:buNone/>
            </a:pPr>
            <a:r>
              <a:rPr lang="en-US" sz="2600" b="1" dirty="0">
                <a:solidFill>
                  <a:srgbClr val="E94F37"/>
                </a:solidFill>
                <a:latin typeface="Arial" pitchFamily="34" charset="0"/>
                <a:ea typeface="Arial" pitchFamily="34" charset="-122"/>
                <a:cs typeface="Arial" pitchFamily="34" charset="-120"/>
              </a:rPr>
              <a:t>→</a:t>
            </a:r>
            <a:endParaRPr lang="en-US" sz="2600" dirty="0"/>
          </a:p>
        </p:txBody>
      </p:sp>
      <p:sp>
        <p:nvSpPr>
          <p:cNvPr id="14" name="Shape 10"/>
          <p:cNvSpPr/>
          <p:nvPr/>
        </p:nvSpPr>
        <p:spPr>
          <a:xfrm>
            <a:off x="5980176" y="2331720"/>
            <a:ext cx="2331720" cy="2194560"/>
          </a:xfrm>
          <a:prstGeom prst="roundRect">
            <a:avLst>
              <a:gd name="adj" fmla="val 3333"/>
            </a:avLst>
          </a:prstGeom>
          <a:solidFill>
            <a:srgbClr val="1E2761"/>
          </a:solidFill>
          <a:ln/>
        </p:spPr>
        <p:txBody>
          <a:bodyPr/>
          <a:p/>
        </p:txBody>
      </p:sp>
      <p:pic>
        <p:nvPicPr>
          <p:cNvPr id="15" name="Image 2" descr="/home/claude/deck/icons/cpu_FFFFFF.png">    </p:cNvPr>
          <p:cNvPicPr>
            <a:picLocks noChangeAspect="1"/>
          </p:cNvPicPr>
          <p:nvPr/>
        </p:nvPicPr>
        <p:blipFill>
          <a:blip r:embed="rId3"/>
          <a:stretch>
            <a:fillRect/>
          </a:stretch>
        </p:blipFill>
        <p:spPr>
          <a:xfrm>
            <a:off x="6871716" y="2587752"/>
            <a:ext cx="548640" cy="548640"/>
          </a:xfrm>
          <a:prstGeom prst="rect">
            <a:avLst/>
          </a:prstGeom>
        </p:spPr>
      </p:pic>
      <p:sp>
        <p:nvSpPr>
          <p:cNvPr id="16" name="Text 11"/>
          <p:cNvSpPr txBox="1"/>
          <p:nvPr/>
        </p:nvSpPr>
        <p:spPr>
          <a:xfrm>
            <a:off x="6117336" y="3246120"/>
            <a:ext cx="20574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Lightweight Attention Head</a:t>
            </a:r>
            <a:endParaRPr lang="en-US" sz="1350" dirty="0"/>
          </a:p>
        </p:txBody>
      </p:sp>
      <p:sp>
        <p:nvSpPr>
          <p:cNvPr id="17" name="Text 12"/>
          <p:cNvSpPr txBox="1"/>
          <p:nvPr/>
        </p:nvSpPr>
        <p:spPr>
          <a:xfrm>
            <a:off x="6117336"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CADCFC"/>
                </a:solidFill>
                <a:latin typeface="Calibri" pitchFamily="34" charset="0"/>
                <a:ea typeface="Calibri" pitchFamily="34" charset="-122"/>
                <a:cs typeface="Calibri" pitchFamily="34" charset="-120"/>
              </a:rPr>
              <a:t>Compact spectro-temporal attention classifier on top of frozen/LoRA backbone</a:t>
            </a:r>
            <a:endParaRPr lang="en-US" sz="1050" dirty="0"/>
          </a:p>
        </p:txBody>
      </p:sp>
      <p:sp>
        <p:nvSpPr>
          <p:cNvPr id="18" name="Text 13"/>
          <p:cNvSpPr txBox="1"/>
          <p:nvPr/>
        </p:nvSpPr>
        <p:spPr>
          <a:xfrm>
            <a:off x="8311896" y="3108960"/>
            <a:ext cx="384048" cy="640080"/>
          </a:xfrm>
          <a:prstGeom prst="rect">
            <a:avLst/>
          </a:prstGeom>
          <a:noFill/>
          <a:ln/>
        </p:spPr>
        <p:txBody>
          <a:bodyPr wrap="square" lIns="0" tIns="0" rIns="0" bIns="0" rtlCol="0" anchor="ctr"/>
          <a:lstStyle/>
          <a:p>
            <a:pPr algn="ctr" indent="0" marL="0">
              <a:buNone/>
            </a:pPr>
            <a:r>
              <a:rPr lang="en-US" sz="2600" b="1" dirty="0">
                <a:solidFill>
                  <a:srgbClr val="E94F37"/>
                </a:solidFill>
                <a:latin typeface="Arial" pitchFamily="34" charset="0"/>
                <a:ea typeface="Arial" pitchFamily="34" charset="-122"/>
                <a:cs typeface="Arial" pitchFamily="34" charset="-120"/>
              </a:rPr>
              <a:t>→</a:t>
            </a:r>
            <a:endParaRPr lang="en-US" sz="2600" dirty="0"/>
          </a:p>
        </p:txBody>
      </p:sp>
      <p:sp>
        <p:nvSpPr>
          <p:cNvPr id="19" name="Shape 14"/>
          <p:cNvSpPr/>
          <p:nvPr/>
        </p:nvSpPr>
        <p:spPr>
          <a:xfrm>
            <a:off x="8695944" y="2331720"/>
            <a:ext cx="2331720" cy="2194560"/>
          </a:xfrm>
          <a:prstGeom prst="roundRect">
            <a:avLst>
              <a:gd name="adj" fmla="val 3333"/>
            </a:avLst>
          </a:prstGeom>
          <a:solidFill>
            <a:srgbClr val="F4F6FC"/>
          </a:solidFill>
          <a:ln/>
        </p:spPr>
        <p:txBody>
          <a:bodyPr/>
          <a:p/>
        </p:txBody>
      </p:sp>
      <p:pic>
        <p:nvPicPr>
          <p:cNvPr id="20" name="Image 3" descr="/home/claude/deck/icons/target_1E2761.png">    </p:cNvPr>
          <p:cNvPicPr>
            <a:picLocks noChangeAspect="1"/>
          </p:cNvPicPr>
          <p:nvPr/>
        </p:nvPicPr>
        <p:blipFill>
          <a:blip r:embed="rId4"/>
          <a:stretch>
            <a:fillRect/>
          </a:stretch>
        </p:blipFill>
        <p:spPr>
          <a:xfrm>
            <a:off x="9587484" y="2587752"/>
            <a:ext cx="548640" cy="548640"/>
          </a:xfrm>
          <a:prstGeom prst="rect">
            <a:avLst/>
          </a:prstGeom>
        </p:spPr>
      </p:pic>
      <p:sp>
        <p:nvSpPr>
          <p:cNvPr id="21" name="Text 15"/>
          <p:cNvSpPr txBox="1"/>
          <p:nvPr/>
        </p:nvSpPr>
        <p:spPr>
          <a:xfrm>
            <a:off x="8833104" y="3246120"/>
            <a:ext cx="2057400" cy="457200"/>
          </a:xfrm>
          <a:prstGeom prst="rect">
            <a:avLst/>
          </a:prstGeom>
          <a:noFill/>
          <a:ln/>
        </p:spPr>
        <p:txBody>
          <a:bodyPr wrap="square" lIns="0" tIns="0" rIns="0" bIns="0" rtlCol="0" anchor="ctr"/>
          <a:lstStyle/>
          <a:p>
            <a:pPr algn="ctr" indent="0" marL="0">
              <a:buNone/>
            </a:pPr>
            <a:r>
              <a:rPr lang="en-US" sz="1350" b="1" dirty="0">
                <a:solidFill>
                  <a:srgbClr val="1B1F3B"/>
                </a:solidFill>
                <a:latin typeface="Calibri" pitchFamily="34" charset="0"/>
                <a:ea typeface="Calibri" pitchFamily="34" charset="-122"/>
                <a:cs typeface="Calibri" pitchFamily="34" charset="-120"/>
              </a:rPr>
              <a:t>Trust Score</a:t>
            </a:r>
            <a:endParaRPr lang="en-US" sz="1350" dirty="0"/>
          </a:p>
        </p:txBody>
      </p:sp>
      <p:sp>
        <p:nvSpPr>
          <p:cNvPr id="22" name="Text 16"/>
          <p:cNvSpPr txBox="1"/>
          <p:nvPr/>
        </p:nvSpPr>
        <p:spPr>
          <a:xfrm>
            <a:off x="8833104"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44506B"/>
                </a:solidFill>
                <a:latin typeface="Calibri" pitchFamily="34" charset="0"/>
                <a:ea typeface="Calibri" pitchFamily="34" charset="-122"/>
                <a:cs typeface="Calibri" pitchFamily="34" charset="-120"/>
              </a:rPr>
              <a:t>Running per-segment authenticity score, streamed continuously</a:t>
            </a:r>
            <a:endParaRPr lang="en-US" sz="1050" dirty="0"/>
          </a:p>
        </p:txBody>
      </p:sp>
      <p:sp>
        <p:nvSpPr>
          <p:cNvPr id="23" name="Shape 17"/>
          <p:cNvSpPr/>
          <p:nvPr/>
        </p:nvSpPr>
        <p:spPr>
          <a:xfrm>
            <a:off x="548640" y="4983480"/>
            <a:ext cx="11064240" cy="1051560"/>
          </a:xfrm>
          <a:prstGeom prst="roundRect">
            <a:avLst>
              <a:gd name="adj" fmla="val 6957"/>
            </a:avLst>
          </a:prstGeom>
          <a:solidFill>
            <a:srgbClr val="FFF3F1"/>
          </a:solidFill>
          <a:ln w="12700">
            <a:solidFill>
              <a:srgbClr val="E94F37"/>
            </a:solidFill>
            <a:prstDash val="solid"/>
          </a:ln>
        </p:spPr>
        <p:txBody>
          <a:bodyPr/>
          <a:p/>
        </p:txBody>
      </p:sp>
      <p:pic>
        <p:nvPicPr>
          <p:cNvPr id="24" name="Image 4" descr="/home/claude/deck/icons/alert_1E2761.png">    </p:cNvPr>
          <p:cNvPicPr>
            <a:picLocks noChangeAspect="1"/>
          </p:cNvPicPr>
          <p:nvPr/>
        </p:nvPicPr>
        <p:blipFill>
          <a:blip r:embed="rId5"/>
          <a:stretch>
            <a:fillRect/>
          </a:stretch>
        </p:blipFill>
        <p:spPr>
          <a:xfrm>
            <a:off x="822960" y="5230368"/>
            <a:ext cx="502920" cy="502920"/>
          </a:xfrm>
          <a:prstGeom prst="rect">
            <a:avLst/>
          </a:prstGeom>
        </p:spPr>
      </p:pic>
      <p:sp>
        <p:nvSpPr>
          <p:cNvPr id="25" name="Text 18"/>
          <p:cNvSpPr txBox="1"/>
          <p:nvPr/>
        </p:nvSpPr>
        <p:spPr>
          <a:xfrm>
            <a:off x="1463040" y="5138928"/>
            <a:ext cx="9875520" cy="685800"/>
          </a:xfrm>
          <a:prstGeom prst="rect">
            <a:avLst/>
          </a:prstGeom>
          <a:noFill/>
          <a:ln/>
        </p:spPr>
        <p:txBody>
          <a:bodyPr wrap="square" lIns="0" tIns="0" rIns="0" bIns="0" rtlCol="0" anchor="ctr"/>
          <a:lstStyle/>
          <a:p>
            <a:pPr indent="0" marL="0">
              <a:lnSpc>
                <a:spcPct val="120000"/>
              </a:lnSpc>
              <a:buNone/>
            </a:pPr>
            <a:r>
              <a:rPr sz="1250">
                <a:solidFill>
                  <a:srgbClr val="1B1F3B"/>
                </a:solidFill>
                <a:latin typeface="Calibri"/>
              </a:rPr>
              <a:t>The trust score is thresholded for a real-time block or allow, then passed on as one signal into the multi-layer defense on the next slide.</a:t>
            </a:r>
            <a:endParaRPr lang="en-US" sz="1250" dirty="0"/>
          </a:p>
        </p:txBody>
      </p:sp>
      <p:sp>
        <p:nvSpPr>
          <p:cNvPr id="26" name="Text 19"/>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7" name="Text 20"/>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SYSTEMS ENGINEERING</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Making it real-time, not just accurate</a:t>
            </a:r>
            <a:endParaRPr lang="en-US" sz="3000" dirty="0"/>
          </a:p>
        </p:txBody>
      </p:sp>
      <p:sp>
        <p:nvSpPr>
          <p:cNvPr id="4" name="Shape 2"/>
          <p:cNvSpPr/>
          <p:nvPr/>
        </p:nvSpPr>
        <p:spPr>
          <a:xfrm>
            <a:off x="548640" y="1600200"/>
            <a:ext cx="5349240" cy="2103120"/>
          </a:xfrm>
          <a:prstGeom prst="roundRect">
            <a:avLst>
              <a:gd name="adj" fmla="val 3478"/>
            </a:avLst>
          </a:prstGeom>
          <a:solidFill>
            <a:srgbClr val="F4F6FC"/>
          </a:solidFill>
          <a:ln/>
        </p:spPr>
        <p:txBody>
          <a:bodyPr/>
          <a:p/>
        </p:txBody>
      </p:sp>
      <p:sp>
        <p:nvSpPr>
          <p:cNvPr id="5" name="Shape 3"/>
          <p:cNvSpPr/>
          <p:nvPr/>
        </p:nvSpPr>
        <p:spPr>
          <a:xfrm>
            <a:off x="822960" y="1874520"/>
            <a:ext cx="594360" cy="594360"/>
          </a:xfrm>
          <a:prstGeom prst="ellipse">
            <a:avLst/>
          </a:prstGeom>
          <a:solidFill>
            <a:srgbClr val="1E2761"/>
          </a:solidFill>
          <a:ln/>
        </p:spPr>
        <p:txBody>
          <a:bodyPr/>
          <a:p/>
        </p:txBody>
      </p:sp>
      <p:pic>
        <p:nvPicPr>
          <p:cNvPr id="6" name="Image 0" descr="/home/claude/deck/icons/activity_FFFFFF.png">    </p:cNvPr>
          <p:cNvPicPr>
            <a:picLocks noChangeAspect="1"/>
          </p:cNvPicPr>
          <p:nvPr/>
        </p:nvPicPr>
        <p:blipFill>
          <a:blip r:embed="rId1"/>
          <a:stretch>
            <a:fillRect/>
          </a:stretch>
        </p:blipFill>
        <p:spPr>
          <a:xfrm>
            <a:off x="969264" y="2020824"/>
            <a:ext cx="301752" cy="301752"/>
          </a:xfrm>
          <a:prstGeom prst="rect">
            <a:avLst/>
          </a:prstGeom>
        </p:spPr>
      </p:pic>
      <p:sp>
        <p:nvSpPr>
          <p:cNvPr id="7" name="Text 4"/>
          <p:cNvSpPr txBox="1"/>
          <p:nvPr/>
        </p:nvSpPr>
        <p:spPr>
          <a:xfrm>
            <a:off x="1600200" y="1874520"/>
            <a:ext cx="4069080" cy="411480"/>
          </a:xfrm>
          <a:prstGeom prst="rect">
            <a:avLst/>
          </a:prstGeom>
          <a:noFill/>
          <a:ln/>
        </p:spPr>
        <p:txBody>
          <a:bodyPr wrap="square" lIns="0" tIns="0" rIns="0" bIns="0" rtlCol="0" anchor="ctr"/>
          <a:lstStyle/>
          <a:p>
            <a:pPr indent="0" marL="0">
              <a:buNone/>
            </a:pPr>
            <a:r>
              <a:rPr lang="en-US" sz="1450" b="1" dirty="0">
                <a:solidFill>
                  <a:srgbClr val="1B1F3B"/>
                </a:solidFill>
                <a:latin typeface="Calibri" pitchFamily="34" charset="0"/>
                <a:ea typeface="Calibri" pitchFamily="34" charset="-122"/>
                <a:cs typeface="Calibri" pitchFamily="34" charset="-120"/>
              </a:rPr>
              <a:t>Streaming inference</a:t>
            </a:r>
            <a:endParaRPr lang="en-US" sz="1450" dirty="0"/>
          </a:p>
        </p:txBody>
      </p:sp>
      <p:sp>
        <p:nvSpPr>
          <p:cNvPr id="8" name="Text 5"/>
          <p:cNvSpPr txBox="1"/>
          <p:nvPr/>
        </p:nvSpPr>
        <p:spPr>
          <a:xfrm>
            <a:off x="822960" y="256032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Overlapping 1 to 2 second windows, with the trust score updating as the call runs rather than at the end.</a:t>
            </a:r>
            <a:endParaRPr lang="en-US" sz="1200" dirty="0"/>
          </a:p>
        </p:txBody>
      </p:sp>
      <p:sp>
        <p:nvSpPr>
          <p:cNvPr id="9" name="Shape 6"/>
          <p:cNvSpPr/>
          <p:nvPr/>
        </p:nvSpPr>
        <p:spPr>
          <a:xfrm>
            <a:off x="6263640" y="1600200"/>
            <a:ext cx="5349240" cy="2103120"/>
          </a:xfrm>
          <a:prstGeom prst="roundRect">
            <a:avLst>
              <a:gd name="adj" fmla="val 3478"/>
            </a:avLst>
          </a:prstGeom>
          <a:solidFill>
            <a:srgbClr val="F4F6FC"/>
          </a:solidFill>
          <a:ln/>
        </p:spPr>
        <p:txBody>
          <a:bodyPr/>
          <a:p/>
        </p:txBody>
      </p:sp>
      <p:sp>
        <p:nvSpPr>
          <p:cNvPr id="10" name="Shape 7"/>
          <p:cNvSpPr/>
          <p:nvPr/>
        </p:nvSpPr>
        <p:spPr>
          <a:xfrm>
            <a:off x="6537960" y="1874520"/>
            <a:ext cx="594360" cy="594360"/>
          </a:xfrm>
          <a:prstGeom prst="ellipse">
            <a:avLst/>
          </a:prstGeom>
          <a:solidFill>
            <a:srgbClr val="1E2761"/>
          </a:solidFill>
          <a:ln/>
        </p:spPr>
        <p:txBody>
          <a:bodyPr/>
          <a:p/>
        </p:txBody>
      </p:sp>
      <p:pic>
        <p:nvPicPr>
          <p:cNvPr id="11" name="Image 1" descr="/home/claude/deck/icons/cpu_FFFFFF.png">    </p:cNvPr>
          <p:cNvPicPr>
            <a:picLocks noChangeAspect="1"/>
          </p:cNvPicPr>
          <p:nvPr/>
        </p:nvPicPr>
        <p:blipFill>
          <a:blip r:embed="rId2"/>
          <a:stretch>
            <a:fillRect/>
          </a:stretch>
        </p:blipFill>
        <p:spPr>
          <a:xfrm>
            <a:off x="6684264" y="2020824"/>
            <a:ext cx="301752" cy="301752"/>
          </a:xfrm>
          <a:prstGeom prst="rect">
            <a:avLst/>
          </a:prstGeom>
        </p:spPr>
      </p:pic>
      <p:sp>
        <p:nvSpPr>
          <p:cNvPr id="12" name="Text 8"/>
          <p:cNvSpPr txBox="1"/>
          <p:nvPr/>
        </p:nvSpPr>
        <p:spPr>
          <a:xfrm>
            <a:off x="7315200" y="1874520"/>
            <a:ext cx="4069080" cy="411480"/>
          </a:xfrm>
          <a:prstGeom prst="rect">
            <a:avLst/>
          </a:prstGeom>
          <a:noFill/>
          <a:ln/>
        </p:spPr>
        <p:txBody>
          <a:bodyPr wrap="square" lIns="0" tIns="0" rIns="0" bIns="0" rtlCol="0" anchor="ctr"/>
          <a:lstStyle/>
          <a:p>
            <a:pPr indent="0" marL="0">
              <a:buNone/>
            </a:pPr>
            <a:r>
              <a:rPr lang="en-US" sz="1450" b="1" dirty="0">
                <a:solidFill>
                  <a:srgbClr val="1B1F3B"/>
                </a:solidFill>
                <a:latin typeface="Calibri" pitchFamily="34" charset="0"/>
                <a:ea typeface="Calibri" pitchFamily="34" charset="-122"/>
                <a:cs typeface="Calibri" pitchFamily="34" charset="-120"/>
              </a:rPr>
              <a:t>Model compression</a:t>
            </a:r>
            <a:endParaRPr lang="en-US" sz="1450" dirty="0"/>
          </a:p>
        </p:txBody>
      </p:sp>
      <p:sp>
        <p:nvSpPr>
          <p:cNvPr id="13" name="Text 9"/>
          <p:cNvSpPr txBox="1"/>
          <p:nvPr/>
        </p:nvSpPr>
        <p:spPr>
          <a:xfrm>
            <a:off x="6537960" y="256032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Quantize/distill the SSL backbone (INT8, distilled student) so it keeps up with the live stream on a phone.</a:t>
            </a:r>
            <a:endParaRPr lang="en-US" sz="1200" dirty="0"/>
          </a:p>
        </p:txBody>
      </p:sp>
      <p:sp>
        <p:nvSpPr>
          <p:cNvPr id="14" name="Shape 10"/>
          <p:cNvSpPr/>
          <p:nvPr/>
        </p:nvSpPr>
        <p:spPr>
          <a:xfrm>
            <a:off x="548640" y="3977640"/>
            <a:ext cx="5349240" cy="2103120"/>
          </a:xfrm>
          <a:prstGeom prst="roundRect">
            <a:avLst>
              <a:gd name="adj" fmla="val 3478"/>
            </a:avLst>
          </a:prstGeom>
          <a:solidFill>
            <a:srgbClr val="F4F6FC"/>
          </a:solidFill>
          <a:ln/>
        </p:spPr>
        <p:txBody>
          <a:bodyPr/>
          <a:p/>
        </p:txBody>
      </p:sp>
      <p:sp>
        <p:nvSpPr>
          <p:cNvPr id="15" name="Shape 11"/>
          <p:cNvSpPr/>
          <p:nvPr/>
        </p:nvSpPr>
        <p:spPr>
          <a:xfrm>
            <a:off x="822960" y="4251960"/>
            <a:ext cx="594360" cy="594360"/>
          </a:xfrm>
          <a:prstGeom prst="ellipse">
            <a:avLst/>
          </a:prstGeom>
          <a:solidFill>
            <a:srgbClr val="1E2761"/>
          </a:solidFill>
          <a:ln/>
        </p:spPr>
        <p:txBody>
          <a:bodyPr/>
          <a:p/>
        </p:txBody>
      </p:sp>
      <p:pic>
        <p:nvPicPr>
          <p:cNvPr id="16" name="Image 2" descr="/home/claude/deck/icons/phoneoff_FFFFFF.png">    </p:cNvPr>
          <p:cNvPicPr>
            <a:picLocks noChangeAspect="1"/>
          </p:cNvPicPr>
          <p:nvPr/>
        </p:nvPicPr>
        <p:blipFill>
          <a:blip r:embed="rId3"/>
          <a:stretch>
            <a:fillRect/>
          </a:stretch>
        </p:blipFill>
        <p:spPr>
          <a:xfrm>
            <a:off x="969264" y="4398264"/>
            <a:ext cx="301752" cy="301752"/>
          </a:xfrm>
          <a:prstGeom prst="rect">
            <a:avLst/>
          </a:prstGeom>
        </p:spPr>
      </p:pic>
      <p:sp>
        <p:nvSpPr>
          <p:cNvPr id="17" name="Text 12"/>
          <p:cNvSpPr txBox="1"/>
          <p:nvPr/>
        </p:nvSpPr>
        <p:spPr>
          <a:xfrm>
            <a:off x="1600200" y="4251960"/>
            <a:ext cx="4069080" cy="411480"/>
          </a:xfrm>
          <a:prstGeom prst="rect">
            <a:avLst/>
          </a:prstGeom>
          <a:noFill/>
          <a:ln/>
        </p:spPr>
        <p:txBody>
          <a:bodyPr wrap="square" lIns="0" tIns="0" rIns="0" bIns="0" rtlCol="0" anchor="ctr"/>
          <a:lstStyle/>
          <a:p>
            <a:pPr indent="0" marL="0">
              <a:buNone/>
            </a:pPr>
            <a:r>
              <a:rPr lang="en-US" sz="1450" b="1" dirty="0">
                <a:solidFill>
                  <a:srgbClr val="1B1F3B"/>
                </a:solidFill>
                <a:latin typeface="Calibri" pitchFamily="34" charset="0"/>
                <a:ea typeface="Calibri" pitchFamily="34" charset="-122"/>
                <a:cs typeface="Calibri" pitchFamily="34" charset="-120"/>
              </a:rPr>
              <a:t>Degraded-channel robustness</a:t>
            </a:r>
            <a:endParaRPr lang="en-US" sz="1450" dirty="0"/>
          </a:p>
        </p:txBody>
      </p:sp>
      <p:sp>
        <p:nvSpPr>
          <p:cNvPr id="18" name="Text 13"/>
          <p:cNvSpPr txBox="1"/>
          <p:nvPr/>
        </p:nvSpPr>
        <p:spPr>
          <a:xfrm>
            <a:off x="822960" y="493776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We measured the official baseline ourselves: PSTN transcoding costs 16.7% EER where clean audio costs 5.8%. Codec augmentation is the known fix. Published wav2vec2 goes from 19.09% to 0.56% on PSTN with RawBoost.</a:t>
            </a:r>
            <a:endParaRPr lang="en-US" sz="1200" dirty="0"/>
          </a:p>
        </p:txBody>
      </p:sp>
      <p:sp>
        <p:nvSpPr>
          <p:cNvPr id="19" name="Shape 14"/>
          <p:cNvSpPr/>
          <p:nvPr/>
        </p:nvSpPr>
        <p:spPr>
          <a:xfrm>
            <a:off x="6263640" y="3977640"/>
            <a:ext cx="5349240" cy="2103120"/>
          </a:xfrm>
          <a:prstGeom prst="roundRect">
            <a:avLst>
              <a:gd name="adj" fmla="val 3478"/>
            </a:avLst>
          </a:prstGeom>
          <a:solidFill>
            <a:srgbClr val="F4F6FC"/>
          </a:solidFill>
          <a:ln/>
        </p:spPr>
        <p:txBody>
          <a:bodyPr/>
          <a:p/>
        </p:txBody>
      </p:sp>
      <p:sp>
        <p:nvSpPr>
          <p:cNvPr id="20" name="Shape 15"/>
          <p:cNvSpPr/>
          <p:nvPr/>
        </p:nvSpPr>
        <p:spPr>
          <a:xfrm>
            <a:off x="6537960" y="4251960"/>
            <a:ext cx="594360" cy="594360"/>
          </a:xfrm>
          <a:prstGeom prst="ellipse">
            <a:avLst/>
          </a:prstGeom>
          <a:solidFill>
            <a:srgbClr val="1E2761"/>
          </a:solidFill>
          <a:ln/>
        </p:spPr>
        <p:txBody>
          <a:bodyPr/>
          <a:p/>
        </p:txBody>
      </p:sp>
      <p:pic>
        <p:nvPicPr>
          <p:cNvPr id="21" name="Image 3" descr="/home/claude/deck/icons/layers_FFFFFF.png">    </p:cNvPr>
          <p:cNvPicPr>
            <a:picLocks noChangeAspect="1"/>
          </p:cNvPicPr>
          <p:nvPr/>
        </p:nvPicPr>
        <p:blipFill>
          <a:blip r:embed="rId4"/>
          <a:stretch>
            <a:fillRect/>
          </a:stretch>
        </p:blipFill>
        <p:spPr>
          <a:xfrm>
            <a:off x="6684264" y="4398264"/>
            <a:ext cx="301752" cy="301752"/>
          </a:xfrm>
          <a:prstGeom prst="rect">
            <a:avLst/>
          </a:prstGeom>
        </p:spPr>
      </p:pic>
      <p:sp>
        <p:nvSpPr>
          <p:cNvPr id="22" name="Text 16"/>
          <p:cNvSpPr txBox="1"/>
          <p:nvPr/>
        </p:nvSpPr>
        <p:spPr>
          <a:xfrm>
            <a:off x="7315200" y="4251960"/>
            <a:ext cx="4069080" cy="411480"/>
          </a:xfrm>
          <a:prstGeom prst="rect">
            <a:avLst/>
          </a:prstGeom>
          <a:noFill/>
          <a:ln/>
        </p:spPr>
        <p:txBody>
          <a:bodyPr wrap="square" lIns="0" tIns="0" rIns="0" bIns="0" rtlCol="0" anchor="ctr"/>
          <a:lstStyle/>
          <a:p>
            <a:pPr indent="0" marL="0">
              <a:buNone/>
            </a:pPr>
            <a:r>
              <a:rPr sz="1450" b="1">
                <a:solidFill>
                  <a:srgbClr val="1B1F3B"/>
                </a:solidFill>
                <a:latin typeface="Calibri"/>
              </a:rPr>
              <a:t>On-device triage</a:t>
            </a:r>
            <a:endParaRPr lang="en-US" sz="1450" dirty="0"/>
          </a:p>
        </p:txBody>
      </p:sp>
      <p:sp>
        <p:nvSpPr>
          <p:cNvPr id="23" name="Text 17"/>
          <p:cNvSpPr txBox="1"/>
          <p:nvPr/>
        </p:nvSpPr>
        <p:spPr>
          <a:xfrm>
            <a:off x="6537960" y="493776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Fast handcrafted-feature triage on the device for an instant first pass; the heavier backbone confirms right after.</a:t>
            </a:r>
            <a:endParaRPr lang="en-US" sz="1200" dirty="0"/>
          </a:p>
        </p:txBody>
      </p:sp>
      <p:sp>
        <p:nvSpPr>
          <p:cNvPr id="24" name="Text 18"/>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5" name="Text 19"/>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INTEGRATION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One signal in a multi-layer phishing defense</a:t>
            </a:r>
            <a:endParaRPr lang="en-US" sz="3000" dirty="0"/>
          </a:p>
        </p:txBody>
      </p:sp>
      <p:sp>
        <p:nvSpPr>
          <p:cNvPr id="4" name="Shape 2"/>
          <p:cNvSpPr/>
          <p:nvPr/>
        </p:nvSpPr>
        <p:spPr>
          <a:xfrm>
            <a:off x="548640" y="1691640"/>
            <a:ext cx="10515600" cy="1234440"/>
          </a:xfrm>
          <a:prstGeom prst="roundRect">
            <a:avLst>
              <a:gd name="adj" fmla="val 5926"/>
            </a:avLst>
          </a:prstGeom>
          <a:solidFill>
            <a:srgbClr val="1E2761"/>
          </a:solidFill>
          <a:ln/>
        </p:spPr>
        <p:txBody>
          <a:bodyPr/>
          <a:p/>
        </p:txBody>
      </p:sp>
      <p:sp>
        <p:nvSpPr>
          <p:cNvPr id="5" name="Shape 3"/>
          <p:cNvSpPr/>
          <p:nvPr/>
        </p:nvSpPr>
        <p:spPr>
          <a:xfrm>
            <a:off x="822960" y="2011680"/>
            <a:ext cx="594360" cy="594360"/>
          </a:xfrm>
          <a:prstGeom prst="ellipse">
            <a:avLst/>
          </a:prstGeom>
          <a:solidFill>
            <a:srgbClr val="FFFFFF"/>
          </a:solidFill>
          <a:ln/>
        </p:spPr>
        <p:txBody>
          <a:bodyPr/>
          <a:p/>
        </p:txBody>
      </p:sp>
      <p:pic>
        <p:nvPicPr>
          <p:cNvPr id="6" name="Image 0" descr="/home/claude/deck/icons/mic_1E2761.png">    </p:cNvPr>
          <p:cNvPicPr>
            <a:picLocks noChangeAspect="1"/>
          </p:cNvPicPr>
          <p:nvPr/>
        </p:nvPicPr>
        <p:blipFill>
          <a:blip r:embed="rId1"/>
          <a:stretch>
            <a:fillRect/>
          </a:stretch>
        </p:blipFill>
        <p:spPr>
          <a:xfrm>
            <a:off x="969264" y="2157984"/>
            <a:ext cx="301752" cy="301752"/>
          </a:xfrm>
          <a:prstGeom prst="rect">
            <a:avLst/>
          </a:prstGeom>
        </p:spPr>
      </p:pic>
      <p:sp>
        <p:nvSpPr>
          <p:cNvPr id="7" name="Text 4"/>
          <p:cNvSpPr txBox="1"/>
          <p:nvPr/>
        </p:nvSpPr>
        <p:spPr>
          <a:xfrm>
            <a:off x="1600200" y="1837944"/>
            <a:ext cx="8686800" cy="365760"/>
          </a:xfrm>
          <a:prstGeom prst="rect">
            <a:avLst/>
          </a:prstGeom>
          <a:noFill/>
          <a:ln/>
        </p:spPr>
        <p:txBody>
          <a:bodyPr wrap="square" lIns="0" tIns="0" rIns="0" bIns="0" rtlCol="0" anchor="ctr"/>
          <a:lstStyle/>
          <a:p>
            <a:pPr indent="0" marL="0">
              <a:buNone/>
            </a:pPr>
            <a:r>
              <a:rPr sz="1500" b="1">
                <a:solidFill>
                  <a:srgbClr val="FFFFFF"/>
                </a:solidFill>
                <a:latin typeface="Calibri"/>
              </a:rPr>
              <a:t>Layer 1: Voice PAD</a:t>
            </a:r>
            <a:endParaRPr lang="en-US" sz="1500" dirty="0"/>
          </a:p>
        </p:txBody>
      </p:sp>
      <p:sp>
        <p:nvSpPr>
          <p:cNvPr id="8" name="Text 5"/>
          <p:cNvSpPr txBox="1"/>
          <p:nvPr/>
        </p:nvSpPr>
        <p:spPr>
          <a:xfrm>
            <a:off x="1600200" y="2221992"/>
            <a:ext cx="8686800" cy="64008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Real vs. synthetic score per call segment (this project's deliverable)</a:t>
            </a:r>
            <a:endParaRPr lang="en-US" sz="1150" dirty="0"/>
          </a:p>
        </p:txBody>
      </p:sp>
      <p:sp>
        <p:nvSpPr>
          <p:cNvPr id="9" name="Shape 6"/>
          <p:cNvSpPr/>
          <p:nvPr/>
        </p:nvSpPr>
        <p:spPr>
          <a:xfrm>
            <a:off x="1051560" y="3154680"/>
            <a:ext cx="9509760" cy="1234440"/>
          </a:xfrm>
          <a:prstGeom prst="roundRect">
            <a:avLst>
              <a:gd name="adj" fmla="val 5926"/>
            </a:avLst>
          </a:prstGeom>
          <a:solidFill>
            <a:srgbClr val="3E4A85"/>
          </a:solidFill>
          <a:ln/>
        </p:spPr>
        <p:txBody>
          <a:bodyPr/>
          <a:p/>
        </p:txBody>
      </p:sp>
      <p:sp>
        <p:nvSpPr>
          <p:cNvPr id="10" name="Shape 7"/>
          <p:cNvSpPr/>
          <p:nvPr/>
        </p:nvSpPr>
        <p:spPr>
          <a:xfrm>
            <a:off x="1325880" y="3474720"/>
            <a:ext cx="594360" cy="594360"/>
          </a:xfrm>
          <a:prstGeom prst="ellipse">
            <a:avLst/>
          </a:prstGeom>
          <a:solidFill>
            <a:srgbClr val="FFFFFF"/>
          </a:solidFill>
          <a:ln/>
        </p:spPr>
        <p:txBody>
          <a:bodyPr/>
          <a:p/>
        </p:txBody>
      </p:sp>
      <p:pic>
        <p:nvPicPr>
          <p:cNvPr id="11" name="Image 1" descr="/home/claude/deck/icons/activity_1E2761.png">    </p:cNvPr>
          <p:cNvPicPr>
            <a:picLocks noChangeAspect="1"/>
          </p:cNvPicPr>
          <p:nvPr/>
        </p:nvPicPr>
        <p:blipFill>
          <a:blip r:embed="rId2"/>
          <a:stretch>
            <a:fillRect/>
          </a:stretch>
        </p:blipFill>
        <p:spPr>
          <a:xfrm>
            <a:off x="1472184" y="3621024"/>
            <a:ext cx="301752" cy="301752"/>
          </a:xfrm>
          <a:prstGeom prst="rect">
            <a:avLst/>
          </a:prstGeom>
        </p:spPr>
      </p:pic>
      <p:sp>
        <p:nvSpPr>
          <p:cNvPr id="12" name="Text 8"/>
          <p:cNvSpPr txBox="1"/>
          <p:nvPr/>
        </p:nvSpPr>
        <p:spPr>
          <a:xfrm>
            <a:off x="2103120" y="3300984"/>
            <a:ext cx="7680960" cy="365760"/>
          </a:xfrm>
          <a:prstGeom prst="rect">
            <a:avLst/>
          </a:prstGeom>
          <a:noFill/>
          <a:ln/>
        </p:spPr>
        <p:txBody>
          <a:bodyPr wrap="square" lIns="0" tIns="0" rIns="0" bIns="0" rtlCol="0" anchor="ctr"/>
          <a:lstStyle/>
          <a:p>
            <a:pPr indent="0" marL="0">
              <a:buNone/>
            </a:pPr>
            <a:r>
              <a:rPr sz="1500" b="1">
                <a:solidFill>
                  <a:srgbClr val="FFFFFF"/>
                </a:solidFill>
                <a:latin typeface="Calibri"/>
              </a:rPr>
              <a:t>Layer 2: Behavioral &amp; Context</a:t>
            </a:r>
            <a:endParaRPr lang="en-US" sz="1500" dirty="0"/>
          </a:p>
        </p:txBody>
      </p:sp>
      <p:sp>
        <p:nvSpPr>
          <p:cNvPr id="13" name="Text 9"/>
          <p:cNvSpPr txBox="1"/>
          <p:nvPr/>
        </p:nvSpPr>
        <p:spPr>
          <a:xfrm>
            <a:off x="2103120" y="3685032"/>
            <a:ext cx="7680960" cy="64008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Caller-ID spoofing signals, call metadata anomalies, urgency / funds-transfer request patterns typical of vishing scripts</a:t>
            </a:r>
            <a:endParaRPr lang="en-US" sz="1150" dirty="0"/>
          </a:p>
        </p:txBody>
      </p:sp>
      <p:sp>
        <p:nvSpPr>
          <p:cNvPr id="14" name="Shape 10"/>
          <p:cNvSpPr/>
          <p:nvPr/>
        </p:nvSpPr>
        <p:spPr>
          <a:xfrm>
            <a:off x="1554480" y="4617720"/>
            <a:ext cx="8503920" cy="1234440"/>
          </a:xfrm>
          <a:prstGeom prst="roundRect">
            <a:avLst>
              <a:gd name="adj" fmla="val 5926"/>
            </a:avLst>
          </a:prstGeom>
          <a:solidFill>
            <a:srgbClr val="6470B3"/>
          </a:solidFill>
          <a:ln/>
        </p:spPr>
        <p:txBody>
          <a:bodyPr/>
          <a:p/>
        </p:txBody>
      </p:sp>
      <p:sp>
        <p:nvSpPr>
          <p:cNvPr id="15" name="Shape 11"/>
          <p:cNvSpPr/>
          <p:nvPr/>
        </p:nvSpPr>
        <p:spPr>
          <a:xfrm>
            <a:off x="1828800" y="4937760"/>
            <a:ext cx="594360" cy="594360"/>
          </a:xfrm>
          <a:prstGeom prst="ellipse">
            <a:avLst/>
          </a:prstGeom>
          <a:solidFill>
            <a:srgbClr val="FFFFFF"/>
          </a:solidFill>
          <a:ln/>
        </p:spPr>
        <p:txBody>
          <a:bodyPr/>
          <a:p/>
        </p:txBody>
      </p:sp>
      <p:pic>
        <p:nvPicPr>
          <p:cNvPr id="16" name="Image 2" descr="/home/claude/deck/icons/layers_1E2761.png">    </p:cNvPr>
          <p:cNvPicPr>
            <a:picLocks noChangeAspect="1"/>
          </p:cNvPicPr>
          <p:nvPr/>
        </p:nvPicPr>
        <p:blipFill>
          <a:blip r:embed="rId3"/>
          <a:stretch>
            <a:fillRect/>
          </a:stretch>
        </p:blipFill>
        <p:spPr>
          <a:xfrm>
            <a:off x="1975104" y="5084064"/>
            <a:ext cx="301752" cy="301752"/>
          </a:xfrm>
          <a:prstGeom prst="rect">
            <a:avLst/>
          </a:prstGeom>
        </p:spPr>
      </p:pic>
      <p:sp>
        <p:nvSpPr>
          <p:cNvPr id="17" name="Text 12"/>
          <p:cNvSpPr txBox="1"/>
          <p:nvPr/>
        </p:nvSpPr>
        <p:spPr>
          <a:xfrm>
            <a:off x="2606040" y="4764024"/>
            <a:ext cx="6675120" cy="365760"/>
          </a:xfrm>
          <a:prstGeom prst="rect">
            <a:avLst/>
          </a:prstGeom>
          <a:noFill/>
          <a:ln/>
        </p:spPr>
        <p:txBody>
          <a:bodyPr wrap="square" lIns="0" tIns="0" rIns="0" bIns="0" rtlCol="0" anchor="ctr"/>
          <a:lstStyle/>
          <a:p>
            <a:pPr indent="0" marL="0">
              <a:buNone/>
            </a:pPr>
            <a:r>
              <a:rPr sz="1500" b="1">
                <a:solidFill>
                  <a:srgbClr val="FFFFFF"/>
                </a:solidFill>
                <a:latin typeface="Calibri"/>
              </a:rPr>
              <a:t>Layer 3: Fusion &amp; Adaptive Decision</a:t>
            </a:r>
            <a:endParaRPr lang="en-US" sz="1500" dirty="0"/>
          </a:p>
        </p:txBody>
      </p:sp>
      <p:sp>
        <p:nvSpPr>
          <p:cNvPr id="18" name="Text 13"/>
          <p:cNvSpPr txBox="1"/>
          <p:nvPr/>
        </p:nvSpPr>
        <p:spPr>
          <a:xfrm>
            <a:off x="2606040" y="5148072"/>
            <a:ext cx="6675120" cy="64008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Combines PAD score with contextual risk; borderline voice + high-risk context triggers step-up auth, high-confidence spoof triggers an immediate block</a:t>
            </a:r>
            <a:endParaRPr lang="en-US" sz="1150" dirty="0"/>
          </a:p>
        </p:txBody>
      </p:sp>
      <p:sp>
        <p:nvSpPr>
          <p:cNvPr id="19" name="Text 14"/>
          <p:cNvSpPr txBox="1"/>
          <p:nvPr/>
        </p:nvSpPr>
        <p:spPr>
          <a:xfrm>
            <a:off x="548640" y="6263640"/>
            <a:ext cx="10881360" cy="274320"/>
          </a:xfrm>
          <a:prstGeom prst="rect">
            <a:avLst/>
          </a:prstGeom>
          <a:noFill/>
          <a:ln/>
        </p:spPr>
        <p:txBody>
          <a:bodyPr wrap="square" lIns="0" tIns="0" rIns="0" bIns="0" rtlCol="0" anchor="ctr"/>
          <a:lstStyle/>
          <a:p>
            <a:pPr indent="0" marL="0">
              <a:buNone/>
            </a:pPr>
            <a:r>
              <a:rPr lang="en-US" sz="1050" i="1" dirty="0">
                <a:solidFill>
                  <a:srgbClr val="8792AC"/>
                </a:solidFill>
                <a:latin typeface="Calibri" pitchFamily="34" charset="0"/>
                <a:ea typeface="Calibri" pitchFamily="34" charset="-122"/>
                <a:cs typeface="Calibri" pitchFamily="34" charset="-120"/>
              </a:rPr>
              <a:t>Grounded in a multi-layer adaptive framework for phishing-attack detection (Ige, Kiekintveld &amp; Piplai, 2024).</a:t>
            </a:r>
            <a:endParaRPr lang="en-US" sz="1050" dirty="0"/>
          </a:p>
        </p:txBody>
      </p:sp>
      <p:sp>
        <p:nvSpPr>
          <p:cNvPr id="20" name="Text 15"/>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1" name="Text 16"/>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EVALUATION PLAN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Proving generalization, not just accuracy</a:t>
            </a:r>
            <a:endParaRPr lang="en-US" sz="3000" dirty="0"/>
          </a:p>
        </p:txBody>
      </p:sp>
      <p:sp>
        <p:nvSpPr>
          <p:cNvPr id="4" name="Shape 2"/>
          <p:cNvSpPr/>
          <p:nvPr/>
        </p:nvSpPr>
        <p:spPr>
          <a:xfrm>
            <a:off x="548640" y="1600200"/>
            <a:ext cx="5349240" cy="1353312"/>
          </a:xfrm>
          <a:prstGeom prst="roundRect">
            <a:avLst>
              <a:gd name="adj" fmla="val 5405"/>
            </a:avLst>
          </a:prstGeom>
          <a:solidFill>
            <a:srgbClr val="F4F6FC"/>
          </a:solidFill>
          <a:ln/>
        </p:spPr>
        <p:txBody>
          <a:bodyPr/>
          <a:p/>
        </p:txBody>
      </p:sp>
      <p:pic>
        <p:nvPicPr>
          <p:cNvPr id="5" name="Image 0" descr="/home/claude/deck/icons/chart_1E2761.png">    </p:cNvPr>
          <p:cNvPicPr>
            <a:picLocks noChangeAspect="1"/>
          </p:cNvPicPr>
          <p:nvPr/>
        </p:nvPicPr>
        <p:blipFill>
          <a:blip r:embed="rId1"/>
          <a:stretch>
            <a:fillRect/>
          </a:stretch>
        </p:blipFill>
        <p:spPr>
          <a:xfrm>
            <a:off x="822960" y="1819656"/>
            <a:ext cx="438912" cy="438912"/>
          </a:xfrm>
          <a:prstGeom prst="rect">
            <a:avLst/>
          </a:prstGeom>
        </p:spPr>
      </p:pic>
      <p:sp>
        <p:nvSpPr>
          <p:cNvPr id="6" name="Text 3"/>
          <p:cNvSpPr txBox="1"/>
          <p:nvPr/>
        </p:nvSpPr>
        <p:spPr>
          <a:xfrm>
            <a:off x="1463040" y="1764792"/>
            <a:ext cx="4206240" cy="365760"/>
          </a:xfrm>
          <a:prstGeom prst="rect">
            <a:avLst/>
          </a:prstGeom>
          <a:noFill/>
          <a:ln/>
        </p:spPr>
        <p:txBody>
          <a:bodyPr wrap="square" lIns="0" tIns="0" rIns="0" bIns="0" rtlCol="0" anchor="ctr"/>
          <a:lstStyle/>
          <a:p>
            <a:pPr indent="0" marL="0">
              <a:buNone/>
            </a:pPr>
            <a:r>
              <a:rPr sz="1400" b="1">
                <a:solidFill>
                  <a:srgbClr val="1B1F3B"/>
                </a:solidFill>
                <a:latin typeface="Calibri"/>
              </a:rPr>
              <a:t>EER, min t-DCF, per call-minute</a:t>
            </a:r>
            <a:endParaRPr lang="en-US" sz="1400" dirty="0"/>
          </a:p>
        </p:txBody>
      </p:sp>
      <p:sp>
        <p:nvSpPr>
          <p:cNvPr id="7" name="Text 4"/>
          <p:cNvSpPr txBox="1"/>
          <p:nvPr/>
        </p:nvSpPr>
        <p:spPr>
          <a:xfrm>
            <a:off x="1463040" y="2130552"/>
            <a:ext cx="4206240" cy="777240"/>
          </a:xfrm>
          <a:prstGeom prst="rect">
            <a:avLst/>
          </a:prstGeom>
          <a:noFill/>
          <a:ln/>
        </p:spPr>
        <p:txBody>
          <a:bodyPr wrap="square" lIns="0" tIns="0" rIns="0" bIns="0" rtlCol="0" anchor="ctr"/>
          <a:lstStyle/>
          <a:p>
            <a:pPr indent="0" marL="0">
              <a:lnSpc>
                <a:spcPct val="120000"/>
              </a:lnSpc>
              <a:buNone/>
            </a:pPr>
            <a:r>
              <a:rPr sz="1150">
                <a:solidFill>
                  <a:srgbClr val="44506B"/>
                </a:solidFill>
                <a:latin typeface="Calibri"/>
              </a:rPr>
              <a:t>Standard PAD metrics on held-out splits. And a streaming detector is judged per call, not per window: at 5% per-window error a 60-second call false-alarms 79% of the time.</a:t>
            </a:r>
            <a:endParaRPr lang="en-US" sz="1150" dirty="0"/>
          </a:p>
        </p:txBody>
      </p:sp>
      <p:sp>
        <p:nvSpPr>
          <p:cNvPr id="8" name="Shape 5"/>
          <p:cNvSpPr/>
          <p:nvPr/>
        </p:nvSpPr>
        <p:spPr>
          <a:xfrm>
            <a:off x="548640" y="3118104"/>
            <a:ext cx="5349240" cy="1353312"/>
          </a:xfrm>
          <a:prstGeom prst="roundRect">
            <a:avLst>
              <a:gd name="adj" fmla="val 5405"/>
            </a:avLst>
          </a:prstGeom>
          <a:solidFill>
            <a:srgbClr val="F4F6FC"/>
          </a:solidFill>
          <a:ln/>
        </p:spPr>
        <p:txBody>
          <a:bodyPr/>
          <a:p/>
        </p:txBody>
      </p:sp>
      <p:pic>
        <p:nvPicPr>
          <p:cNvPr id="9" name="Image 1" descr="/home/claude/deck/icons/target_1E2761.png">    </p:cNvPr>
          <p:cNvPicPr>
            <a:picLocks noChangeAspect="1"/>
          </p:cNvPicPr>
          <p:nvPr/>
        </p:nvPicPr>
        <p:blipFill>
          <a:blip r:embed="rId2"/>
          <a:stretch>
            <a:fillRect/>
          </a:stretch>
        </p:blipFill>
        <p:spPr>
          <a:xfrm>
            <a:off x="822960" y="3337560"/>
            <a:ext cx="438912" cy="438912"/>
          </a:xfrm>
          <a:prstGeom prst="rect">
            <a:avLst/>
          </a:prstGeom>
        </p:spPr>
      </p:pic>
      <p:sp>
        <p:nvSpPr>
          <p:cNvPr id="10" name="Text 6"/>
          <p:cNvSpPr txBox="1"/>
          <p:nvPr/>
        </p:nvSpPr>
        <p:spPr>
          <a:xfrm>
            <a:off x="1463040" y="3282696"/>
            <a:ext cx="4206240" cy="365760"/>
          </a:xfrm>
          <a:prstGeom prst="rect">
            <a:avLst/>
          </a:prstGeom>
          <a:noFill/>
          <a:ln/>
        </p:spPr>
        <p:txBody>
          <a:bodyPr wrap="square" lIns="0" tIns="0" rIns="0" bIns="0" rtlCol="0" anchor="ctr"/>
          <a:lstStyle/>
          <a:p>
            <a:pPr indent="0" marL="0">
              <a:buNone/>
            </a:pPr>
            <a:r>
              <a:rPr lang="en-US" sz="1400" b="1" dirty="0">
                <a:solidFill>
                  <a:srgbClr val="1B1F3B"/>
                </a:solidFill>
                <a:latin typeface="Calibri" pitchFamily="34" charset="0"/>
                <a:ea typeface="Calibri" pitchFamily="34" charset="-122"/>
                <a:cs typeface="Calibri" pitchFamily="34" charset="-120"/>
              </a:rPr>
              <a:t>Leave-one-generator-out</a:t>
            </a:r>
            <a:endParaRPr lang="en-US" sz="1400" dirty="0"/>
          </a:p>
        </p:txBody>
      </p:sp>
      <p:sp>
        <p:nvSpPr>
          <p:cNvPr id="11" name="Text 7"/>
          <p:cNvSpPr txBox="1"/>
          <p:nvPr/>
        </p:nvSpPr>
        <p:spPr>
          <a:xfrm>
            <a:off x="1463040" y="3648456"/>
            <a:ext cx="4206240" cy="777240"/>
          </a:xfrm>
          <a:prstGeom prst="rect">
            <a:avLst/>
          </a:prstGeom>
          <a:noFill/>
          <a:ln/>
        </p:spPr>
        <p:txBody>
          <a:bodyPr wrap="square" lIns="0" tIns="0" rIns="0" bIns="0" rtlCol="0" anchor="ctr"/>
          <a:lstStyle/>
          <a:p>
            <a:pPr indent="0" marL="0">
              <a:lnSpc>
                <a:spcPct val="120000"/>
              </a:lnSpc>
              <a:buNone/>
            </a:pPr>
            <a:r>
              <a:rPr sz="1150">
                <a:solidFill>
                  <a:srgbClr val="44506B"/>
                </a:solidFill>
                <a:latin typeface="Calibri"/>
              </a:rPr>
              <a:t>Whole vocoder and TTS families are kept out of training, so cross-generator performance is measured directly.</a:t>
            </a:r>
            <a:endParaRPr lang="en-US" sz="1150" dirty="0"/>
          </a:p>
        </p:txBody>
      </p:sp>
      <p:sp>
        <p:nvSpPr>
          <p:cNvPr id="12" name="Shape 8"/>
          <p:cNvSpPr/>
          <p:nvPr/>
        </p:nvSpPr>
        <p:spPr>
          <a:xfrm>
            <a:off x="548640" y="4636008"/>
            <a:ext cx="5349240" cy="1353312"/>
          </a:xfrm>
          <a:prstGeom prst="roundRect">
            <a:avLst>
              <a:gd name="adj" fmla="val 5405"/>
            </a:avLst>
          </a:prstGeom>
          <a:solidFill>
            <a:srgbClr val="F4F6FC"/>
          </a:solidFill>
          <a:ln/>
        </p:spPr>
        <p:txBody>
          <a:bodyPr/>
          <a:p/>
        </p:txBody>
      </p:sp>
      <p:pic>
        <p:nvPicPr>
          <p:cNvPr id="13" name="Image 2" descr="/home/claude/deck/icons/layers_1E2761.png">    </p:cNvPr>
          <p:cNvPicPr>
            <a:picLocks noChangeAspect="1"/>
          </p:cNvPicPr>
          <p:nvPr/>
        </p:nvPicPr>
        <p:blipFill>
          <a:blip r:embed="rId3"/>
          <a:stretch>
            <a:fillRect/>
          </a:stretch>
        </p:blipFill>
        <p:spPr>
          <a:xfrm>
            <a:off x="822960" y="4855464"/>
            <a:ext cx="438912" cy="438912"/>
          </a:xfrm>
          <a:prstGeom prst="rect">
            <a:avLst/>
          </a:prstGeom>
        </p:spPr>
      </p:pic>
      <p:sp>
        <p:nvSpPr>
          <p:cNvPr id="14" name="Text 9"/>
          <p:cNvSpPr txBox="1"/>
          <p:nvPr/>
        </p:nvSpPr>
        <p:spPr>
          <a:xfrm>
            <a:off x="1463040" y="4800600"/>
            <a:ext cx="4206240" cy="365760"/>
          </a:xfrm>
          <a:prstGeom prst="rect">
            <a:avLst/>
          </a:prstGeom>
          <a:noFill/>
          <a:ln/>
        </p:spPr>
        <p:txBody>
          <a:bodyPr wrap="square" lIns="0" tIns="0" rIns="0" bIns="0" rtlCol="0" anchor="ctr"/>
          <a:lstStyle/>
          <a:p>
            <a:pPr indent="0" marL="0">
              <a:buNone/>
            </a:pPr>
            <a:r>
              <a:rPr sz="1400" b="1">
                <a:solidFill>
                  <a:srgbClr val="1B1F3B"/>
                </a:solidFill>
                <a:latin typeface="Calibri"/>
              </a:rPr>
              <a:t>Reported with and without silence</a:t>
            </a:r>
            <a:endParaRPr lang="en-US" sz="1400" dirty="0"/>
          </a:p>
        </p:txBody>
      </p:sp>
      <p:sp>
        <p:nvSpPr>
          <p:cNvPr id="15" name="Text 10"/>
          <p:cNvSpPr txBox="1"/>
          <p:nvPr/>
        </p:nvSpPr>
        <p:spPr>
          <a:xfrm>
            <a:off x="1463040" y="5166360"/>
            <a:ext cx="4206240" cy="777240"/>
          </a:xfrm>
          <a:prstGeom prst="rect">
            <a:avLst/>
          </a:prstGeom>
          <a:noFill/>
          <a:ln/>
        </p:spPr>
        <p:txBody>
          <a:bodyPr wrap="square" lIns="0" tIns="0" rIns="0" bIns="0" rtlCol="0" anchor="ctr"/>
          <a:lstStyle/>
          <a:p>
            <a:pPr indent="0" marL="0">
              <a:lnSpc>
                <a:spcPct val="120000"/>
              </a:lnSpc>
              <a:buNone/>
            </a:pPr>
            <a:r>
              <a:rPr sz="1150">
                <a:solidFill>
                  <a:srgbClr val="44506B"/>
                </a:solidFill>
                <a:latin typeface="Calibri"/>
              </a:rPr>
              <a:t>The corpus ships a VAD-trimmed subset of 16,926 trials. Every EER is reported twice, so no number of ours leans on the silence artifact.</a:t>
            </a:r>
            <a:endParaRPr lang="en-US" sz="1150" dirty="0"/>
          </a:p>
        </p:txBody>
      </p:sp>
      <p:sp>
        <p:nvSpPr>
          <p:cNvPr id="16" name="Text 11"/>
          <p:cNvSpPr txBox="1"/>
          <p:nvPr/>
        </p:nvSpPr>
        <p:spPr>
          <a:xfrm>
            <a:off x="6263640" y="1627632"/>
            <a:ext cx="5349240" cy="274320"/>
          </a:xfrm>
          <a:prstGeom prst="rect">
            <a:avLst/>
          </a:prstGeom>
          <a:noFill/>
          <a:ln/>
        </p:spPr>
        <p:txBody>
          <a:bodyPr wrap="square" lIns="0" tIns="0" rIns="0" bIns="0" rtlCol="0" anchor="ctr"/>
          <a:lstStyle/>
          <a:p>
            <a:pPr indent="0" marL="0">
              <a:buNone/>
            </a:pPr>
            <a:r>
              <a:rPr sz="1050" b="1">
                <a:solidFill>
                  <a:srgbClr val="8792AC"/>
                </a:solidFill>
                <a:latin typeface="Calibri"/>
              </a:rPr>
              <a:t>WHERE THE TIME GOES  ·  MS PER 2-SECOND CHUNK</a:t>
            </a:r>
            <a:endParaRPr lang="en-US" sz="1050" dirty="0"/>
          </a:p>
        </p:txBody>
      </p:sp>
      <p:graphicFrame>
        <p:nvGraphicFramePr>
          <p:cNvPr id="17" name="Chart 0" descr=""/>
          <p:cNvGraphicFramePr/>
          <p:nvPr/>
        </p:nvGraphicFramePr>
        <p:xfrm>
          <a:off x="6263640" y="1965960"/>
          <a:ext cx="5349240" cy="3291840"/>
        </p:xfrm>
        <a:graphic xmlns:a="http://schemas.openxmlformats.org/drawingml/2006/main">
          <a:graphicData uri="http://schemas.openxmlformats.org/drawingml/2006/chart">
            <c:chart xmlns:c="http://schemas.openxmlformats.org/drawingml/2006/chart" r:id="rId4"/>
          </a:graphicData>
        </a:graphic>
      </p:graphicFrame>
      <p:sp>
        <p:nvSpPr>
          <p:cNvPr id="18" name="Text 12"/>
          <p:cNvSpPr txBox="1"/>
          <p:nvPr/>
        </p:nvSpPr>
        <p:spPr>
          <a:xfrm>
            <a:off x="6263640" y="5349240"/>
            <a:ext cx="5349240" cy="502920"/>
          </a:xfrm>
          <a:prstGeom prst="rect">
            <a:avLst/>
          </a:prstGeom>
          <a:noFill/>
          <a:ln/>
        </p:spPr>
        <p:txBody>
          <a:bodyPr wrap="square" lIns="0" tIns="0" rIns="0" bIns="0" rtlCol="0" anchor="ctr"/>
          <a:lstStyle/>
          <a:p>
            <a:pPr indent="0" marL="0">
              <a:lnSpc>
                <a:spcPct val="120000"/>
              </a:lnSpc>
              <a:buNone/>
            </a:pPr>
            <a:r>
              <a:rPr sz="1050">
                <a:solidFill>
                  <a:srgbClr val="8792AC"/>
                </a:solidFill>
                <a:latin typeface="Calibri"/>
              </a:rPr>
              <a:t>The alarm is read by a person, so the real budget is seconds. Per chunk we only have to keep up with the stream, which is what compression on slide 7 buys us.</a:t>
            </a:r>
            <a:endParaRPr lang="en-US" sz="1050" dirty="0"/>
          </a:p>
        </p:txBody>
      </p:sp>
      <p:sp>
        <p:nvSpPr>
          <p:cNvPr id="19" name="Text 13"/>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0" name="Text 14"/>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EXECUTION PLAN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sz="3000" b="1">
                <a:solidFill>
                  <a:srgbClr val="1B1F3B"/>
                </a:solidFill>
                <a:latin typeface="Cambria"/>
              </a:rPr>
              <a:t>From proposal to a working detector</a:t>
            </a:r>
            <a:endParaRPr lang="en-US" sz="3000" dirty="0"/>
          </a:p>
        </p:txBody>
      </p:sp>
      <p:sp>
        <p:nvSpPr>
          <p:cNvPr id="4" name="Shape 2"/>
          <p:cNvSpPr/>
          <p:nvPr/>
        </p:nvSpPr>
        <p:spPr>
          <a:xfrm>
            <a:off x="548640" y="2011680"/>
            <a:ext cx="2560320" cy="3291840"/>
          </a:xfrm>
          <a:prstGeom prst="roundRect">
            <a:avLst>
              <a:gd name="adj" fmla="val 2857"/>
            </a:avLst>
          </a:prstGeom>
          <a:solidFill>
            <a:srgbClr val="1E2761"/>
          </a:solidFill>
          <a:ln/>
        </p:spPr>
        <p:txBody>
          <a:bodyPr/>
          <a:p/>
        </p:txBody>
      </p:sp>
      <p:sp>
        <p:nvSpPr>
          <p:cNvPr id="5" name="Text 3"/>
          <p:cNvSpPr txBox="1"/>
          <p:nvPr/>
        </p:nvSpPr>
        <p:spPr>
          <a:xfrm>
            <a:off x="731520" y="2194560"/>
            <a:ext cx="914400" cy="640080"/>
          </a:xfrm>
          <a:prstGeom prst="rect">
            <a:avLst/>
          </a:prstGeom>
          <a:noFill/>
          <a:ln/>
        </p:spPr>
        <p:txBody>
          <a:bodyPr wrap="square" lIns="0" tIns="0" rIns="0" bIns="0" rtlCol="0" anchor="ctr"/>
          <a:lstStyle/>
          <a:p>
            <a:pPr indent="0" marL="0">
              <a:buNone/>
            </a:pPr>
            <a:r>
              <a:rPr lang="en-US" sz="3400" b="1" dirty="0">
                <a:solidFill>
                  <a:srgbClr val="CADCFC"/>
                </a:solidFill>
                <a:latin typeface="Cambria" pitchFamily="34" charset="0"/>
                <a:ea typeface="Cambria" pitchFamily="34" charset="-122"/>
                <a:cs typeface="Cambria" pitchFamily="34" charset="-120"/>
              </a:rPr>
              <a:t>1</a:t>
            </a:r>
            <a:endParaRPr lang="en-US" sz="3400" dirty="0"/>
          </a:p>
        </p:txBody>
      </p:sp>
      <p:sp>
        <p:nvSpPr>
          <p:cNvPr id="6" name="Text 4"/>
          <p:cNvSpPr txBox="1"/>
          <p:nvPr/>
        </p:nvSpPr>
        <p:spPr>
          <a:xfrm>
            <a:off x="73152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2-DAY SPRINT</a:t>
            </a:r>
            <a:endParaRPr lang="en-US" sz="1000" dirty="0"/>
          </a:p>
        </p:txBody>
      </p:sp>
      <p:sp>
        <p:nvSpPr>
          <p:cNvPr id="7" name="Text 5"/>
          <p:cNvSpPr txBox="1"/>
          <p:nvPr/>
        </p:nvSpPr>
        <p:spPr>
          <a:xfrm>
            <a:off x="731520" y="3182112"/>
            <a:ext cx="2194560" cy="502920"/>
          </a:xfrm>
          <a:prstGeom prst="rect">
            <a:avLst/>
          </a:prstGeom>
          <a:noFill/>
          <a:ln/>
        </p:spPr>
        <p:txBody>
          <a:bodyPr wrap="square" lIns="0" tIns="0" rIns="0" bIns="0" rtlCol="0" anchor="ctr"/>
          <a:lstStyle/>
          <a:p>
            <a:pPr indent="0" marL="0">
              <a:buNone/>
            </a:pPr>
            <a:r>
              <a:rPr sz="1400" b="1">
                <a:solidFill>
                  <a:srgbClr val="FFFFFF"/>
                </a:solidFill>
                <a:latin typeface="Calibri"/>
              </a:rPr>
              <a:t>Literature &amp; proposal</a:t>
            </a:r>
            <a:endParaRPr lang="en-US" sz="1400" dirty="0"/>
          </a:p>
        </p:txBody>
      </p:sp>
      <p:sp>
        <p:nvSpPr>
          <p:cNvPr id="8" name="Text 6"/>
          <p:cNvSpPr txBox="1"/>
          <p:nvPr/>
        </p:nvSpPr>
        <p:spPr>
          <a:xfrm>
            <a:off x="73152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CADCFC"/>
                </a:solidFill>
                <a:latin typeface="Calibri"/>
              </a:rPr>
              <a:t>Survey the generalization failure, fix the evaluation protocol, and commit to an architecture. This deck.</a:t>
            </a:r>
            <a:endParaRPr lang="en-US" sz="1100" dirty="0"/>
          </a:p>
        </p:txBody>
      </p:sp>
      <p:sp>
        <p:nvSpPr>
          <p:cNvPr id="9" name="Shape 7"/>
          <p:cNvSpPr/>
          <p:nvPr/>
        </p:nvSpPr>
        <p:spPr>
          <a:xfrm>
            <a:off x="3337560" y="2011680"/>
            <a:ext cx="2560320" cy="3291840"/>
          </a:xfrm>
          <a:prstGeom prst="roundRect">
            <a:avLst>
              <a:gd name="adj" fmla="val 2857"/>
            </a:avLst>
          </a:prstGeom>
          <a:solidFill>
            <a:srgbClr val="F4F6FC"/>
          </a:solidFill>
          <a:ln/>
        </p:spPr>
        <p:txBody>
          <a:bodyPr/>
          <a:p/>
        </p:txBody>
      </p:sp>
      <p:sp>
        <p:nvSpPr>
          <p:cNvPr id="10" name="Text 8"/>
          <p:cNvSpPr txBox="1"/>
          <p:nvPr/>
        </p:nvSpPr>
        <p:spPr>
          <a:xfrm>
            <a:off x="3520440" y="2194560"/>
            <a:ext cx="914400" cy="64008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2</a:t>
            </a:r>
            <a:endParaRPr lang="en-US" sz="3400" dirty="0"/>
          </a:p>
        </p:txBody>
      </p:sp>
      <p:sp>
        <p:nvSpPr>
          <p:cNvPr id="11" name="Text 9"/>
          <p:cNvSpPr txBox="1"/>
          <p:nvPr/>
        </p:nvSpPr>
        <p:spPr>
          <a:xfrm>
            <a:off x="352044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WEEKS 2-4</a:t>
            </a:r>
            <a:endParaRPr lang="en-US" sz="1000" dirty="0"/>
          </a:p>
        </p:txBody>
      </p:sp>
      <p:sp>
        <p:nvSpPr>
          <p:cNvPr id="12" name="Text 10"/>
          <p:cNvSpPr txBox="1"/>
          <p:nvPr/>
        </p:nvSpPr>
        <p:spPr>
          <a:xfrm>
            <a:off x="3520440" y="3182112"/>
            <a:ext cx="2194560" cy="502920"/>
          </a:xfrm>
          <a:prstGeom prst="rect">
            <a:avLst/>
          </a:prstGeom>
          <a:noFill/>
          <a:ln/>
        </p:spPr>
        <p:txBody>
          <a:bodyPr wrap="square" lIns="0" tIns="0" rIns="0" bIns="0" rtlCol="0" anchor="ctr"/>
          <a:lstStyle/>
          <a:p>
            <a:pPr indent="0" marL="0">
              <a:buNone/>
            </a:pPr>
            <a:r>
              <a:rPr sz="1400" b="1">
                <a:solidFill>
                  <a:srgbClr val="1B1F3B"/>
                </a:solidFill>
                <a:latin typeface="Calibri"/>
              </a:rPr>
              <a:t>Baseline</a:t>
            </a:r>
            <a:endParaRPr lang="en-US" sz="1400" dirty="0"/>
          </a:p>
        </p:txBody>
      </p:sp>
      <p:sp>
        <p:nvSpPr>
          <p:cNvPr id="13" name="Text 11"/>
          <p:cNvSpPr txBox="1"/>
          <p:nvPr/>
        </p:nvSpPr>
        <p:spPr>
          <a:xfrm>
            <a:off x="352044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44506B"/>
                </a:solidFill>
                <a:latin typeface="Calibri"/>
              </a:rPr>
              <a:t>Reproduce published clean-condition EER and validate against the official challenge baseline scores.</a:t>
            </a:r>
            <a:endParaRPr lang="en-US" sz="1100" dirty="0"/>
          </a:p>
        </p:txBody>
      </p:sp>
      <p:sp>
        <p:nvSpPr>
          <p:cNvPr id="14" name="Shape 12"/>
          <p:cNvSpPr/>
          <p:nvPr/>
        </p:nvSpPr>
        <p:spPr>
          <a:xfrm>
            <a:off x="6126480" y="2011680"/>
            <a:ext cx="2560320" cy="3291840"/>
          </a:xfrm>
          <a:prstGeom prst="roundRect">
            <a:avLst>
              <a:gd name="adj" fmla="val 2857"/>
            </a:avLst>
          </a:prstGeom>
          <a:solidFill>
            <a:srgbClr val="1E2761"/>
          </a:solidFill>
          <a:ln/>
        </p:spPr>
        <p:txBody>
          <a:bodyPr/>
          <a:p/>
        </p:txBody>
      </p:sp>
      <p:sp>
        <p:nvSpPr>
          <p:cNvPr id="15" name="Text 13"/>
          <p:cNvSpPr txBox="1"/>
          <p:nvPr/>
        </p:nvSpPr>
        <p:spPr>
          <a:xfrm>
            <a:off x="6309360" y="2194560"/>
            <a:ext cx="914400" cy="640080"/>
          </a:xfrm>
          <a:prstGeom prst="rect">
            <a:avLst/>
          </a:prstGeom>
          <a:noFill/>
          <a:ln/>
        </p:spPr>
        <p:txBody>
          <a:bodyPr wrap="square" lIns="0" tIns="0" rIns="0" bIns="0" rtlCol="0" anchor="ctr"/>
          <a:lstStyle/>
          <a:p>
            <a:pPr indent="0" marL="0">
              <a:buNone/>
            </a:pPr>
            <a:r>
              <a:rPr lang="en-US" sz="3400" b="1" dirty="0">
                <a:solidFill>
                  <a:srgbClr val="CADCFC"/>
                </a:solidFill>
                <a:latin typeface="Cambria" pitchFamily="34" charset="0"/>
                <a:ea typeface="Cambria" pitchFamily="34" charset="-122"/>
                <a:cs typeface="Cambria" pitchFamily="34" charset="-120"/>
              </a:rPr>
              <a:t>3</a:t>
            </a:r>
            <a:endParaRPr lang="en-US" sz="3400" dirty="0"/>
          </a:p>
        </p:txBody>
      </p:sp>
      <p:sp>
        <p:nvSpPr>
          <p:cNvPr id="16" name="Text 14"/>
          <p:cNvSpPr txBox="1"/>
          <p:nvPr/>
        </p:nvSpPr>
        <p:spPr>
          <a:xfrm>
            <a:off x="630936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WEEKS 5-9</a:t>
            </a:r>
            <a:endParaRPr lang="en-US" sz="1000" dirty="0"/>
          </a:p>
        </p:txBody>
      </p:sp>
      <p:sp>
        <p:nvSpPr>
          <p:cNvPr id="17" name="Text 15"/>
          <p:cNvSpPr txBox="1"/>
          <p:nvPr/>
        </p:nvSpPr>
        <p:spPr>
          <a:xfrm>
            <a:off x="6309360" y="3182112"/>
            <a:ext cx="2194560" cy="502920"/>
          </a:xfrm>
          <a:prstGeom prst="rect">
            <a:avLst/>
          </a:prstGeom>
          <a:noFill/>
          <a:ln/>
        </p:spPr>
        <p:txBody>
          <a:bodyPr wrap="square" lIns="0" tIns="0" rIns="0" bIns="0" rtlCol="0" anchor="ctr"/>
          <a:lstStyle/>
          <a:p>
            <a:pPr indent="0" marL="0">
              <a:buNone/>
            </a:pPr>
            <a:r>
              <a:rPr sz="1400" b="1">
                <a:solidFill>
                  <a:srgbClr val="FFFFFF"/>
                </a:solidFill>
                <a:latin typeface="Calibri"/>
              </a:rPr>
              <a:t>Generalization</a:t>
            </a:r>
            <a:endParaRPr lang="en-US" sz="1400" dirty="0"/>
          </a:p>
        </p:txBody>
      </p:sp>
      <p:sp>
        <p:nvSpPr>
          <p:cNvPr id="18" name="Text 16"/>
          <p:cNvSpPr txBox="1"/>
          <p:nvPr/>
        </p:nvSpPr>
        <p:spPr>
          <a:xfrm>
            <a:off x="630936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CADCFC"/>
                </a:solidFill>
                <a:latin typeface="Calibri"/>
              </a:rPr>
              <a:t>Degraded-channel and silence augmentation, foundation-model front-end, leave-one-generator-out. The core work.</a:t>
            </a:r>
            <a:endParaRPr lang="en-US" sz="1100" dirty="0"/>
          </a:p>
        </p:txBody>
      </p:sp>
      <p:sp>
        <p:nvSpPr>
          <p:cNvPr id="19" name="Shape 17"/>
          <p:cNvSpPr/>
          <p:nvPr/>
        </p:nvSpPr>
        <p:spPr>
          <a:xfrm>
            <a:off x="8915400" y="2011680"/>
            <a:ext cx="2560320" cy="3291840"/>
          </a:xfrm>
          <a:prstGeom prst="roundRect">
            <a:avLst>
              <a:gd name="adj" fmla="val 2857"/>
            </a:avLst>
          </a:prstGeom>
          <a:solidFill>
            <a:srgbClr val="F4F6FC"/>
          </a:solidFill>
          <a:ln/>
        </p:spPr>
        <p:txBody>
          <a:bodyPr/>
          <a:p/>
        </p:txBody>
      </p:sp>
      <p:sp>
        <p:nvSpPr>
          <p:cNvPr id="20" name="Text 18"/>
          <p:cNvSpPr txBox="1"/>
          <p:nvPr/>
        </p:nvSpPr>
        <p:spPr>
          <a:xfrm>
            <a:off x="9098280" y="2194560"/>
            <a:ext cx="914400" cy="64008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4</a:t>
            </a:r>
            <a:endParaRPr lang="en-US" sz="3400" dirty="0"/>
          </a:p>
        </p:txBody>
      </p:sp>
      <p:sp>
        <p:nvSpPr>
          <p:cNvPr id="21" name="Text 19"/>
          <p:cNvSpPr txBox="1"/>
          <p:nvPr/>
        </p:nvSpPr>
        <p:spPr>
          <a:xfrm>
            <a:off x="909828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WEEKS 10-12</a:t>
            </a:r>
            <a:endParaRPr lang="en-US" sz="1000" dirty="0"/>
          </a:p>
        </p:txBody>
      </p:sp>
      <p:sp>
        <p:nvSpPr>
          <p:cNvPr id="22" name="Text 20"/>
          <p:cNvSpPr txBox="1"/>
          <p:nvPr/>
        </p:nvSpPr>
        <p:spPr>
          <a:xfrm>
            <a:off x="9098280" y="3182112"/>
            <a:ext cx="2194560" cy="502920"/>
          </a:xfrm>
          <a:prstGeom prst="rect">
            <a:avLst/>
          </a:prstGeom>
          <a:noFill/>
          <a:ln/>
        </p:spPr>
        <p:txBody>
          <a:bodyPr wrap="square" lIns="0" tIns="0" rIns="0" bIns="0" rtlCol="0" anchor="ctr"/>
          <a:lstStyle/>
          <a:p>
            <a:pPr indent="0" marL="0">
              <a:buNone/>
            </a:pPr>
            <a:r>
              <a:rPr sz="1400" b="1">
                <a:solidFill>
                  <a:srgbClr val="1B1F3B"/>
                </a:solidFill>
                <a:latin typeface="Calibri"/>
              </a:rPr>
              <a:t>Real-time &amp; write-up</a:t>
            </a:r>
            <a:endParaRPr lang="en-US" sz="1400" dirty="0"/>
          </a:p>
        </p:txBody>
      </p:sp>
      <p:sp>
        <p:nvSpPr>
          <p:cNvPr id="23" name="Text 21"/>
          <p:cNvSpPr txBox="1"/>
          <p:nvPr/>
        </p:nvSpPr>
        <p:spPr>
          <a:xfrm>
            <a:off x="909828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44506B"/>
                </a:solidFill>
                <a:latin typeface="Calibri"/>
              </a:rPr>
              <a:t>Streaming inference, compression, latency on device, then the report and defence.</a:t>
            </a:r>
            <a:endParaRPr lang="en-US" sz="1100" dirty="0"/>
          </a:p>
        </p:txBody>
      </p:sp>
      <p:sp>
        <p:nvSpPr>
          <p:cNvPr id="24" name="Text 22"/>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5" name="Text 23"/>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LOOKING AHEAD</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Limitations &amp; next steps</a:t>
            </a:r>
            <a:endParaRPr lang="en-US" sz="3000" dirty="0"/>
          </a:p>
        </p:txBody>
      </p:sp>
      <p:sp>
        <p:nvSpPr>
          <p:cNvPr id="4" name="Shape 2"/>
          <p:cNvSpPr/>
          <p:nvPr/>
        </p:nvSpPr>
        <p:spPr>
          <a:xfrm>
            <a:off x="548640" y="1600200"/>
            <a:ext cx="5349240" cy="4434840"/>
          </a:xfrm>
          <a:prstGeom prst="roundRect">
            <a:avLst>
              <a:gd name="adj" fmla="val 1649"/>
            </a:avLst>
          </a:prstGeom>
          <a:solidFill>
            <a:srgbClr val="F4F6FC"/>
          </a:solidFill>
          <a:ln/>
        </p:spPr>
        <p:txBody>
          <a:bodyPr/>
          <a:p/>
        </p:txBody>
      </p:sp>
      <p:pic>
        <p:nvPicPr>
          <p:cNvPr id="5" name="Image 0" descr="/home/claude/deck/icons/alert_1E2761.png">    </p:cNvPr>
          <p:cNvPicPr>
            <a:picLocks noChangeAspect="1"/>
          </p:cNvPicPr>
          <p:nvPr/>
        </p:nvPicPr>
        <p:blipFill>
          <a:blip r:embed="rId1"/>
          <a:stretch>
            <a:fillRect/>
          </a:stretch>
        </p:blipFill>
        <p:spPr>
          <a:xfrm>
            <a:off x="868680" y="1874520"/>
            <a:ext cx="457200" cy="457200"/>
          </a:xfrm>
          <a:prstGeom prst="rect">
            <a:avLst/>
          </a:prstGeom>
        </p:spPr>
      </p:pic>
      <p:sp>
        <p:nvSpPr>
          <p:cNvPr id="6" name="Text 3"/>
          <p:cNvSpPr txBox="1"/>
          <p:nvPr/>
        </p:nvSpPr>
        <p:spPr>
          <a:xfrm>
            <a:off x="1463040" y="1920240"/>
            <a:ext cx="4206240" cy="365760"/>
          </a:xfrm>
          <a:prstGeom prst="rect">
            <a:avLst/>
          </a:prstGeom>
          <a:noFill/>
          <a:ln/>
        </p:spPr>
        <p:txBody>
          <a:bodyPr wrap="square" lIns="0" tIns="0" rIns="0" bIns="0" rtlCol="0" anchor="ctr"/>
          <a:lstStyle/>
          <a:p>
            <a:pPr indent="0" marL="0">
              <a:buNone/>
            </a:pPr>
            <a:r>
              <a:rPr lang="en-US" sz="1600" b="1" dirty="0">
                <a:solidFill>
                  <a:srgbClr val="1B1F3B"/>
                </a:solidFill>
                <a:latin typeface="Calibri" pitchFamily="34" charset="0"/>
                <a:ea typeface="Calibri" pitchFamily="34" charset="-122"/>
                <a:cs typeface="Calibri" pitchFamily="34" charset="-120"/>
              </a:rPr>
              <a:t>Known limitations</a:t>
            </a:r>
            <a:endParaRPr lang="en-US" sz="1600" dirty="0"/>
          </a:p>
        </p:txBody>
      </p:sp>
      <p:sp>
        <p:nvSpPr>
          <p:cNvPr id="7" name="Text 4"/>
          <p:cNvSpPr txBox="1"/>
          <p:nvPr/>
        </p:nvSpPr>
        <p:spPr>
          <a:xfrm>
            <a:off x="868680" y="2514600"/>
            <a:ext cx="4709160" cy="731520"/>
          </a:xfrm>
          <a:prstGeom prst="rect">
            <a:avLst/>
          </a:prstGeom>
          <a:noFill/>
          <a:ln/>
        </p:spPr>
        <p:txBody>
          <a:bodyPr wrap="square" lIns="0" tIns="0" rIns="0" bIns="0" rtlCol="0" anchor="ctr"/>
          <a:lstStyle/>
          <a:p>
            <a:pPr marL="342900" indent="-342900">
              <a:lnSpc>
                <a:spcPct val="120000"/>
              </a:lnSpc>
              <a:buSzPct val="100000"/>
              <a:buChar char="●"/>
            </a:pPr>
            <a:r>
              <a:rPr sz="1250">
                <a:solidFill>
                  <a:srgbClr val="44506B"/>
                </a:solidFill>
                <a:latin typeface="Calibri"/>
              </a:rPr>
              <a:t>Telephony PAD is not new ground. ASVspoof 5 and Delgado et al. (ICASSP 2026) already cover 2023-24 generators at 8 kHz. Our scope is the open-source 2024-26 models they do not include.</a:t>
            </a:r>
            <a:endParaRPr lang="en-US" sz="1250" dirty="0"/>
          </a:p>
        </p:txBody>
      </p:sp>
      <p:sp>
        <p:nvSpPr>
          <p:cNvPr id="8" name="Text 5"/>
          <p:cNvSpPr txBox="1"/>
          <p:nvPr/>
        </p:nvSpPr>
        <p:spPr>
          <a:xfrm>
            <a:off x="868680" y="3291840"/>
            <a:ext cx="4709160" cy="731520"/>
          </a:xfrm>
          <a:prstGeom prst="rect">
            <a:avLst/>
          </a:prstGeom>
          <a:noFill/>
          <a:ln/>
        </p:spPr>
        <p:txBody>
          <a:bodyPr wrap="square" lIns="0" tIns="0" rIns="0" bIns="0" rtlCol="0" anchor="ctr"/>
          <a:lstStyle/>
          <a:p>
            <a:pPr marL="342900" indent="-342900">
              <a:lnSpc>
                <a:spcPct val="120000"/>
              </a:lnSpc>
              <a:buSzPct val="100000"/>
              <a:buChar char="●"/>
            </a:pPr>
            <a:r>
              <a:rPr sz="1250">
                <a:solidFill>
                  <a:srgbClr val="44506B"/>
                </a:solidFill>
                <a:latin typeface="Calibri"/>
              </a:rPr>
              <a:t>Foundation-model backbones cost more compute per stream than a small CNN.</a:t>
            </a:r>
            <a:endParaRPr lang="en-US" sz="1250" dirty="0"/>
          </a:p>
        </p:txBody>
      </p:sp>
      <p:sp>
        <p:nvSpPr>
          <p:cNvPr id="9" name="Text 6"/>
          <p:cNvSpPr txBox="1"/>
          <p:nvPr/>
        </p:nvSpPr>
        <p:spPr>
          <a:xfrm>
            <a:off x="868680" y="4069080"/>
            <a:ext cx="4709160" cy="731520"/>
          </a:xfrm>
          <a:prstGeom prst="rect">
            <a:avLst/>
          </a:prstGeom>
          <a:noFill/>
          <a:ln/>
        </p:spPr>
        <p:txBody>
          <a:bodyPr wrap="square" lIns="0" tIns="0" rIns="0" bIns="0" rtlCol="0" anchor="ctr"/>
          <a:lstStyle/>
          <a:p>
            <a:pPr marL="342900" indent="-342900">
              <a:lnSpc>
                <a:spcPct val="120000"/>
              </a:lnSpc>
              <a:buSzPct val="100000"/>
              <a:buChar char="●"/>
            </a:pPr>
            <a:r>
              <a:rPr sz="1250">
                <a:solidFill>
                  <a:srgbClr val="44506B"/>
                </a:solidFill>
                <a:latin typeface="Calibri"/>
              </a:rPr>
              <a:t>No dataset fully reproduces a live, adversarial vishing call.</a:t>
            </a:r>
            <a:endParaRPr lang="en-US" sz="1250" dirty="0"/>
          </a:p>
        </p:txBody>
      </p:sp>
      <p:sp>
        <p:nvSpPr>
          <p:cNvPr id="10" name="Shape 7"/>
          <p:cNvSpPr/>
          <p:nvPr/>
        </p:nvSpPr>
        <p:spPr>
          <a:xfrm>
            <a:off x="6263640" y="1600200"/>
            <a:ext cx="5349240" cy="4434840"/>
          </a:xfrm>
          <a:prstGeom prst="roundRect">
            <a:avLst>
              <a:gd name="adj" fmla="val 1649"/>
            </a:avLst>
          </a:prstGeom>
          <a:solidFill>
            <a:srgbClr val="1E2761"/>
          </a:solidFill>
          <a:ln/>
        </p:spPr>
        <p:txBody>
          <a:bodyPr/>
          <a:p/>
        </p:txBody>
      </p:sp>
      <p:pic>
        <p:nvPicPr>
          <p:cNvPr id="11" name="Image 1" descr="/home/claude/deck/icons/check_FFFFFF.png">    </p:cNvPr>
          <p:cNvPicPr>
            <a:picLocks noChangeAspect="1"/>
          </p:cNvPicPr>
          <p:nvPr/>
        </p:nvPicPr>
        <p:blipFill>
          <a:blip r:embed="rId2"/>
          <a:stretch>
            <a:fillRect/>
          </a:stretch>
        </p:blipFill>
        <p:spPr>
          <a:xfrm>
            <a:off x="6583680" y="1874520"/>
            <a:ext cx="457200" cy="457200"/>
          </a:xfrm>
          <a:prstGeom prst="rect">
            <a:avLst/>
          </a:prstGeom>
        </p:spPr>
      </p:pic>
      <p:sp>
        <p:nvSpPr>
          <p:cNvPr id="12" name="Text 8"/>
          <p:cNvSpPr txBox="1"/>
          <p:nvPr/>
        </p:nvSpPr>
        <p:spPr>
          <a:xfrm>
            <a:off x="7178040" y="1920240"/>
            <a:ext cx="420624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Next steps beyond the sprint</a:t>
            </a:r>
            <a:endParaRPr lang="en-US" sz="1600" dirty="0"/>
          </a:p>
        </p:txBody>
      </p:sp>
      <p:sp>
        <p:nvSpPr>
          <p:cNvPr id="13" name="Text 9"/>
          <p:cNvSpPr txBox="1"/>
          <p:nvPr/>
        </p:nvSpPr>
        <p:spPr>
          <a:xfrm>
            <a:off x="6583680" y="251460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CADCFC"/>
                </a:solidFill>
                <a:latin typeface="Calibri" pitchFamily="34" charset="0"/>
                <a:ea typeface="Calibri" pitchFamily="34" charset="-122"/>
                <a:cs typeface="Calibri" pitchFamily="34" charset="-120"/>
              </a:rPr>
              <a:t>Expand few-shot enrollment for high-value protected identities</a:t>
            </a:r>
            <a:endParaRPr lang="en-US" sz="1250" dirty="0"/>
          </a:p>
        </p:txBody>
      </p:sp>
      <p:sp>
        <p:nvSpPr>
          <p:cNvPr id="14" name="Text 10"/>
          <p:cNvSpPr txBox="1"/>
          <p:nvPr/>
        </p:nvSpPr>
        <p:spPr>
          <a:xfrm>
            <a:off x="6583680" y="329184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CADCFC"/>
                </a:solidFill>
                <a:latin typeface="Calibri" pitchFamily="34" charset="0"/>
                <a:ea typeface="Calibri" pitchFamily="34" charset="-122"/>
                <a:cs typeface="Calibri" pitchFamily="34" charset="-120"/>
              </a:rPr>
              <a:t>Field-test on real degraded-channel call recordings</a:t>
            </a:r>
            <a:endParaRPr lang="en-US" sz="1250" dirty="0"/>
          </a:p>
        </p:txBody>
      </p:sp>
      <p:sp>
        <p:nvSpPr>
          <p:cNvPr id="15" name="Text 11"/>
          <p:cNvSpPr txBox="1"/>
          <p:nvPr/>
        </p:nvSpPr>
        <p:spPr>
          <a:xfrm>
            <a:off x="6583680" y="406908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CADCFC"/>
                </a:solidFill>
                <a:latin typeface="Calibri" pitchFamily="34" charset="0"/>
                <a:ea typeface="Calibri" pitchFamily="34" charset="-122"/>
                <a:cs typeface="Calibri" pitchFamily="34" charset="-120"/>
              </a:rPr>
              <a:t>Formalize the fusion/decision policy with the phishing-defense team</a:t>
            </a:r>
            <a:endParaRPr lang="en-US" sz="1250" dirty="0"/>
          </a:p>
        </p:txBody>
      </p:sp>
      <p:sp>
        <p:nvSpPr>
          <p:cNvPr id="16" name="Text 12"/>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17" name="Text 13"/>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pic>
        <p:nvPicPr>
          <p:cNvPr id="2" name="Image 0" descr="/home/claude/deck/icons/shield_CADCFC.png">    </p:cNvPr>
          <p:cNvPicPr>
            <a:picLocks noChangeAspect="1"/>
          </p:cNvPicPr>
          <p:nvPr/>
        </p:nvPicPr>
        <p:blipFill>
          <a:blip r:embed="rId1">
            <a:alphaModFix amt="28000"/>
          </a:blip>
          <a:stretch>
            <a:fillRect/>
          </a:stretch>
        </p:blipFill>
        <p:spPr>
          <a:xfrm>
            <a:off x="9601200" y="-822960"/>
            <a:ext cx="3017520" cy="3017520"/>
          </a:xfrm>
          <a:prstGeom prst="rect">
            <a:avLst/>
          </a:prstGeom>
        </p:spPr>
      </p:pic>
      <p:pic>
        <p:nvPicPr>
          <p:cNvPr id="3" name="Image 1" descr="/home/claude/deck/icons/mic_CADCFC.png">    </p:cNvPr>
          <p:cNvPicPr>
            <a:picLocks noChangeAspect="1"/>
          </p:cNvPicPr>
          <p:nvPr/>
        </p:nvPicPr>
        <p:blipFill>
          <a:blip r:embed="rId2">
            <a:alphaModFix amt="25000"/>
          </a:blip>
          <a:stretch>
            <a:fillRect/>
          </a:stretch>
        </p:blipFill>
        <p:spPr>
          <a:xfrm>
            <a:off x="9418320" y="4297680"/>
            <a:ext cx="2468880" cy="2468880"/>
          </a:xfrm>
          <a:prstGeom prst="rect">
            <a:avLst/>
          </a:prstGeom>
        </p:spPr>
      </p:pic>
      <p:sp>
        <p:nvSpPr>
          <p:cNvPr id="4" name="Text 0"/>
          <p:cNvSpPr txBox="1"/>
          <p:nvPr/>
        </p:nvSpPr>
        <p:spPr>
          <a:xfrm>
            <a:off x="640080" y="265176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for the panel</a:t>
            </a:r>
            <a:endParaRPr lang="en-US" sz="4000" dirty="0"/>
          </a:p>
        </p:txBody>
      </p:sp>
      <p:sp>
        <p:nvSpPr>
          <p:cNvPr id="5" name="Text 1"/>
          <p:cNvSpPr txBox="1"/>
          <p:nvPr/>
        </p:nvSpPr>
        <p:spPr>
          <a:xfrm>
            <a:off x="640080" y="3429000"/>
            <a:ext cx="914400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Deepfake Voice Detection for Anti-Vishing Systems  ·  Solution Proposal</a:t>
            </a:r>
            <a:endParaRPr lang="en-US" sz="1500" dirty="0"/>
          </a:p>
        </p:txBody>
      </p:sp>
      <p:sp>
        <p:nvSpPr>
          <p:cNvPr id="6" name="Shape 2"/>
          <p:cNvSpPr/>
          <p:nvPr/>
        </p:nvSpPr>
        <p:spPr>
          <a:xfrm>
            <a:off x="640080" y="4069080"/>
            <a:ext cx="2011680" cy="0"/>
          </a:xfrm>
          <a:prstGeom prst="line">
            <a:avLst/>
          </a:prstGeom>
          <a:noFill/>
          <a:ln w="31750">
            <a:solidFill>
              <a:srgbClr val="E94F37"/>
            </a:solidFill>
            <a:prstDash val="solid"/>
          </a:ln>
        </p:spPr>
        <p:txBody>
          <a:bodyPr/>
          <a:p/>
        </p:txBody>
      </p:sp>
      <p:sp>
        <p:nvSpPr>
          <p:cNvPr id="7" name="Text 3"/>
          <p:cNvSpPr txBox="1"/>
          <p:nvPr/>
        </p:nvSpPr>
        <p:spPr>
          <a:xfrm>
            <a:off x="640080" y="4251960"/>
            <a:ext cx="5486400" cy="457200"/>
          </a:xfrm>
          <a:prstGeom prst="rect">
            <a:avLst/>
          </a:prstGeom>
          <a:noFill/>
          <a:ln/>
        </p:spPr>
        <p:txBody>
          <a:bodyPr wrap="square" lIns="0" tIns="0" rIns="0" bIns="0" rtlCol="0" anchor="ctr"/>
          <a:lstStyle/>
          <a:p>
            <a:pPr indent="0" marL="0">
              <a:buNone/>
            </a:pPr>
            <a:r>
              <a:rPr lang="en-US" sz="1400" dirty="0">
                <a:solidFill>
                  <a:srgbClr val="8792AC"/>
                </a:solidFill>
                <a:latin typeface="Calibri" pitchFamily="34" charset="0"/>
                <a:ea typeface="Calibri" pitchFamily="34" charset="-122"/>
                <a:cs typeface="Calibri" pitchFamily="34" charset="-120"/>
              </a:rPr>
              <a:t>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Deepfake Voice Detection for Anti-Vishing Systems</dc:title>
  <dc:subject>PptxGenJS Presentation</dc:subject>
  <dc:creator>Mert Biricik; Ameer Hamza; Khalid Ibrahimi; Ward Zahran</dc:creator>
  <cp:lastModifiedBy>PptxGenJS</cp:lastModifiedBy>
  <cp:revision>1</cp:revision>
  <dcterms:created xsi:type="dcterms:W3CDTF">2026-09-15T06:48:07Z</dcterms:created>
  <dcterms:modified xsi:type="dcterms:W3CDTF">2026-09-15T06:48:07Z</dcterms:modified>
</cp:coreProperties>
</file>